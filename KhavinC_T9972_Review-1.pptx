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2" r:id="rId2"/>
  </p:sldMasterIdLst>
  <p:notesMasterIdLst>
    <p:notesMasterId r:id="rId2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A6AE9A8-6298-4076-9231-B7FAEA5409DA}">
  <a:tblStyle styleId="{7A6AE9A8-6298-4076-9231-B7FAEA5409D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6CAD268-3F10-421D-BA33-64A75AFF0AC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593100EF-B65B-4215-8807-50E75C0B9107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84957" autoAdjust="0"/>
  </p:normalViewPr>
  <p:slideViewPr>
    <p:cSldViewPr snapToGrid="0">
      <p:cViewPr varScale="1">
        <p:scale>
          <a:sx n="53" d="100"/>
          <a:sy n="53" d="100"/>
        </p:scale>
        <p:origin x="9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dirty="0"/>
          </a:p>
        </p:txBody>
      </p:sp>
      <p:sp>
        <p:nvSpPr>
          <p:cNvPr id="59" name="Google Shape;5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dirty="0"/>
          </a:p>
        </p:txBody>
      </p:sp>
      <p:sp>
        <p:nvSpPr>
          <p:cNvPr id="71" name="Google Shape;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dirty="0"/>
          </a:p>
        </p:txBody>
      </p:sp>
      <p:sp>
        <p:nvSpPr>
          <p:cNvPr id="79" name="Google Shape;7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dirty="0"/>
          </a:p>
        </p:txBody>
      </p:sp>
      <p:sp>
        <p:nvSpPr>
          <p:cNvPr id="87" name="Google Shape;8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dirty="0"/>
          </a:p>
        </p:txBody>
      </p:sp>
      <p:sp>
        <p:nvSpPr>
          <p:cNvPr id="95" name="Google Shape;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dirty="0"/>
          </a:p>
        </p:txBody>
      </p:sp>
      <p:sp>
        <p:nvSpPr>
          <p:cNvPr id="105" name="Google Shape;10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dirty="0"/>
          </a:p>
        </p:txBody>
      </p:sp>
      <p:sp>
        <p:nvSpPr>
          <p:cNvPr id="113" name="Google Shape;11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4C00D8E0-D5D3-07F0-7E8B-F311A9B03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>
            <a:extLst>
              <a:ext uri="{FF2B5EF4-FFF2-40B4-BE49-F238E27FC236}">
                <a16:creationId xmlns:a16="http://schemas.microsoft.com/office/drawing/2014/main" id="{C036FBDD-A920-55D6-4EBC-5BF293A5EE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dirty="0"/>
          </a:p>
        </p:txBody>
      </p:sp>
      <p:sp>
        <p:nvSpPr>
          <p:cNvPr id="113" name="Google Shape;113;p7:notes">
            <a:extLst>
              <a:ext uri="{FF2B5EF4-FFF2-40B4-BE49-F238E27FC236}">
                <a16:creationId xmlns:a16="http://schemas.microsoft.com/office/drawing/2014/main" id="{7F88B864-EAAD-2433-935E-1202FFB01D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632535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dirty="0"/>
          </a:p>
        </p:txBody>
      </p:sp>
      <p:sp>
        <p:nvSpPr>
          <p:cNvPr id="121" name="Google Shape;1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dirty="0"/>
          </a:p>
        </p:txBody>
      </p:sp>
      <p:sp>
        <p:nvSpPr>
          <p:cNvPr id="129" name="Google Shape;12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59" name="Google Shape;5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71" name="Google Shape;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79" name="Google Shape;7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7" name="Google Shape;8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95" name="Google Shape;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04" name="Google Shape;10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2" name="Google Shape;11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8B997867-6746-B86A-1D53-7D586EC79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>
            <a:extLst>
              <a:ext uri="{FF2B5EF4-FFF2-40B4-BE49-F238E27FC236}">
                <a16:creationId xmlns:a16="http://schemas.microsoft.com/office/drawing/2014/main" id="{186F6AF5-D45D-DC16-2B29-703AC1499D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2" name="Google Shape;112;p7:notes">
            <a:extLst>
              <a:ext uri="{FF2B5EF4-FFF2-40B4-BE49-F238E27FC236}">
                <a16:creationId xmlns:a16="http://schemas.microsoft.com/office/drawing/2014/main" id="{3818E25B-529F-AB7B-2C7F-0E446F06C3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80646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20" name="Google Shape;12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icture with Caption">
  <p:cSld name="1_Picture with Caption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body" idx="1"/>
          </p:nvPr>
        </p:nvSpPr>
        <p:spPr>
          <a:xfrm>
            <a:off x="255996" y="1271219"/>
            <a:ext cx="10624338" cy="444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  <a:defRPr sz="28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body" idx="2"/>
          </p:nvPr>
        </p:nvSpPr>
        <p:spPr>
          <a:xfrm>
            <a:off x="255996" y="629525"/>
            <a:ext cx="10624338" cy="444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  <a:defRPr sz="28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icture with Caption">
  <p:cSld name="1_Picture with Caption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body" idx="1"/>
          </p:nvPr>
        </p:nvSpPr>
        <p:spPr>
          <a:xfrm>
            <a:off x="255996" y="1271219"/>
            <a:ext cx="10624338" cy="444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  <a:defRPr sz="28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body" idx="2"/>
          </p:nvPr>
        </p:nvSpPr>
        <p:spPr>
          <a:xfrm>
            <a:off x="255996" y="629525"/>
            <a:ext cx="10624338" cy="444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  <a:defRPr sz="28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5215644"/>
            <a:ext cx="12191995" cy="154830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0">
                <a:srgbClr val="47BDAE"/>
              </a:gs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1" u="none" strike="noStrike" cap="none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221274" y="88514"/>
            <a:ext cx="8176583" cy="11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"/>
          <p:cNvSpPr txBox="1"/>
          <p:nvPr/>
        </p:nvSpPr>
        <p:spPr>
          <a:xfrm>
            <a:off x="391411" y="640135"/>
            <a:ext cx="11290305" cy="523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158720" y="413891"/>
            <a:ext cx="10025576" cy="685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554" y="6358271"/>
            <a:ext cx="964436" cy="411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" descr="LTM Limited (Formerly LTIMindtree Limited)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233000" y="6472900"/>
            <a:ext cx="800375" cy="2965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5337544"/>
            <a:ext cx="12191994" cy="154830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0">
                <a:srgbClr val="47BDAE"/>
              </a:gs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1" u="none" strike="noStrike" cap="none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221274" y="88514"/>
            <a:ext cx="8176583" cy="11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"/>
          <p:cNvSpPr txBox="1"/>
          <p:nvPr/>
        </p:nvSpPr>
        <p:spPr>
          <a:xfrm>
            <a:off x="391411" y="640135"/>
            <a:ext cx="11290305" cy="523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158720" y="413891"/>
            <a:ext cx="10025576" cy="685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554" y="6358271"/>
            <a:ext cx="964436" cy="411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" descr="LTM Limited (Formerly LTIMindtree Limited)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59750" y="6584400"/>
            <a:ext cx="611850" cy="2736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39000">
                <a:srgbClr val="1C4D98"/>
              </a:gs>
              <a:gs pos="100000">
                <a:srgbClr val="3793A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5"/>
          <p:cNvSpPr txBox="1">
            <a:spLocks noGrp="1"/>
          </p:cNvSpPr>
          <p:nvPr>
            <p:ph type="body" idx="1"/>
          </p:nvPr>
        </p:nvSpPr>
        <p:spPr>
          <a:xfrm>
            <a:off x="2289635" y="17705"/>
            <a:ext cx="6910121" cy="105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en-US" sz="4400">
                <a:solidFill>
                  <a:schemeClr val="lt1"/>
                </a:solidFill>
              </a:rPr>
              <a:t>M.Tech Program 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sz="2000">
                <a:solidFill>
                  <a:schemeClr val="lt1"/>
                </a:solidFill>
              </a:rPr>
              <a:t>Advanced Industry Integrated Programs</a:t>
            </a:r>
            <a:endParaRPr/>
          </a:p>
        </p:txBody>
      </p:sp>
      <p:cxnSp>
        <p:nvCxnSpPr>
          <p:cNvPr id="63" name="Google Shape;63;p15"/>
          <p:cNvCxnSpPr/>
          <p:nvPr/>
        </p:nvCxnSpPr>
        <p:spPr>
          <a:xfrm>
            <a:off x="2977350" y="1120307"/>
            <a:ext cx="5866228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64" name="Google Shape;64;p15"/>
          <p:cNvSpPr/>
          <p:nvPr/>
        </p:nvSpPr>
        <p:spPr>
          <a:xfrm>
            <a:off x="4125950" y="1177574"/>
            <a:ext cx="3033000" cy="405000"/>
          </a:xfrm>
          <a:prstGeom prst="roundRect">
            <a:avLst>
              <a:gd name="adj" fmla="val 16667"/>
            </a:avLst>
          </a:prstGeom>
          <a:solidFill>
            <a:srgbClr val="E1EF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Jointly offered by University and LTIMindTree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180236" y="1659822"/>
            <a:ext cx="11428200" cy="5724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Review</a:t>
            </a:r>
            <a:r>
              <a:rPr lang="en-US" sz="36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36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Evidence-Grounded Supplier Intelligence for Automotive Procurement</a:t>
            </a:r>
            <a:endParaRPr sz="3600" b="1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54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ctr">
              <a:buSzPts val="2400"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T9972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Khavin C [251011010]</a:t>
            </a:r>
            <a:endParaRPr sz="2400" b="1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RAJALAKSHMI ENGINEERING COLLEGE</a:t>
            </a:r>
            <a:endParaRPr sz="24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54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54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6" name="Google Shape;66;p15"/>
          <p:cNvGraphicFramePr/>
          <p:nvPr/>
        </p:nvGraphicFramePr>
        <p:xfrm>
          <a:off x="-47290" y="5501244"/>
          <a:ext cx="12239200" cy="3264845"/>
        </p:xfrm>
        <a:graphic>
          <a:graphicData uri="http://schemas.openxmlformats.org/drawingml/2006/table">
            <a:tbl>
              <a:tblPr firstRow="1" bandRow="1">
                <a:noFill/>
                <a:tableStyleId>{7A6AE9A8-6298-4076-9231-B7FAEA5409DA}</a:tableStyleId>
              </a:tblPr>
              <a:tblGrid>
                <a:gridCol w="611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7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Knowledge partner</a:t>
                      </a:r>
                      <a:endParaRPr sz="1800" u="none" strike="noStrike" cap="none">
                        <a:solidFill>
                          <a:schemeClr val="lt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                                                    Implementation partner</a:t>
                      </a:r>
                      <a:endParaRPr sz="1800" u="none" strike="noStrike" cap="none">
                        <a:solidFill>
                          <a:schemeClr val="lt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4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75332" y="5852667"/>
            <a:ext cx="1987468" cy="847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223793" y="5226092"/>
            <a:ext cx="4201139" cy="2100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256000" y="1271225"/>
            <a:ext cx="11851800" cy="43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Supplier selection</a:t>
            </a:r>
            <a:r>
              <a:rPr lang="en-US" b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requires evidence of quality, cost and delivery.</a:t>
            </a: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Procurement evidence</a:t>
            </a:r>
            <a:r>
              <a:rPr lang="en-US" b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is scattered across contracts and supplier records.</a:t>
            </a: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Missing or outdated evidence</a:t>
            </a:r>
            <a:r>
              <a:rPr lang="en-US" b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can lead to unsupported recommendations.</a:t>
            </a: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RESA(Requirement-Evidence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-Supplier Alignment)</a:t>
            </a:r>
            <a:r>
              <a:rPr lang="en-US" b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checks each requirement against retrieved evidence and supplier metrics, then ranks suppliers and verifies the explanation.</a:t>
            </a:r>
          </a:p>
        </p:txBody>
      </p:sp>
      <p:sp>
        <p:nvSpPr>
          <p:cNvPr id="74" name="Google Shape;74;p16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" name="Google Shape;75;p16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76" name="Google Shape;76;p16"/>
          <p:cNvSpPr txBox="1"/>
          <p:nvPr/>
        </p:nvSpPr>
        <p:spPr>
          <a:xfrm>
            <a:off x="4354525" y="0"/>
            <a:ext cx="7837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Evidence-Grounded Supplier Intelligence for Automotive Procurement</a:t>
            </a: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255996" y="1271219"/>
            <a:ext cx="10624338" cy="414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Extract hard and soft requirements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from procurement queries.</a:t>
            </a: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Combine supplier metrics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with hybrid-RAG evidence.</a:t>
            </a: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Assign evidence states: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satisfied, violated or insufficient.</a:t>
            </a: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Rank suppliers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using performance, risk and evidence support.</a:t>
            </a: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Evaluate explanations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with faithfulness tests and ablations.</a:t>
            </a:r>
          </a:p>
        </p:txBody>
      </p:sp>
      <p:sp>
        <p:nvSpPr>
          <p:cNvPr id="82" name="Google Shape;82;p17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83;p17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84" name="Google Shape;84;p17"/>
          <p:cNvSpPr txBox="1"/>
          <p:nvPr/>
        </p:nvSpPr>
        <p:spPr>
          <a:xfrm>
            <a:off x="1001399" y="57025"/>
            <a:ext cx="11190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Evidence-Grounded Supplier Intelligence for Automotive Procurement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255996" y="1271219"/>
            <a:ext cx="10624338" cy="414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70C0"/>
              </a:buClr>
              <a:buSzPts val="2800"/>
              <a:buChar char="●"/>
            </a:pPr>
            <a:r>
              <a:rPr lang="en-US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Study component procurement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in OEM and Tier-1/Tier-2 firms.</a:t>
            </a:r>
          </a:p>
          <a:p>
            <a:pPr marL="457200" lvl="0" indent="-4064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70C0"/>
              </a:buClr>
              <a:buSzPts val="2800"/>
              <a:buChar char="●"/>
            </a:pPr>
            <a:r>
              <a:rPr lang="en-US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Link supplier metrics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to contracts and quality documents.</a:t>
            </a:r>
          </a:p>
          <a:p>
            <a:pPr marL="457200" lvl="0" indent="-4064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70C0"/>
              </a:buClr>
              <a:buSzPts val="2800"/>
              <a:buChar char="●"/>
            </a:pPr>
            <a:r>
              <a:rPr lang="en-US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Prioritize public data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and preserve source-specific identities.</a:t>
            </a:r>
          </a:p>
          <a:p>
            <a:pPr marL="457200" lvl="0" indent="-4064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70C0"/>
              </a:buClr>
              <a:buSzPts val="2800"/>
              <a:buChar char="●"/>
            </a:pPr>
            <a:r>
              <a:rPr lang="en-US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Compare RESA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with RAG and structured ranking baselines.</a:t>
            </a:r>
          </a:p>
          <a:p>
            <a:pPr marL="457200" lvl="0" indent="-4064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70C0"/>
              </a:buClr>
              <a:buSzPts val="2800"/>
              <a:buChar char="●"/>
            </a:pPr>
            <a:r>
              <a:rPr lang="en-US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Support human review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with traceable evidence.</a:t>
            </a:r>
          </a:p>
        </p:txBody>
      </p:sp>
      <p:sp>
        <p:nvSpPr>
          <p:cNvPr id="90" name="Google Shape;90;p18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Scope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91;p18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92" name="Google Shape;92;p18"/>
          <p:cNvSpPr txBox="1"/>
          <p:nvPr/>
        </p:nvSpPr>
        <p:spPr>
          <a:xfrm>
            <a:off x="3110378" y="57025"/>
            <a:ext cx="9081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Evidence-Grounded Supplier Intelligence for Automotive Procurement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19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99" name="Google Shape;99;p19"/>
          <p:cNvSpPr txBox="1"/>
          <p:nvPr/>
        </p:nvSpPr>
        <p:spPr>
          <a:xfrm>
            <a:off x="4237477" y="0"/>
            <a:ext cx="7731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Supplier Intelligence for Automotive Procurement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2412450" y="2594500"/>
            <a:ext cx="8739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-1668975" y="3717275"/>
            <a:ext cx="8739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2" name="Table 7">
            <a:extLst>
              <a:ext uri="{FF2B5EF4-FFF2-40B4-BE49-F238E27FC236}">
                <a16:creationId xmlns:a16="http://schemas.microsoft.com/office/drawing/2014/main" id="{02BC7707-B7BF-E07B-7FBB-0B6EDBBFBF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5542214"/>
              </p:ext>
            </p:extLst>
          </p:nvPr>
        </p:nvGraphicFramePr>
        <p:xfrm>
          <a:off x="944772" y="1403281"/>
          <a:ext cx="10298242" cy="44200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44973">
                  <a:extLst>
                    <a:ext uri="{9D8B030D-6E8A-4147-A177-3AD203B41FA5}">
                      <a16:colId xmlns:a16="http://schemas.microsoft.com/office/drawing/2014/main" val="2175413709"/>
                    </a:ext>
                  </a:extLst>
                </a:gridCol>
                <a:gridCol w="2784423">
                  <a:extLst>
                    <a:ext uri="{9D8B030D-6E8A-4147-A177-3AD203B41FA5}">
                      <a16:colId xmlns:a16="http://schemas.microsoft.com/office/drawing/2014/main" val="133118053"/>
                    </a:ext>
                  </a:extLst>
                </a:gridCol>
                <a:gridCol w="2784423">
                  <a:extLst>
                    <a:ext uri="{9D8B030D-6E8A-4147-A177-3AD203B41FA5}">
                      <a16:colId xmlns:a16="http://schemas.microsoft.com/office/drawing/2014/main" val="3425178481"/>
                    </a:ext>
                  </a:extLst>
                </a:gridCol>
                <a:gridCol w="2784423">
                  <a:extLst>
                    <a:ext uri="{9D8B030D-6E8A-4147-A177-3AD203B41FA5}">
                      <a16:colId xmlns:a16="http://schemas.microsoft.com/office/drawing/2014/main" val="3785080536"/>
                    </a:ext>
                  </a:extLst>
                </a:gridCol>
              </a:tblGrid>
              <a:tr h="37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rgbClr val="0070C0"/>
                          </a:solidFill>
                          <a:latin typeface="Calibri"/>
                        </a:rPr>
                        <a:t>Author(s)</a:t>
                      </a:r>
                    </a:p>
                  </a:txBody>
                  <a:tcPr marL="60687" marR="60687" marT="30343" marB="303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rgbClr val="0070C0"/>
                          </a:solidFill>
                          <a:latin typeface="Calibri"/>
                        </a:rPr>
                        <a:t>Paper</a:t>
                      </a:r>
                    </a:p>
                  </a:txBody>
                  <a:tcPr marL="60687" marR="60687" marT="30343" marB="303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rgbClr val="0070C0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60687" marR="60687" marT="30343" marB="303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rgbClr val="0070C0"/>
                          </a:solidFill>
                          <a:latin typeface="Calibri"/>
                        </a:rPr>
                        <a:t>Limitations</a:t>
                      </a:r>
                    </a:p>
                  </a:txBody>
                  <a:tcPr marL="60687" marR="60687" marT="30343" marB="30343" anchor="ctr"/>
                </a:tc>
                <a:extLst>
                  <a:ext uri="{0D108BD9-81ED-4DB2-BD59-A6C34878D82A}">
                    <a16:rowId xmlns:a16="http://schemas.microsoft.com/office/drawing/2014/main" val="2254107630"/>
                  </a:ext>
                </a:extLst>
              </a:tr>
              <a:tr h="675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 err="1">
                          <a:solidFill>
                            <a:srgbClr val="0070C0"/>
                          </a:solidFill>
                          <a:latin typeface="Calibri"/>
                        </a:rPr>
                        <a:t>[1] Abdulla &amp; Baryannis</a:t>
                      </a:r>
                    </a:p>
                  </a:txBody>
                  <a:tcPr marL="60687" marR="60687" marT="30343" marB="303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rgbClr val="0070C0"/>
                          </a:solidFill>
                          <a:latin typeface="Calibri"/>
                        </a:rPr>
                        <a:t>Explainable supplier selection (2024)</a:t>
                      </a:r>
                    </a:p>
                  </a:txBody>
                  <a:tcPr marL="60687" marR="60687" marT="30343" marB="303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rgbClr val="0070C0"/>
                          </a:solidFill>
                          <a:latin typeface="Calibri"/>
                        </a:rPr>
                        <a:t>Combines MCDM and ML for supplier ranking.</a:t>
                      </a:r>
                    </a:p>
                  </a:txBody>
                  <a:tcPr marL="60687" marR="60687" marT="30343" marB="303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rgbClr val="0070C0"/>
                          </a:solidFill>
                          <a:latin typeface="Calibri"/>
                        </a:rPr>
                        <a:t>Criteria ranking, without a document evidence chain.</a:t>
                      </a:r>
                    </a:p>
                  </a:txBody>
                  <a:tcPr marL="60687" marR="60687" marT="30343" marB="30343" anchor="ctr"/>
                </a:tc>
                <a:extLst>
                  <a:ext uri="{0D108BD9-81ED-4DB2-BD59-A6C34878D82A}">
                    <a16:rowId xmlns:a16="http://schemas.microsoft.com/office/drawing/2014/main" val="1649047318"/>
                  </a:ext>
                </a:extLst>
              </a:tr>
              <a:tr h="675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rgbClr val="0070C0"/>
                          </a:solidFill>
                          <a:latin typeface="Calibri"/>
                        </a:rPr>
                        <a:t>[2] Ma &amp; Li</a:t>
                      </a:r>
                    </a:p>
                  </a:txBody>
                  <a:tcPr marL="60687" marR="60687" marT="30343" marB="303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rgbClr val="0070C0"/>
                          </a:solidFill>
                          <a:latin typeface="Calibri"/>
                        </a:rPr>
                        <a:t>Supplier quality evaluation (2024)</a:t>
                      </a:r>
                    </a:p>
                  </a:txBody>
                  <a:tcPr marL="60687" marR="60687" marT="30343" marB="303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rgbClr val="0070C0"/>
                          </a:solidFill>
                          <a:latin typeface="Calibri"/>
                        </a:rPr>
                        <a:t>Uses MCDM and ML to evaluate supplier quality.</a:t>
                      </a:r>
                    </a:p>
                  </a:txBody>
                  <a:tcPr marL="60687" marR="60687" marT="30343" marB="303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rgbClr val="0070C0"/>
                          </a:solidFill>
                          <a:latin typeface="Calibri"/>
                        </a:rPr>
                        <a:t>Quality scores need requirement-specific support.</a:t>
                      </a:r>
                    </a:p>
                  </a:txBody>
                  <a:tcPr marL="60687" marR="60687" marT="30343" marB="30343" anchor="ctr"/>
                </a:tc>
                <a:extLst>
                  <a:ext uri="{0D108BD9-81ED-4DB2-BD59-A6C34878D82A}">
                    <a16:rowId xmlns:a16="http://schemas.microsoft.com/office/drawing/2014/main" val="405025129"/>
                  </a:ext>
                </a:extLst>
              </a:tr>
              <a:tr h="675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rgbClr val="0070C0"/>
                          </a:solidFill>
                          <a:latin typeface="Calibri"/>
                        </a:rPr>
                        <a:t>[3] Lindholm et al.</a:t>
                      </a:r>
                    </a:p>
                  </a:txBody>
                  <a:tcPr marL="60687" marR="60687" marT="30343" marB="303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rgbClr val="0070C0"/>
                          </a:solidFill>
                          <a:latin typeface="Calibri"/>
                        </a:rPr>
                        <a:t>Operational supply risks in automotive (2025)</a:t>
                      </a:r>
                    </a:p>
                  </a:txBody>
                  <a:tcPr marL="60687" marR="60687" marT="30343" marB="303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rgbClr val="0070C0"/>
                          </a:solidFill>
                          <a:latin typeface="Calibri"/>
                        </a:rPr>
                        <a:t>Assesses risk using OEM and supplier data.</a:t>
                      </a:r>
                    </a:p>
                  </a:txBody>
                  <a:tcPr marL="60687" marR="60687" marT="30343" marB="303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rgbClr val="0070C0"/>
                          </a:solidFill>
                          <a:latin typeface="Calibri"/>
                        </a:rPr>
                        <a:t>Risk signals need links to order requirements.</a:t>
                      </a:r>
                    </a:p>
                  </a:txBody>
                  <a:tcPr marL="60687" marR="60687" marT="30343" marB="30343" anchor="ctr"/>
                </a:tc>
                <a:extLst>
                  <a:ext uri="{0D108BD9-81ED-4DB2-BD59-A6C34878D82A}">
                    <a16:rowId xmlns:a16="http://schemas.microsoft.com/office/drawing/2014/main" val="1929636224"/>
                  </a:ext>
                </a:extLst>
              </a:tr>
              <a:tr h="675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rgbClr val="0070C0"/>
                          </a:solidFill>
                          <a:latin typeface="Calibri"/>
                        </a:rPr>
                        <a:t>[4] Jackson et al.</a:t>
                      </a:r>
                    </a:p>
                  </a:txBody>
                  <a:tcPr marL="60687" marR="60687" marT="30343" marB="303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rgbClr val="0070C0"/>
                          </a:solidFill>
                          <a:latin typeface="Calibri"/>
                        </a:rPr>
                        <a:t>Supply chain mapping through RAG (2025)</a:t>
                      </a:r>
                    </a:p>
                  </a:txBody>
                  <a:tcPr marL="60687" marR="60687" marT="30343" marB="303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rgbClr val="0070C0"/>
                          </a:solidFill>
                          <a:latin typeface="Calibri"/>
                        </a:rPr>
                        <a:t>Maps supplier relationships in electronics.</a:t>
                      </a:r>
                    </a:p>
                  </a:txBody>
                  <a:tcPr marL="60687" marR="60687" marT="30343" marB="303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rgbClr val="0070C0"/>
                          </a:solidFill>
                          <a:latin typeface="Calibri"/>
                        </a:rPr>
                        <a:t>Maps networks rather than ranking suppliers.</a:t>
                      </a:r>
                    </a:p>
                  </a:txBody>
                  <a:tcPr marL="60687" marR="60687" marT="30343" marB="30343" anchor="ctr"/>
                </a:tc>
                <a:extLst>
                  <a:ext uri="{0D108BD9-81ED-4DB2-BD59-A6C34878D82A}">
                    <a16:rowId xmlns:a16="http://schemas.microsoft.com/office/drawing/2014/main" val="263008193"/>
                  </a:ext>
                </a:extLst>
              </a:tr>
              <a:tr h="675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 err="1">
                          <a:solidFill>
                            <a:srgbClr val="0070C0"/>
                          </a:solidFill>
                          <a:latin typeface="Calibri"/>
                        </a:rPr>
                        <a:t>[5] Joshi et al.</a:t>
                      </a:r>
                    </a:p>
                  </a:txBody>
                  <a:tcPr marL="60687" marR="60687" marT="30343" marB="303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rgbClr val="0070C0"/>
                          </a:solidFill>
                          <a:latin typeface="Calibri"/>
                        </a:rPr>
                        <a:t>Multi-agent LLM vendor evaluation (2026)</a:t>
                      </a:r>
                    </a:p>
                  </a:txBody>
                  <a:tcPr marL="60687" marR="60687" marT="30343" marB="303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rgbClr val="0070C0"/>
                          </a:solidFill>
                          <a:latin typeface="Calibri"/>
                        </a:rPr>
                        <a:t>Combines financial, risk and market signals.</a:t>
                      </a:r>
                    </a:p>
                  </a:txBody>
                  <a:tcPr marL="60687" marR="60687" marT="30343" marB="303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rgbClr val="0070C0"/>
                          </a:solidFill>
                          <a:latin typeface="Calibri"/>
                        </a:rPr>
                        <a:t>Adds evidence states but no claim-level tests.</a:t>
                      </a:r>
                    </a:p>
                  </a:txBody>
                  <a:tcPr marL="60687" marR="60687" marT="30343" marB="30343" anchor="ctr"/>
                </a:tc>
                <a:extLst>
                  <a:ext uri="{0D108BD9-81ED-4DB2-BD59-A6C34878D82A}">
                    <a16:rowId xmlns:a16="http://schemas.microsoft.com/office/drawing/2014/main" val="3380789271"/>
                  </a:ext>
                </a:extLst>
              </a:tr>
              <a:tr h="675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rgbClr val="0070C0"/>
                          </a:solidFill>
                          <a:latin typeface="Calibri"/>
                        </a:rPr>
                        <a:t>[6] Rodríguez Montequín et al.</a:t>
                      </a:r>
                      <a:endParaRPr lang="en-IN" sz="1600" b="1" dirty="0"/>
                    </a:p>
                  </a:txBody>
                  <a:tcPr marL="60687" marR="60687" marT="30343" marB="303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rgbClr val="0070C0"/>
                          </a:solidFill>
                          <a:latin typeface="Calibri"/>
                        </a:rPr>
                        <a:t>Dual-mode RAG for public tenders (2026)</a:t>
                      </a:r>
                    </a:p>
                  </a:txBody>
                  <a:tcPr marL="60687" marR="60687" marT="30343" marB="303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rgbClr val="0070C0"/>
                          </a:solidFill>
                          <a:latin typeface="Calibri"/>
                        </a:rPr>
                        <a:t>Answers questions over tender documents.</a:t>
                      </a:r>
                    </a:p>
                  </a:txBody>
                  <a:tcPr marL="60687" marR="60687" marT="30343" marB="303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rgbClr val="0070C0"/>
                          </a:solidFill>
                          <a:latin typeface="Calibri"/>
                        </a:rPr>
                        <a:t>Tender Q&amp;A does not establish supplier rankings.</a:t>
                      </a:r>
                    </a:p>
                  </a:txBody>
                  <a:tcPr marL="60687" marR="60687" marT="30343" marB="30343" anchor="ctr"/>
                </a:tc>
                <a:extLst>
                  <a:ext uri="{0D108BD9-81ED-4DB2-BD59-A6C34878D82A}">
                    <a16:rowId xmlns:a16="http://schemas.microsoft.com/office/drawing/2014/main" val="2211930699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>
            <a:spLocks noGrp="1"/>
          </p:cNvSpPr>
          <p:nvPr>
            <p:ph type="body" idx="1"/>
          </p:nvPr>
        </p:nvSpPr>
        <p:spPr>
          <a:xfrm>
            <a:off x="256000" y="1271225"/>
            <a:ext cx="11539800" cy="4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Abdulla &amp; </a:t>
            </a:r>
            <a:r>
              <a:rPr lang="en-US" b="1" dirty="0" err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Baryannis</a:t>
            </a:r>
            <a:r>
              <a:rPr lang="en-US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(2024), Ma &amp; Li (2024):</a:t>
            </a:r>
            <a:r>
              <a:rPr lang="en-US" b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supplier ranking and quality evaluation with MCDM and ML.</a:t>
            </a:r>
          </a:p>
          <a:p>
            <a:pPr marL="457200" lvl="0" indent="-4064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Lindholm et al. (2025):</a:t>
            </a:r>
            <a:r>
              <a:rPr lang="en-US" b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automotive operational risk assessment.</a:t>
            </a:r>
          </a:p>
          <a:p>
            <a:pPr marL="457200" lvl="0" indent="-4064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Jackson et al. (2025):</a:t>
            </a:r>
            <a:r>
              <a:rPr lang="en-US" b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RAG for supplier relationship mapping.</a:t>
            </a:r>
          </a:p>
          <a:p>
            <a:pPr marL="457200" lvl="0" indent="-4064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Joshi et al. (2026):</a:t>
            </a:r>
            <a:r>
              <a:rPr lang="en-US" b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closely related LLM vendor intelligence.</a:t>
            </a:r>
          </a:p>
          <a:p>
            <a:pPr marL="457200" lvl="0" indent="-4064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Rodríguez </a:t>
            </a:r>
            <a:r>
              <a:rPr lang="en-US" b="1" dirty="0" err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Montequín</a:t>
            </a:r>
            <a:r>
              <a:rPr lang="en-US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et al. (2026):</a:t>
            </a:r>
            <a:r>
              <a:rPr lang="en-US" b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tender-document Q&amp;A.</a:t>
            </a:r>
          </a:p>
        </p:txBody>
      </p:sp>
      <p:sp>
        <p:nvSpPr>
          <p:cNvPr id="108" name="Google Shape;108;p20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Summary of Literature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" name="Google Shape;109;p20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10" name="Google Shape;110;p20"/>
          <p:cNvSpPr txBox="1"/>
          <p:nvPr/>
        </p:nvSpPr>
        <p:spPr>
          <a:xfrm>
            <a:off x="4111775" y="57025"/>
            <a:ext cx="8080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Evidence-Grounded Supplier Intelligence for Automotive Procurement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>
            <a:spLocks noGrp="1"/>
          </p:cNvSpPr>
          <p:nvPr>
            <p:ph type="body" idx="1"/>
          </p:nvPr>
        </p:nvSpPr>
        <p:spPr>
          <a:xfrm>
            <a:off x="256000" y="1271225"/>
            <a:ext cx="11609100" cy="47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Limited document grounding [1, 2]: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RESA links supplier metrics to requirement-specific evidence.</a:t>
            </a:r>
          </a:p>
          <a:p>
            <a:pPr marL="457200" lvl="0" indent="-4064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Risk focus [3]: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RESA connects recent risk to supplier ranking.</a:t>
            </a:r>
          </a:p>
          <a:p>
            <a:pPr marL="457200" lvl="0" indent="-4064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Mapping / Q&amp;A [4, 6]: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RESA adds supplier constraint checks.</a:t>
            </a:r>
          </a:p>
          <a:p>
            <a:pPr marL="457200" lvl="0" indent="-4064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Verification gap [5]: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RESA flags missing evidence and checks whether each recommendation claim has support.</a:t>
            </a:r>
          </a:p>
        </p:txBody>
      </p:sp>
      <p:sp>
        <p:nvSpPr>
          <p:cNvPr id="116" name="Google Shape;116;p21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Additional Information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" name="Google Shape;117;p21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18" name="Google Shape;118;p21"/>
          <p:cNvSpPr txBox="1"/>
          <p:nvPr/>
        </p:nvSpPr>
        <p:spPr>
          <a:xfrm>
            <a:off x="3666303" y="0"/>
            <a:ext cx="8525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Evidence-Grounded Supplier Intelligence for Automotive Procurement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F3A3B503-A4EC-E1FF-2464-A013BC339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>
            <a:extLst>
              <a:ext uri="{FF2B5EF4-FFF2-40B4-BE49-F238E27FC236}">
                <a16:creationId xmlns:a16="http://schemas.microsoft.com/office/drawing/2014/main" id="{5A44A192-BE59-16D2-CB41-B21B8B893416}"/>
              </a:ext>
            </a:extLst>
          </p:cNvPr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Additional Information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" name="Google Shape;117;p21">
            <a:extLst>
              <a:ext uri="{FF2B5EF4-FFF2-40B4-BE49-F238E27FC236}">
                <a16:creationId xmlns:a16="http://schemas.microsoft.com/office/drawing/2014/main" id="{BDD50E60-3003-7485-10A4-202F4961AAD3}"/>
              </a:ext>
            </a:extLst>
          </p:cNvPr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18" name="Google Shape;118;p21">
            <a:extLst>
              <a:ext uri="{FF2B5EF4-FFF2-40B4-BE49-F238E27FC236}">
                <a16:creationId xmlns:a16="http://schemas.microsoft.com/office/drawing/2014/main" id="{CDE6ED4B-8118-70CF-A1E3-188BCCE533B9}"/>
              </a:ext>
            </a:extLst>
          </p:cNvPr>
          <p:cNvSpPr txBox="1"/>
          <p:nvPr/>
        </p:nvSpPr>
        <p:spPr>
          <a:xfrm>
            <a:off x="3666303" y="0"/>
            <a:ext cx="8525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Evidence-Grounded Supplier Intelligence for Automotive Procurement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0BBE25E-A953-725E-FA7D-6CD54A5C48E3}"/>
              </a:ext>
            </a:extLst>
          </p:cNvPr>
          <p:cNvGraphicFramePr>
            <a:graphicFrameLocks noGrp="1"/>
          </p:cNvGraphicFramePr>
          <p:nvPr/>
        </p:nvGraphicFramePr>
        <p:xfrm>
          <a:off x="677863" y="1455738"/>
          <a:ext cx="11004550" cy="4267200"/>
        </p:xfrm>
        <a:graphic>
          <a:graphicData uri="http://schemas.openxmlformats.org/drawingml/2006/table">
            <a:tbl>
              <a:tblPr>
                <a:tableStyleId>{7A6AE9A8-6298-4076-9231-B7FAEA5409DA}</a:tableStyleId>
              </a:tblPr>
              <a:tblGrid>
                <a:gridCol w="5502275">
                  <a:extLst>
                    <a:ext uri="{9D8B030D-6E8A-4147-A177-3AD203B41FA5}">
                      <a16:colId xmlns:a16="http://schemas.microsoft.com/office/drawing/2014/main" val="2505499269"/>
                    </a:ext>
                  </a:extLst>
                </a:gridCol>
                <a:gridCol w="5502275">
                  <a:extLst>
                    <a:ext uri="{9D8B030D-6E8A-4147-A177-3AD203B41FA5}">
                      <a16:colId xmlns:a16="http://schemas.microsoft.com/office/drawing/2014/main" val="9850735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Technology Stack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960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Frontend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9803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Backend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FastAPI, Pydantic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27280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LLM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Llama 3.1 8B, Ollama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5183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LlamaIndex, Hybrid Retrieval (BM25 + Vector)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5734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Embeddings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nomic-embed-text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4698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Vector 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Qdrant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721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Document 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Unstructured.io OSS, Camelot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9268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Database &amp; 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PostgreSQL, MinIO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858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AI/ML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Python, Pandas, NumPy, Scikit-learn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0248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Cache &amp; Sync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Redis, inotifywait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2644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Research 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8913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Enterprise Interface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Microsoft Bot Framework SDK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4727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Deployment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Docker, Docker Compose, Nginx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2006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73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>
            <a:spLocks noGrp="1"/>
          </p:cNvSpPr>
          <p:nvPr>
            <p:ph type="body" idx="1"/>
          </p:nvPr>
        </p:nvSpPr>
        <p:spPr>
          <a:xfrm>
            <a:off x="255996" y="1271219"/>
            <a:ext cx="10624338" cy="414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Module 1 – Ingestion: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Parse records and retain sources.</a:t>
            </a: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Module 2 – Retrieval: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Extract needs and retrieve evidence.</a:t>
            </a: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Module 3 – RESA: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Check whether evidence supports, violates or cannot establish each requirement.</a:t>
            </a: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Module 4 – Ranking: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Score performance, risk and evidence.</a:t>
            </a: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Module 5 – Verification: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Check claims and evaluate results.</a:t>
            </a:r>
          </a:p>
        </p:txBody>
      </p:sp>
      <p:sp>
        <p:nvSpPr>
          <p:cNvPr id="124" name="Google Shape;124;p22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Modules to cover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" name="Google Shape;125;p22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26" name="Google Shape;126;p22"/>
          <p:cNvSpPr txBox="1"/>
          <p:nvPr/>
        </p:nvSpPr>
        <p:spPr>
          <a:xfrm>
            <a:off x="4263500" y="57025"/>
            <a:ext cx="7928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Evidence-Grounded Supplier Intelligence for Automotive Procurement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>
            <a:spLocks noGrp="1"/>
          </p:cNvSpPr>
          <p:nvPr>
            <p:ph type="body" idx="1"/>
          </p:nvPr>
        </p:nvSpPr>
        <p:spPr>
          <a:xfrm>
            <a:off x="256000" y="1271275"/>
            <a:ext cx="11430000" cy="41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Traceable recommendations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linked to supplier-specific evidence.</a:t>
            </a:r>
          </a:p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Explicit evidence status: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satisfied, violated or insufficient.</a:t>
            </a:r>
          </a:p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Fewer unsupported claims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is the main hypothesis to test.</a:t>
            </a:r>
          </a:p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Baseline comparisons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measure retrieval, ranking and faithfulness.</a:t>
            </a:r>
          </a:p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 reproducible RESA framework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for automotive procurement research.</a:t>
            </a:r>
          </a:p>
        </p:txBody>
      </p:sp>
      <p:sp>
        <p:nvSpPr>
          <p:cNvPr id="132" name="Google Shape;132;p23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Expected Outcomes</a:t>
            </a:r>
            <a:endParaRPr sz="3600" b="1" i="0" u="none" strike="noStrike" cap="none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23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34" name="Google Shape;134;p23"/>
          <p:cNvSpPr txBox="1"/>
          <p:nvPr/>
        </p:nvSpPr>
        <p:spPr>
          <a:xfrm>
            <a:off x="2685554" y="57025"/>
            <a:ext cx="9506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Evidence-Grounded Supplier Intelligence for Automotive Procurement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39000">
                <a:srgbClr val="1C4D98"/>
              </a:gs>
              <a:gs pos="100000">
                <a:srgbClr val="3793A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5"/>
          <p:cNvSpPr txBox="1">
            <a:spLocks noGrp="1"/>
          </p:cNvSpPr>
          <p:nvPr>
            <p:ph type="body" idx="1"/>
          </p:nvPr>
        </p:nvSpPr>
        <p:spPr>
          <a:xfrm>
            <a:off x="2289635" y="17705"/>
            <a:ext cx="6910121" cy="105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en-US" sz="4400">
                <a:solidFill>
                  <a:schemeClr val="lt1"/>
                </a:solidFill>
              </a:rPr>
              <a:t>M.Tech Program 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sz="2000">
                <a:solidFill>
                  <a:schemeClr val="lt1"/>
                </a:solidFill>
              </a:rPr>
              <a:t>Advanced Industry Integrated Programs</a:t>
            </a:r>
            <a:endParaRPr/>
          </a:p>
        </p:txBody>
      </p:sp>
      <p:cxnSp>
        <p:nvCxnSpPr>
          <p:cNvPr id="63" name="Google Shape;63;p15"/>
          <p:cNvCxnSpPr/>
          <p:nvPr/>
        </p:nvCxnSpPr>
        <p:spPr>
          <a:xfrm>
            <a:off x="2977350" y="1120307"/>
            <a:ext cx="5866228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64" name="Google Shape;64;p15"/>
          <p:cNvSpPr/>
          <p:nvPr/>
        </p:nvSpPr>
        <p:spPr>
          <a:xfrm>
            <a:off x="4125950" y="1177575"/>
            <a:ext cx="3033000" cy="412800"/>
          </a:xfrm>
          <a:prstGeom prst="roundRect">
            <a:avLst>
              <a:gd name="adj" fmla="val 16667"/>
            </a:avLst>
          </a:prstGeom>
          <a:solidFill>
            <a:srgbClr val="E1EF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Jointly offered by University and LTIMindTree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180236" y="1659822"/>
            <a:ext cx="11428200" cy="5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US" sz="3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Review-1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MedTrace</a:t>
            </a:r>
            <a:r>
              <a:rPr lang="en-US" sz="36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AI - Medical Device Complaint Investigation Platform</a:t>
            </a:r>
            <a:endParaRPr sz="3600" b="1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54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ctr">
              <a:buSzPts val="2400"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T9972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Khavin C (251011010)</a:t>
            </a:r>
            <a:endParaRPr sz="2400" b="1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RAJALAKSHMI ENGINEERING COLLEGE</a:t>
            </a:r>
            <a:endParaRPr sz="2400" b="1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54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54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6" name="Google Shape;66;p15"/>
          <p:cNvGraphicFramePr/>
          <p:nvPr/>
        </p:nvGraphicFramePr>
        <p:xfrm>
          <a:off x="-47290" y="5501244"/>
          <a:ext cx="12239200" cy="3264845"/>
        </p:xfrm>
        <a:graphic>
          <a:graphicData uri="http://schemas.openxmlformats.org/drawingml/2006/table">
            <a:tbl>
              <a:tblPr firstRow="1" bandRow="1">
                <a:noFill/>
                <a:tableStyleId>{26CAD268-3F10-421D-BA33-64A75AFF0ACE}</a:tableStyleId>
              </a:tblPr>
              <a:tblGrid>
                <a:gridCol w="611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7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Knowledge partner</a:t>
                      </a:r>
                      <a:endParaRPr sz="1800" u="none" strike="noStrike" cap="none">
                        <a:solidFill>
                          <a:schemeClr val="lt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                                                    Implementation partner</a:t>
                      </a:r>
                      <a:endParaRPr sz="1800" u="none" strike="noStrike" cap="none">
                        <a:solidFill>
                          <a:schemeClr val="lt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4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75332" y="5852667"/>
            <a:ext cx="1987468" cy="847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223793" y="5226092"/>
            <a:ext cx="4201139" cy="2100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256000" y="1271225"/>
            <a:ext cx="11760600" cy="42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Medical-device complaints contain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unstructured failure reports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Investigators need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historical cases and regulatory evidence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MedTrace combines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NLP, ML and RAG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for complaint investigation.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It links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similar reports, recalls and device details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The platform supports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evidence-based review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by quality teams.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83D1"/>
              </a:buClr>
              <a:buSzPts val="2400"/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" name="Google Shape;75;p16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76" name="Google Shape;76;p16"/>
          <p:cNvSpPr txBox="1"/>
          <p:nvPr/>
        </p:nvSpPr>
        <p:spPr>
          <a:xfrm>
            <a:off x="3444178" y="57025"/>
            <a:ext cx="8747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MedTrace AI - Medical Device Complaint Investigation Platform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" name="Google Shape;82;p17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83" name="Google Shape;83;p17"/>
          <p:cNvSpPr txBox="1"/>
          <p:nvPr/>
        </p:nvSpPr>
        <p:spPr>
          <a:xfrm>
            <a:off x="3216575" y="57025"/>
            <a:ext cx="8975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MedTrace AI - Medical Device Complaint Investigation Platform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1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493475" y="1149050"/>
            <a:ext cx="10624200" cy="49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Char char="●"/>
            </a:pPr>
            <a:r>
              <a:rPr lang="en-US" sz="2800" b="0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Extract device problems and patient effects from complaint narratives.</a:t>
            </a:r>
            <a:endParaRPr sz="2800" b="0" i="0" u="none" strike="noStrike" cap="non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Char char="●"/>
            </a:pPr>
            <a:r>
              <a:rPr lang="en-US" sz="2800" b="0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Retrieve similar cases and relevant recall evidence.</a:t>
            </a:r>
            <a:endParaRPr sz="2800" b="0" i="0" u="none" strike="noStrike" cap="non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Char char="●"/>
            </a:pPr>
            <a:r>
              <a:rPr lang="en-US" sz="2800" b="0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Prioritize investigations using transparent scoring rules.</a:t>
            </a:r>
            <a:endParaRPr sz="2800" b="0" i="0" u="none" strike="noStrike" cap="non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Char char="●"/>
            </a:pPr>
            <a:r>
              <a:rPr lang="en-US" sz="2800" b="0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Generate cited summaries and identify missing evidence.</a:t>
            </a:r>
            <a:endParaRPr sz="2800" b="0" i="0" u="none" strike="noStrike" cap="non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Char char="●"/>
            </a:pPr>
            <a:r>
              <a:rPr lang="en-US" sz="2800" b="0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Compare keyword search, basic RAG and the proposed workflow.</a:t>
            </a:r>
            <a:endParaRPr sz="2800" b="0" i="0" u="none" strike="noStrike" cap="non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5583D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5583D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5583D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256000" y="1271225"/>
            <a:ext cx="11654400" cy="5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70C0"/>
              </a:buClr>
              <a:buSzPts val="2800"/>
              <a:buChar char="●"/>
            </a:pPr>
            <a:r>
              <a:rPr lang="en-US" b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Uses </a:t>
            </a:r>
            <a:r>
              <a:rPr lang="en-US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public MAUDE reports</a:t>
            </a:r>
            <a:r>
              <a:rPr lang="en-US" b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with minimal synthetic data.</a:t>
            </a:r>
            <a:endParaRPr b="0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●"/>
            </a:pPr>
            <a:r>
              <a:rPr lang="en-US" b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Covers </a:t>
            </a:r>
            <a:r>
              <a:rPr lang="en-US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selected device categories</a:t>
            </a:r>
            <a:r>
              <a:rPr lang="en-US" b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and reported failure patterns.</a:t>
            </a:r>
            <a:endParaRPr b="0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●"/>
            </a:pPr>
            <a:r>
              <a:rPr lang="en-US" b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Combines </a:t>
            </a:r>
            <a:r>
              <a:rPr lang="en-US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device metadata, recall records and FDA guidance</a:t>
            </a:r>
            <a:r>
              <a:rPr lang="en-US" b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●"/>
            </a:pPr>
            <a:r>
              <a:rPr lang="en-US" b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Evaluates </a:t>
            </a:r>
            <a:r>
              <a:rPr lang="en-US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extraction, retrieval and citation quality</a:t>
            </a:r>
            <a:r>
              <a:rPr lang="en-US" b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on held-out cases.</a:t>
            </a:r>
            <a:endParaRPr b="0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●"/>
            </a:pPr>
            <a:r>
              <a:rPr lang="en-US" b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Provides </a:t>
            </a:r>
            <a:r>
              <a:rPr lang="en-US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human-reviewed recommendations</a:t>
            </a:r>
            <a:r>
              <a:rPr lang="en-US" b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within a US FDA scope.</a:t>
            </a:r>
            <a:endParaRPr b="0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5583D1"/>
              </a:buClr>
              <a:buSzPts val="2400"/>
              <a:buNone/>
            </a:pPr>
            <a:endParaRPr b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Scope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91;p18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92" name="Google Shape;92;p18"/>
          <p:cNvSpPr txBox="1"/>
          <p:nvPr/>
        </p:nvSpPr>
        <p:spPr>
          <a:xfrm>
            <a:off x="2867629" y="57025"/>
            <a:ext cx="93243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MedTrace AI - Medical Device Complaint Investigation Platform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19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99" name="Google Shape;99;p19"/>
          <p:cNvSpPr txBox="1"/>
          <p:nvPr/>
        </p:nvSpPr>
        <p:spPr>
          <a:xfrm>
            <a:off x="3550375" y="57025"/>
            <a:ext cx="86415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MedTrace AI - Medical Device Complaint Investigation Platform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0" name="Google Shape;100;p19"/>
          <p:cNvGraphicFramePr/>
          <p:nvPr>
            <p:extLst>
              <p:ext uri="{D42A27DB-BD31-4B8C-83A1-F6EECF244321}">
                <p14:modId xmlns:p14="http://schemas.microsoft.com/office/powerpoint/2010/main" val="256020779"/>
              </p:ext>
            </p:extLst>
          </p:nvPr>
        </p:nvGraphicFramePr>
        <p:xfrm>
          <a:off x="867705" y="1234468"/>
          <a:ext cx="10287000" cy="4382575"/>
        </p:xfrm>
        <a:graphic>
          <a:graphicData uri="http://schemas.openxmlformats.org/drawingml/2006/table">
            <a:tbl>
              <a:tblPr>
                <a:noFill/>
                <a:tableStyleId>{593100EF-B65B-4215-8807-50E75C0B9107}</a:tableStyleId>
              </a:tblPr>
              <a:tblGrid>
                <a:gridCol w="10270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19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97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45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92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94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No.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Paper Title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Authors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Year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Conference / Journal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Relevance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9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Development of a Benchmark Corpus for Medical Device Adverse Event Detection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 Wunnava et al.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2024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CL4Health / LREC-COLING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Annotated reports for extraction. Gap: no full investigation workflow.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1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MALADE: LLM Agents with RAG for Pharmacovigilance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J. Choi et al.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2024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MLHC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Agentic RAG for drug safety. Gap: not device complaint investigation.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9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Medical Graph RAG: Towards Safe Medical LLMs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J. Wu et al.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2024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arXiv preprint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Medical evidence retrieval. Gap: not device-specific triage.</a:t>
                      </a:r>
                      <a:endParaRPr sz="14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1" name="Google Shape;101;p19"/>
          <p:cNvGraphicFramePr/>
          <p:nvPr/>
        </p:nvGraphicFramePr>
        <p:xfrm>
          <a:off x="304800" y="304800"/>
          <a:ext cx="208250" cy="396210"/>
        </p:xfrm>
        <a:graphic>
          <a:graphicData uri="http://schemas.openxmlformats.org/drawingml/2006/table">
            <a:tbl>
              <a:tblPr>
                <a:noFill/>
                <a:tableStyleId>{26CAD268-3F10-421D-BA33-64A75AFF0ACE}</a:tableStyleId>
              </a:tblPr>
              <a:tblGrid>
                <a:gridCol w="20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>
            <a:spLocks noGrp="1"/>
          </p:cNvSpPr>
          <p:nvPr>
            <p:ph type="body" idx="1"/>
          </p:nvPr>
        </p:nvSpPr>
        <p:spPr>
          <a:xfrm>
            <a:off x="682775" y="1271225"/>
            <a:ext cx="10787700" cy="50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Wunnava et al. (2024):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Annotated device reports support NLP extraction.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Choi et al. (2024):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MALADE combines agents and RAG for drug safety.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Wu et al. (2024):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MedGraphRAG links medical answers to evidence.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MedTrace extends these ideas: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Connect complaint evidence with recall and regulatory context.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83D1"/>
              </a:buClr>
              <a:buSzPts val="2400"/>
              <a:buNone/>
            </a:pP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0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Summary of Literature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" name="Google Shape;108;p20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09" name="Google Shape;109;p20"/>
          <p:cNvSpPr txBox="1"/>
          <p:nvPr/>
        </p:nvSpPr>
        <p:spPr>
          <a:xfrm>
            <a:off x="3444178" y="57025"/>
            <a:ext cx="87477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MedTrace AI - Medical Device Complaint Investigation Platform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>
            <a:spLocks noGrp="1"/>
          </p:cNvSpPr>
          <p:nvPr>
            <p:ph type="body" idx="1"/>
          </p:nvPr>
        </p:nvSpPr>
        <p:spPr>
          <a:xfrm>
            <a:off x="713100" y="1271225"/>
            <a:ext cx="11258100" cy="52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73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Wunnava et al.:</a:t>
            </a:r>
            <a:r>
              <a:rPr lang="en-US" sz="2500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Extraction-focused. We add similar-case retrieval and an investigation report.</a:t>
            </a:r>
            <a:endParaRPr sz="2500"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73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Choi et al.:</a:t>
            </a:r>
            <a:r>
              <a:rPr lang="en-US" sz="2500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Drug-focused. We adapt agentic retrieval to device complaints and recall evidence.</a:t>
            </a:r>
            <a:endParaRPr sz="2500"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73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Wu et al.:</a:t>
            </a:r>
            <a:r>
              <a:rPr lang="en-US" sz="2500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Medical QA-focused. We add complaint-level prioritization and FDA reporting context.</a:t>
            </a:r>
            <a:endParaRPr sz="2500"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73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Proposed contribution:</a:t>
            </a:r>
            <a:r>
              <a:rPr lang="en-US" sz="2500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Link each finding to its source and flag missing evidence for human review.</a:t>
            </a:r>
            <a:endParaRPr sz="2500"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83D1"/>
              </a:buClr>
              <a:buSzPts val="2400"/>
              <a:buNone/>
            </a:pPr>
            <a:endParaRPr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1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Additional Information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" name="Google Shape;116;p21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17" name="Google Shape;117;p21"/>
          <p:cNvSpPr txBox="1"/>
          <p:nvPr/>
        </p:nvSpPr>
        <p:spPr>
          <a:xfrm>
            <a:off x="3702103" y="57025"/>
            <a:ext cx="84900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MedTrace AI - Medical Device Complaint Investigation Platform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1DA9E125-A97E-6792-BE83-7C9D71088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>
            <a:extLst>
              <a:ext uri="{FF2B5EF4-FFF2-40B4-BE49-F238E27FC236}">
                <a16:creationId xmlns:a16="http://schemas.microsoft.com/office/drawing/2014/main" id="{FD7BD4F8-D355-D8CC-8846-9BAC5FDD837C}"/>
              </a:ext>
            </a:extLst>
          </p:cNvPr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Additional Information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" name="Google Shape;116;p21">
            <a:extLst>
              <a:ext uri="{FF2B5EF4-FFF2-40B4-BE49-F238E27FC236}">
                <a16:creationId xmlns:a16="http://schemas.microsoft.com/office/drawing/2014/main" id="{146C22D2-A228-C065-622D-36C24571B934}"/>
              </a:ext>
            </a:extLst>
          </p:cNvPr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17" name="Google Shape;117;p21">
            <a:extLst>
              <a:ext uri="{FF2B5EF4-FFF2-40B4-BE49-F238E27FC236}">
                <a16:creationId xmlns:a16="http://schemas.microsoft.com/office/drawing/2014/main" id="{FCA98A04-D69D-AD44-876E-80E730198D45}"/>
              </a:ext>
            </a:extLst>
          </p:cNvPr>
          <p:cNvSpPr txBox="1"/>
          <p:nvPr/>
        </p:nvSpPr>
        <p:spPr>
          <a:xfrm>
            <a:off x="3702103" y="57025"/>
            <a:ext cx="84900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MedTrace AI - Medical Device Complaint Investigation Platform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D57B4BC-909C-917B-6E6F-361AEE389D02}"/>
              </a:ext>
            </a:extLst>
          </p:cNvPr>
          <p:cNvGraphicFramePr>
            <a:graphicFrameLocks noGrp="1"/>
          </p:cNvGraphicFramePr>
          <p:nvPr/>
        </p:nvGraphicFramePr>
        <p:xfrm>
          <a:off x="677863" y="1760538"/>
          <a:ext cx="11004550" cy="3657600"/>
        </p:xfrm>
        <a:graphic>
          <a:graphicData uri="http://schemas.openxmlformats.org/drawingml/2006/table">
            <a:tbl>
              <a:tblPr>
                <a:tableStyleId>{26CAD268-3F10-421D-BA33-64A75AFF0ACE}</a:tableStyleId>
              </a:tblPr>
              <a:tblGrid>
                <a:gridCol w="5502275">
                  <a:extLst>
                    <a:ext uri="{9D8B030D-6E8A-4147-A177-3AD203B41FA5}">
                      <a16:colId xmlns:a16="http://schemas.microsoft.com/office/drawing/2014/main" val="4078046880"/>
                    </a:ext>
                  </a:extLst>
                </a:gridCol>
                <a:gridCol w="5502275">
                  <a:extLst>
                    <a:ext uri="{9D8B030D-6E8A-4147-A177-3AD203B41FA5}">
                      <a16:colId xmlns:a16="http://schemas.microsoft.com/office/drawing/2014/main" val="36415527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Technology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9128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Programming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Python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3359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Frontend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Streamlit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9135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Backend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FastAPI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779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PostgreSQL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1098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BERT / RoBERTa, spaCy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1047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ML &amp; XAI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XGBoost, SHAP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8484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Embeddings &amp; Vector 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Sentence Transformers, FAISS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6251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GenAI &amp; RAG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LLM, LangChain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15079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Agentic 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LangGraph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048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Deployment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Docker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619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Sources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FDA MAUDE, </a:t>
                      </a:r>
                      <a:r>
                        <a:rPr lang="en-IN" dirty="0" err="1"/>
                        <a:t>openFDA</a:t>
                      </a:r>
                      <a:r>
                        <a:rPr lang="en-IN" dirty="0"/>
                        <a:t>, 21 CFR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5976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6811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>
            <a:spLocks noGrp="1"/>
          </p:cNvSpPr>
          <p:nvPr>
            <p:ph type="body" idx="1"/>
          </p:nvPr>
        </p:nvSpPr>
        <p:spPr>
          <a:xfrm>
            <a:off x="819325" y="1271225"/>
            <a:ext cx="10060800" cy="50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Module 1 - Complaint NLP: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Clean MAUDE data and extract device problems and patient effects.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Module 2 - Evidence Retrieval: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Find similar cases, device details and possible recall matches.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Module 3 - Investigation: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Combine trends, priority rules and regulatory RAG through agents.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Module 4 - Report &amp; Evaluation: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Check citations and compare retrieval quality and review time.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>
              <a:solidFill>
                <a:srgbClr val="5583D1"/>
              </a:solidFill>
            </a:endParaRPr>
          </a:p>
        </p:txBody>
      </p:sp>
      <p:sp>
        <p:nvSpPr>
          <p:cNvPr id="123" name="Google Shape;123;p22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Modules to cover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" name="Google Shape;124;p22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25" name="Google Shape;125;p22"/>
          <p:cNvSpPr txBox="1"/>
          <p:nvPr/>
        </p:nvSpPr>
        <p:spPr>
          <a:xfrm>
            <a:off x="3262103" y="57025"/>
            <a:ext cx="89298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MedTrace AI - Medical Device Complaint Investigation Platform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>
            <a:spLocks noGrp="1"/>
          </p:cNvSpPr>
          <p:nvPr>
            <p:ph type="body" idx="2"/>
          </p:nvPr>
        </p:nvSpPr>
        <p:spPr>
          <a:xfrm>
            <a:off x="288025" y="629525"/>
            <a:ext cx="105372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36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Expected Outcomes</a:t>
            </a:r>
            <a:endParaRPr sz="3600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23"/>
          <p:cNvCxnSpPr>
            <a:stCxn id="130" idx="1"/>
            <a:endCxn id="130" idx="1"/>
          </p:cNvCxnSpPr>
          <p:nvPr/>
        </p:nvCxnSpPr>
        <p:spPr>
          <a:xfrm>
            <a:off x="288025" y="1014275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2" name="Google Shape;132;p23"/>
          <p:cNvCxnSpPr>
            <a:stCxn id="130" idx="1"/>
            <a:endCxn id="130" idx="1"/>
          </p:cNvCxnSpPr>
          <p:nvPr/>
        </p:nvCxnSpPr>
        <p:spPr>
          <a:xfrm>
            <a:off x="288025" y="1014275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3" name="Google Shape;133;p23"/>
          <p:cNvCxnSpPr/>
          <p:nvPr/>
        </p:nvCxnSpPr>
        <p:spPr>
          <a:xfrm>
            <a:off x="288025" y="1261875"/>
            <a:ext cx="6556200" cy="4110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4" name="Google Shape;134;p23"/>
          <p:cNvSpPr txBox="1"/>
          <p:nvPr/>
        </p:nvSpPr>
        <p:spPr>
          <a:xfrm>
            <a:off x="410025" y="1302975"/>
            <a:ext cx="11060400" cy="57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064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sz="2800" b="1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Structured Complaints:</a:t>
            </a:r>
            <a:r>
              <a:rPr lang="en-US" sz="2800" b="0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Extract device failures and reported patient consequences.</a:t>
            </a:r>
            <a:endParaRPr sz="2800" b="0" i="0" u="none" strike="noStrike" cap="non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064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sz="2800" b="1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Traceable Evidence:</a:t>
            </a:r>
            <a:r>
              <a:rPr lang="en-US" sz="2800" b="0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Connect findings to similar reports and regulatory sources.</a:t>
            </a:r>
            <a:endParaRPr sz="2800" b="0" i="0" u="none" strike="noStrike" cap="non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064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sz="2800" b="1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Better Retrieval:</a:t>
            </a:r>
            <a:r>
              <a:rPr lang="en-US" sz="2800" b="0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Aim to improve relevant evidence coverage over basic search.</a:t>
            </a:r>
            <a:endParaRPr sz="2800" b="0" i="0" u="none" strike="noStrike" cap="non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064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sz="2800" b="1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Investigator Support:</a:t>
            </a:r>
            <a:r>
              <a:rPr lang="en-US" sz="2800" b="0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Highlight missing evidence and recommend next steps for review.</a:t>
            </a:r>
            <a:endParaRPr sz="2800" b="0" i="0" u="none" strike="noStrike" cap="non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3"/>
          <p:cNvSpPr txBox="1"/>
          <p:nvPr/>
        </p:nvSpPr>
        <p:spPr>
          <a:xfrm>
            <a:off x="3535200" y="-75875"/>
            <a:ext cx="86937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MedTrace AI - Medical Device Complaint Investigation Platform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1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1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</TotalTime>
  <Words>1409</Words>
  <Application>Microsoft Office PowerPoint</Application>
  <PresentationFormat>Widescreen</PresentationFormat>
  <Paragraphs>239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1_Office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Khavin C</dc:creator>
  <cp:lastModifiedBy>Khavin C</cp:lastModifiedBy>
  <cp:revision>7</cp:revision>
  <dcterms:modified xsi:type="dcterms:W3CDTF">2026-10-01T04:46:58Z</dcterms:modified>
</cp:coreProperties>
</file>