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147470501" r:id="rId2"/>
    <p:sldId id="2147470492" r:id="rId3"/>
    <p:sldId id="2147470493" r:id="rId4"/>
    <p:sldId id="2147470487" r:id="rId5"/>
    <p:sldId id="2147470494" r:id="rId6"/>
    <p:sldId id="2147470497" r:id="rId7"/>
    <p:sldId id="2147470498" r:id="rId8"/>
    <p:sldId id="2147470500" r:id="rId9"/>
    <p:sldId id="2147470499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25B9ED"/>
    <a:srgbClr val="47BDAE"/>
    <a:srgbClr val="30BBDA"/>
    <a:srgbClr val="47BDAF"/>
    <a:srgbClr val="696969"/>
    <a:srgbClr val="1C4D98"/>
    <a:srgbClr val="8BC431"/>
    <a:srgbClr val="97B6BA"/>
    <a:srgbClr val="24A8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A111915-BE36-4E01-A7E5-04B1672EAD32}" styleName="Light Style 2 –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7DF18680-E054-41AD-8BC1-D1AEF772440D}" styleName="Medium Style 2 –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layout, text styling, background and partner logos are retained from the supplied Review 2 template. Student name: Khavin C. Registration number: 251011010. No unverified T-code is assigned.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MedTrace AI is B2B investigator decision support. The implementation begins with infusion pumps and real public FDA evidence. It does not determine causality or MDR reportability automatically.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default system uses rule extraction, TF-IDF and extractive regulatory retrieval without a paid LLM. Classification/retrieval research metrics remain pending reviewed labels. The proposed comparative evaluation is not a completed result.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 details: openFDA device/event; device/enforcement; device/classification; official eCFR Part 803 and 820.35. The 280-record sample covers selected 2025 reports. The intended 2021–2025 research corpus was not downloaded fully. URLs: https://open.fda.gov/apis/device/event/ ; https://open.fda.gov/apis/device/enforcement/ ; https://www.ecfr.gov/current/title-21/chapter-I/subchapter-H/part-803 ; https://www.ecfr.gov/current/title-21/chapter-I/subchapter-H/part-820/subpart-B/section-820.35 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Evidence: MedTrace_AI/docs/VALIDATION.md and reports/sample_reports/demo_stages.json. Example input describes delivery interruption and an occlusion alarm. It returns 5 cases, 4 regulatory passages and priority 20/100. The score is an unvalidated project rubric, not an FDA risk class. No trained-model accuracy has been claimed.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3F4D17B-9B25-2D63-E389-71163BD2C8E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FC4ED1-FB42-4A6C-B292-B8C58946A8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35A630-145D-4232-9865-98341E30F7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7083635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837F2-3C53-43E6-9F25-242D13C5AB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02C3C5-9B28-493B-9422-74FF4AE180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704361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9B68FAD-9CFA-CBF0-4B37-9944C2E932A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D4B6E2-CC70-4366-ABC8-87480CC35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0D34EE-ED80-45A7-B964-53ED80D946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33036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3BCD6-D227-4C30-8364-6F161FA12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DC3054-5604-4679-AF7D-07BF06BE01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47BA85-32D5-4EA3-9F8B-5A8B925174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961234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6F33A1-3BE5-4F1B-8E70-0822549022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C4CAE0-72F2-4F22-A85A-772E3DA044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DE67E9-F76F-4049-98D4-82E9E7C800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332A94-E906-4159-9FE4-E63CFAE0BE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C16D1AA-A642-4FEB-91F0-3F506A2AE8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393630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BF108-6EC2-4592-9D33-716E6B1AC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267365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73876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2AB71-FC15-4C88-A99B-0D66CDCEEF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369B3E-A4BB-45D7-ABB7-1E151F04FE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FD4C72-B215-468A-8722-23007428B0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943301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42731-906B-40B4-86D3-CD7878598D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61042F1-26FD-477E-A079-62384AA43E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52E8FE-8F89-4D08-8341-786A0381BB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38541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B0375-D926-48D9-8605-813B1B64E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8D7657-21CC-45AA-A2CE-92653962FC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393649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4A09EBA-4206-40BF-81B1-742CF8BD5B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B8BE7B-6EB1-4B41-A25B-B41833E5B2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11384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F7878D79-3823-9575-1C88-56C4110E1E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5996" y="1271219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06C9D6B8-9A00-34FD-3E41-E67F07F278E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55996" y="629525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36477356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F7878D79-3823-9575-1C88-56C4110E1E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3803" y="469835"/>
            <a:ext cx="11672300" cy="650048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3200" b="1" kern="1200" dirty="0">
                <a:solidFill>
                  <a:srgbClr val="595959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244354257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Relationship Id="rId15" Type="http://schemas.openxmlformats.org/officeDocument/2006/relationships/image" Target="../media/image1.png"/><Relationship Id="rId16" Type="http://schemas.openxmlformats.org/officeDocument/2006/relationships/image" Target="../media/image2.png"/><Relationship Id="rId17" Type="http://schemas.microsoft.com/office/2007/relationships/hdphoto" Target="../media/hdphoto1.wdp"/><Relationship Id="rId18" Type="http://schemas.openxmlformats.org/officeDocument/2006/relationships/image" Target="../media/image3.png"/><Relationship Id="rId19" Type="http://schemas.microsoft.com/office/2007/relationships/hdphoto" Target="../media/hdphoto2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2D087FE-85BE-5152-9EB5-3B57AE38DD48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337544"/>
            <a:ext cx="12191994" cy="154830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8EFA70D2-ADBF-0DD4-D7D1-F37201867E99}"/>
              </a:ext>
            </a:extLst>
          </p:cNvPr>
          <p:cNvSpPr/>
          <p:nvPr userDrawn="1"/>
        </p:nvSpPr>
        <p:spPr>
          <a:xfrm>
            <a:off x="0" y="0"/>
            <a:ext cx="12192000" cy="365125"/>
          </a:xfrm>
          <a:prstGeom prst="rect">
            <a:avLst/>
          </a:prstGeom>
          <a:gradFill>
            <a:gsLst>
              <a:gs pos="5000">
                <a:srgbClr val="47BDAE"/>
              </a:gs>
              <a:gs pos="59000">
                <a:srgbClr val="25B9ED"/>
              </a:gs>
              <a:gs pos="100000">
                <a:srgbClr val="FFFFFF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sz="2000" b="1" i="1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BC08DB-FBED-4A43-AE4B-B2CE371FE6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271" y="1191757"/>
            <a:ext cx="11004446" cy="47950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028" name="Picture 4" descr="LTIMindtree logo in transparent PNG and vectorized SVG formats">
            <a:extLst>
              <a:ext uri="{FF2B5EF4-FFF2-40B4-BE49-F238E27FC236}">
                <a16:creationId xmlns:a16="http://schemas.microsoft.com/office/drawing/2014/main" id="{21F70453-17DB-04F6-290A-DCDEF9FDE02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saturation sat="400000"/>
                    </a14:imgEffect>
                    <a14:imgEffect>
                      <a14:brightnessContrast brigh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5387" y="6562429"/>
            <a:ext cx="1541059" cy="295571"/>
          </a:xfrm>
          <a:prstGeom prst="rect">
            <a:avLst/>
          </a:prstGeom>
          <a:noFill/>
        </p:spPr>
      </p:pic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DBDE3A73-7407-B3B5-0BC2-D13C973D143A}"/>
              </a:ext>
            </a:extLst>
          </p:cNvPr>
          <p:cNvSpPr txBox="1">
            <a:spLocks/>
          </p:cNvSpPr>
          <p:nvPr userDrawn="1"/>
        </p:nvSpPr>
        <p:spPr>
          <a:xfrm>
            <a:off x="221274" y="88514"/>
            <a:ext cx="8176583" cy="11032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70A0B4C8-C250-76C3-01DB-D728F6B32656}"/>
              </a:ext>
            </a:extLst>
          </p:cNvPr>
          <p:cNvSpPr txBox="1">
            <a:spLocks/>
          </p:cNvSpPr>
          <p:nvPr userDrawn="1"/>
        </p:nvSpPr>
        <p:spPr>
          <a:xfrm>
            <a:off x="391411" y="640135"/>
            <a:ext cx="11290305" cy="5237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>
              <a:latin typeface="Calibri (Body)"/>
            </a:endParaRP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349D7A90-F0A3-C216-D67E-9B86D1BECDF5}"/>
              </a:ext>
            </a:extLst>
          </p:cNvPr>
          <p:cNvSpPr txBox="1">
            <a:spLocks/>
          </p:cNvSpPr>
          <p:nvPr userDrawn="1"/>
        </p:nvSpPr>
        <p:spPr>
          <a:xfrm>
            <a:off x="158720" y="413891"/>
            <a:ext cx="10025576" cy="6859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83075D7-F006-A81F-68F1-A5F218FAF004}"/>
              </a:ext>
            </a:extLst>
          </p:cNvPr>
          <p:cNvPicPr>
            <a:picLocks noChangeAspect="1"/>
          </p:cNvPicPr>
          <p:nvPr userDrawn="1"/>
        </p:nvPicPr>
        <p:blipFill>
          <a:blip r:embed="rId18">
            <a:extLst>
              <a:ext uri="{BEBA8EAE-BF5A-486C-A8C5-ECC9F3942E4B}">
                <a14:imgProps xmlns:a14="http://schemas.microsoft.com/office/drawing/2010/main">
                  <a14:imgLayer r:embed="rId19">
                    <a14:imgEffect>
                      <a14:brightnessContrast bright="-20000"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5554" y="6358271"/>
            <a:ext cx="964436" cy="411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04827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8D30BC0-07A3-DCDA-0D0B-DD40C2178A62}"/>
              </a:ext>
            </a:extLst>
          </p:cNvPr>
          <p:cNvSpPr/>
          <p:nvPr/>
        </p:nvSpPr>
        <p:spPr>
          <a:xfrm>
            <a:off x="-31269" y="29737"/>
            <a:ext cx="12254538" cy="6868389"/>
          </a:xfrm>
          <a:prstGeom prst="rect">
            <a:avLst/>
          </a:prstGeom>
          <a:gradFill>
            <a:gsLst>
              <a:gs pos="0">
                <a:srgbClr val="47BDAF"/>
              </a:gs>
              <a:gs pos="100000">
                <a:srgbClr val="3793A6"/>
              </a:gs>
              <a:gs pos="39000">
                <a:srgbClr val="1C4D98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LT Pro 45 Light" panose="020B0403030504020204" pitchFamily="34" charset="0"/>
              <a:ea typeface="+mn-ea"/>
              <a:cs typeface="+mn-cs"/>
            </a:endParaRPr>
          </a:p>
        </p:txBody>
      </p:sp>
      <p:sp>
        <p:nvSpPr>
          <p:cNvPr id="14" name="Text Placeholder 1">
            <a:extLst>
              <a:ext uri="{FF2B5EF4-FFF2-40B4-BE49-F238E27FC236}">
                <a16:creationId xmlns:a16="http://schemas.microsoft.com/office/drawing/2014/main" id="{0741E81D-922F-23FE-07A9-320FA2B27E3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89635" y="17705"/>
            <a:ext cx="6910121" cy="1058125"/>
          </a:xfrm>
        </p:spPr>
        <p:txBody>
          <a:bodyPr/>
          <a:lstStyle/>
          <a:p>
            <a:pPr marL="0" indent="0" algn="ctr">
              <a:buNone/>
            </a:pPr>
            <a:r>
              <a:rPr lang="en-US" sz="4400" dirty="0">
                <a:solidFill>
                  <a:schemeClr val="bg1"/>
                </a:solidFill>
              </a:rPr>
              <a:t>M.Tech Program </a:t>
            </a:r>
          </a:p>
          <a:p>
            <a:pPr marL="0" indent="0" algn="ctr">
              <a:buNone/>
            </a:pPr>
            <a:r>
              <a:rPr lang="en-US" sz="2000" dirty="0">
                <a:solidFill>
                  <a:schemeClr val="bg1"/>
                </a:solidFill>
              </a:rPr>
              <a:t>Advanced Industry Integrated Programs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D19DFA2-C55E-F4D5-C53A-B5ECEB442DC1}"/>
              </a:ext>
            </a:extLst>
          </p:cNvPr>
          <p:cNvCxnSpPr/>
          <p:nvPr/>
        </p:nvCxnSpPr>
        <p:spPr>
          <a:xfrm>
            <a:off x="2977350" y="1120307"/>
            <a:ext cx="586622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1AA452C-B3E6-7A79-FD46-04E813851A85}"/>
              </a:ext>
            </a:extLst>
          </p:cNvPr>
          <p:cNvSpPr/>
          <p:nvPr/>
        </p:nvSpPr>
        <p:spPr>
          <a:xfrm>
            <a:off x="4125951" y="1177578"/>
            <a:ext cx="3033131" cy="286036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Frutiger 45 bold"/>
                <a:ea typeface="+mn-ea"/>
                <a:cs typeface="Calibri" panose="020F0502020204030204" pitchFamily="34" charset="0"/>
              </a:rPr>
              <a:t>Jointly offered by University and LTIMindTree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8A8852-79FE-2D69-0530-D7712358063B}"/>
              </a:ext>
            </a:extLst>
          </p:cNvPr>
          <p:cNvSpPr txBox="1"/>
          <p:nvPr/>
        </p:nvSpPr>
        <p:spPr>
          <a:xfrm>
            <a:off x="180236" y="1659822"/>
            <a:ext cx="11428184" cy="73866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3600" b="1" dirty="0">
                <a:solidFill>
                  <a:prstClr val="white"/>
                </a:solidFill>
                <a:cs typeface="Calibri" panose="020F0502020204030204" pitchFamily="34" charset="0"/>
              </a:rPr>
              <a:t>Review 2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3600" b="1" dirty="0">
                <a:solidFill>
                  <a:prstClr val="white"/>
                </a:solidFill>
                <a:cs typeface="Calibri" panose="020F0502020204030204" pitchFamily="34" charset="0"/>
              </a:rPr>
              <a:t>28-09-2026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t/>
            </a:r>
            <a:endParaRPr lang="en-GB" sz="3600" b="1" dirty="0">
              <a:solidFill>
                <a:prstClr val="white"/>
              </a:solidFill>
              <a:cs typeface="Calibri" panose="020F0502020204030204" pitchFamily="34" charset="0"/>
            </a:endParaRPr>
          </a:p>
          <a:p>
            <a:pPr lvl="0" algn="ctr">
              <a:defRPr/>
            </a:pPr>
            <a:r>
              <a:rPr lang="en-GB" sz="3600" b="1" dirty="0" err="1">
                <a:solidFill>
                  <a:prstClr val="white"/>
                </a:solidFill>
                <a:cs typeface="Calibri" panose="020F0502020204030204" pitchFamily="34" charset="0"/>
              </a:rPr>
              <a:t>MedTrace AI: Medical Device Complaint</a:t>
            </a:r>
            <a:r>
              <a:rPr lang="en-GB" sz="3600" b="1" dirty="0">
                <a:solidFill>
                  <a:prstClr val="white"/>
                </a:solidFill>
                <a:cs typeface="Calibri" panose="020F0502020204030204" pitchFamily="34" charset="0"/>
              </a:rPr>
              <a:t/>
            </a:r>
          </a:p>
          <a:p>
            <a:pPr lvl="0" algn="ctr">
              <a:defRPr/>
            </a:pPr>
            <a:r>
              <a:rPr lang="en-GB" sz="3600" b="1" dirty="0">
                <a:solidFill>
                  <a:prstClr val="white"/>
                </a:solidFill>
                <a:cs typeface="Calibri" panose="020F0502020204030204" pitchFamily="34" charset="0"/>
              </a:rPr>
              <a:t>Investigation and Regulatory Decision Support</a:t>
            </a:r>
            <a:r>
              <a:rPr lang="en-US" sz="3600" b="1" dirty="0">
                <a:solidFill>
                  <a:prstClr val="white"/>
                </a:solidFill>
                <a:cs typeface="Calibri" panose="020F0502020204030204" pitchFamily="34" charset="0"/>
              </a:rPr>
              <a:t/>
            </a:r>
          </a:p>
          <a:p>
            <a:pPr lvl="0" algn="ctr">
              <a:defRPr/>
            </a:pPr>
            <a:r>
              <a:t/>
            </a: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45 bold"/>
              <a:ea typeface="+mn-ea"/>
              <a:cs typeface="Calibri" panose="020F0502020204030204" pitchFamily="34" charset="0"/>
            </a:endParaRPr>
          </a:p>
          <a:p>
            <a:pPr lvl="0" algn="ctr">
              <a:defRPr/>
            </a:pPr>
            <a:r>
              <a:rPr 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Khavin C</a:t>
            </a:r>
          </a:p>
          <a:p>
            <a:pPr lvl="0" algn="ctr">
              <a:defRPr/>
            </a:pPr>
            <a:r>
              <a:rPr 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251011010</a:t>
            </a:r>
          </a:p>
          <a:p>
            <a:pPr lvl="0" algn="ctr">
              <a:defRPr/>
            </a:pPr>
            <a:r>
              <a:rPr 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REC (2025–2027)</a:t>
            </a:r>
          </a:p>
          <a:p>
            <a:pPr lvl="0" algn="ctr">
              <a:defRPr/>
            </a:pPr>
            <a:r>
              <a:t/>
            </a:r>
            <a:endParaRPr lang="en-US" sz="2400" b="1" dirty="0">
              <a:solidFill>
                <a:prstClr val="white"/>
              </a:solidFill>
              <a:cs typeface="Calibri" panose="020F0502020204030204" pitchFamily="34" charset="0"/>
            </a:endParaRPr>
          </a:p>
          <a:p>
            <a:pPr lvl="0" algn="ctr">
              <a:defRPr/>
            </a:pPr>
            <a:r>
              <a:t/>
            </a:r>
            <a:endParaRPr lang="en-US" sz="5400" b="1" dirty="0">
              <a:solidFill>
                <a:prstClr val="white"/>
              </a:solidFill>
              <a:latin typeface="Frutiger 45 bold"/>
              <a:cs typeface="Calibri" panose="020F0502020204030204" pitchFamily="34" charset="0"/>
            </a:endParaRPr>
          </a:p>
          <a:p>
            <a:pPr lvl="0" algn="ctr">
              <a:defRPr/>
            </a:pPr>
            <a:r>
              <a:t/>
            </a: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45 bold"/>
              <a:ea typeface="+mn-ea"/>
              <a:cs typeface="Calibri" panose="020F0502020204030204" pitchFamily="34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E7F5D19-19F4-F87F-17C2-8520612BCFEC}"/>
              </a:ext>
            </a:extLst>
          </p:cNvPr>
          <p:cNvGraphicFramePr>
            <a:graphicFrameLocks noGrp="1"/>
          </p:cNvGraphicFramePr>
          <p:nvPr/>
        </p:nvGraphicFramePr>
        <p:xfrm>
          <a:off x="-47290" y="5501244"/>
          <a:ext cx="12239216" cy="326483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119608">
                  <a:extLst>
                    <a:ext uri="{9D8B030D-6E8A-4147-A177-3AD203B41FA5}">
                      <a16:colId xmlns:a16="http://schemas.microsoft.com/office/drawing/2014/main" val="586572480"/>
                    </a:ext>
                  </a:extLst>
                </a:gridCol>
                <a:gridCol w="6119608">
                  <a:extLst>
                    <a:ext uri="{9D8B030D-6E8A-4147-A177-3AD203B41FA5}">
                      <a16:colId xmlns:a16="http://schemas.microsoft.com/office/drawing/2014/main" val="157907922"/>
                    </a:ext>
                  </a:extLst>
                </a:gridCol>
              </a:tblGrid>
              <a:tr h="152747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Knowledge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Implementation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pPr algn="r"/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33668230"/>
                  </a:ext>
                </a:extLst>
              </a:tr>
              <a:tr h="1184198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66263768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2715C658-0B94-5B63-55F1-B9B6F645F0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5332" y="5852667"/>
            <a:ext cx="1987468" cy="84741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588B9BE-EE05-FF03-5680-B8B3F5D90A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194" y="5871177"/>
            <a:ext cx="2931892" cy="861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48006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18EFD-13D1-118F-A8E4-F9E2D3695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7726612-73E0-5A94-F635-3A742DD5BA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1936004" cy="4142989"/>
          </a:xfrm>
        </p:spPr>
        <p:txBody>
          <a:bodyPr/>
          <a:lstStyle/>
          <a:p>
            <a:pPr algn="just">
              <a:lnSpc>
                <a:spcPct val="150000"/>
              </a:lnSpc>
            </a:pPr>
            <a:r>
              <a:rPr lang="en-GB" b="0" dirty="0">
                <a:solidFill>
                  <a:srgbClr val="5583D1"/>
                </a:solidFill>
                <a:latin typeface="+mn-lt"/>
              </a:rPr>
              <a:t>Medical-device complaints require traceable investigation</a:t>
            </a:r>
          </a:p>
          <a:p>
            <a:pPr algn="just">
              <a:lnSpc>
                <a:spcPct val="150000"/>
              </a:lnSpc>
            </a:pPr>
            <a:r>
              <a:rPr lang="en-GB" b="0" dirty="0">
                <a:solidFill>
                  <a:srgbClr val="5583D1"/>
                </a:solidFill>
                <a:latin typeface="+mn-lt"/>
              </a:rPr>
              <a:t>Narratives often lack clear device and event details</a:t>
            </a:r>
          </a:p>
          <a:p>
            <a:pPr algn="just">
              <a:lnSpc>
                <a:spcPct val="150000"/>
              </a:lnSpc>
            </a:pPr>
            <a:r>
              <a:rPr lang="en-GB" b="0" dirty="0">
                <a:solidFill>
                  <a:srgbClr val="5583D1"/>
                </a:solidFill>
                <a:latin typeface="+mn-lt"/>
              </a:rPr>
              <a:t>Investigators review past reports, recalls and regulations</a:t>
            </a:r>
          </a:p>
          <a:p>
            <a:pPr algn="just">
              <a:lnSpc>
                <a:spcPct val="150000"/>
              </a:lnSpc>
            </a:pPr>
            <a:r>
              <a:rPr lang="en-GB" b="0" dirty="0">
                <a:solidFill>
                  <a:srgbClr val="5583D1"/>
                </a:solidFill>
                <a:latin typeface="+mn-lt"/>
              </a:rPr>
              <a:t>MedTrace AI brings this evidence into one workflow</a:t>
            </a:r>
          </a:p>
          <a:p>
            <a:pPr algn="just">
              <a:lnSpc>
                <a:spcPct val="150000"/>
              </a:lnSpc>
            </a:pPr>
            <a:r>
              <a:rPr lang="en-GB" b="0" dirty="0" err="1">
                <a:solidFill>
                  <a:srgbClr val="5583D1"/>
                </a:solidFill>
                <a:latin typeface="+mn-lt"/>
              </a:rPr>
              <a:t>Initial focus: infusion pumps; final decisions stay human</a:t>
            </a:r>
            <a:r>
              <a:rPr lang="en-GB" b="0" dirty="0">
                <a:solidFill>
                  <a:srgbClr val="5583D1"/>
                </a:solidFill>
                <a:latin typeface="+mn-lt"/>
              </a:rPr>
              <a:t/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4E3812-AF2F-9DD8-6ECF-C3425146B38F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Introduction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295426A-3395-FE92-30C7-C8A6AC62DE62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D91B1D4-191E-E882-BD37-9FBAED57B57F}"/>
              </a:ext>
            </a:extLst>
          </p:cNvPr>
          <p:cNvSpPr txBox="1"/>
          <p:nvPr/>
        </p:nvSpPr>
        <p:spPr>
          <a:xfrm>
            <a:off x="6093893" y="57036"/>
            <a:ext cx="6098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b="1" dirty="0" err="1">
                <a:solidFill>
                  <a:prstClr val="white"/>
                </a:solidFill>
                <a:cs typeface="Calibri" panose="020F0502020204030204" pitchFamily="34" charset="0"/>
              </a:rPr>
              <a:t>MedTrace AI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BB15836-58B5-18F2-0B19-3A28614B6C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996926"/>
            <a:ext cx="1088571" cy="861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8180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D1235D-73A1-0B84-0745-6B97432CB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4D551BF-43EB-C049-6D3B-4D17D57752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  <a:ln>
            <a:solidFill>
              <a:schemeClr val="bg1"/>
            </a:solidFill>
          </a:ln>
        </p:spPr>
        <p:txBody>
          <a:bodyPr/>
          <a:lstStyle/>
          <a:p>
            <a:pPr algn="just">
              <a:lnSpc>
                <a:spcPct val="150000"/>
              </a:lnSpc>
            </a:pPr>
            <a:r>
              <a:rPr lang="en-GB" b="0" dirty="0">
                <a:solidFill>
                  <a:srgbClr val="5583D1"/>
                </a:solidFill>
                <a:latin typeface="+mn-lt"/>
              </a:rPr>
              <a:t>Extract device details, failure indicators and reported harm</a:t>
            </a:r>
          </a:p>
          <a:p>
            <a:pPr algn="just">
              <a:lnSpc>
                <a:spcPct val="150000"/>
              </a:lnSpc>
            </a:pPr>
            <a:r>
              <a:rPr lang="en-GB" b="0" dirty="0">
                <a:solidFill>
                  <a:srgbClr val="5583D1"/>
                </a:solidFill>
                <a:latin typeface="+mn-lt"/>
              </a:rPr>
              <a:t>Retrieve similar complaints from real FDA MAUDE data</a:t>
            </a:r>
          </a:p>
          <a:p>
            <a:pPr algn="just">
              <a:lnSpc>
                <a:spcPct val="150000"/>
              </a:lnSpc>
            </a:pPr>
            <a:r>
              <a:rPr lang="en-GB" b="0" dirty="0">
                <a:solidFill>
                  <a:srgbClr val="5583D1"/>
                </a:solidFill>
                <a:latin typeface="+mn-lt"/>
              </a:rPr>
              <a:t>Analyse recurring patterns and possible recall links</a:t>
            </a:r>
          </a:p>
          <a:p>
            <a:pPr algn="just">
              <a:lnSpc>
                <a:spcPct val="150000"/>
              </a:lnSpc>
            </a:pPr>
            <a:r>
              <a:rPr lang="en-GB" b="0" dirty="0">
                <a:solidFill>
                  <a:srgbClr val="5583D1"/>
                </a:solidFill>
                <a:latin typeface="+mn-lt"/>
              </a:rPr>
              <a:t>Explain investigation priority using visible factors</a:t>
            </a:r>
          </a:p>
          <a:p>
            <a:pPr algn="just">
              <a:lnSpc>
                <a:spcPct val="150000"/>
              </a:lnSpc>
            </a:pPr>
            <a:r>
              <a:rPr lang="en-GB" b="0" dirty="0">
                <a:solidFill>
                  <a:srgbClr val="5583D1"/>
                </a:solidFill>
                <a:latin typeface="+mn-lt"/>
              </a:rPr>
              <a:t>Retrieve regulatory passages with sources and dates</a:t>
            </a:r>
          </a:p>
          <a:p>
            <a:pPr algn="just">
              <a:lnSpc>
                <a:spcPct val="150000"/>
              </a:lnSpc>
            </a:pPr>
            <a:r>
              <a:rPr lang="en-GB" b="0" dirty="0">
                <a:solidFill>
                  <a:srgbClr val="5583D1"/>
                </a:solidFill>
                <a:latin typeface="+mn-lt"/>
              </a:rPr>
              <a:t>Generate an evidence-backed draft for human review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FF40D3-B05A-88C3-591F-882A93FC9918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Objective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2740D4D-2363-70E1-0E6E-1BDDA8C33C87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4452DD5-D934-4955-F39B-2109AC72692F}"/>
              </a:ext>
            </a:extLst>
          </p:cNvPr>
          <p:cNvSpPr txBox="1"/>
          <p:nvPr/>
        </p:nvSpPr>
        <p:spPr>
          <a:xfrm>
            <a:off x="6093893" y="57036"/>
            <a:ext cx="6098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b="1" dirty="0" err="1">
                <a:solidFill>
                  <a:prstClr val="white"/>
                </a:solidFill>
                <a:cs typeface="Calibri" panose="020F0502020204030204" pitchFamily="34" charset="0"/>
              </a:rPr>
              <a:t>MedTrace AI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E74C3B4-AB32-D061-5E17-7053C09AFE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996926"/>
            <a:ext cx="1088571" cy="861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94505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F24291B-7EDA-4E3D-40F5-03FDC22C33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8321040" cy="3518493"/>
          </a:xfrm>
          <a:ln>
            <a:solidFill>
              <a:schemeClr val="bg1"/>
            </a:solidFill>
          </a:ln>
        </p:spPr>
        <p:txBody>
          <a:bodyPr/>
          <a:lstStyle/>
          <a:p>
            <a:pPr marL="457200" lvl="1" indent="0" algn="just">
              <a:lnSpc>
                <a:spcPct val="150000"/>
              </a:lnSpc>
              <a:buNone/>
            </a:pPr>
            <a:r>
              <a:rPr lang="en-US" sz="2800" b="1" dirty="0">
                <a:solidFill>
                  <a:srgbClr val="1C3898"/>
                </a:solidFill>
              </a:rPr>
              <a:t>Evidence-Based Complaint Investigation:</a:t>
            </a:r>
          </a:p>
          <a:p>
            <a:pPr lvl="1" algn="just">
              <a:lnSpc>
                <a:spcPct val="150000"/>
              </a:lnSpc>
            </a:pPr>
            <a:r>
              <a:rPr lang="en-GB" dirty="0">
                <a:solidFill>
                  <a:srgbClr val="1C3898"/>
                </a:solidFill>
              </a:rPr>
              <a:t>Accept a new infusion-pump complaint</a:t>
            </a:r>
          </a:p>
          <a:p>
            <a:pPr lvl="1" algn="just">
              <a:lnSpc>
                <a:spcPct val="150000"/>
              </a:lnSpc>
            </a:pPr>
            <a:r>
              <a:rPr lang="en-GB" dirty="0">
                <a:solidFill>
                  <a:srgbClr val="1C3898"/>
                </a:solidFill>
              </a:rPr>
              <a:t>Extract facts and highlight missing information</a:t>
            </a:r>
          </a:p>
          <a:p>
            <a:pPr lvl="1" algn="just">
              <a:lnSpc>
                <a:spcPct val="150000"/>
              </a:lnSpc>
            </a:pPr>
            <a:r>
              <a:rPr lang="en-GB" dirty="0">
                <a:solidFill>
                  <a:srgbClr val="1C3898"/>
                </a:solidFill>
              </a:rPr>
              <a:t>Retrieve related FDA report narratives</a:t>
            </a:r>
          </a:p>
          <a:p>
            <a:pPr lvl="1" algn="just">
              <a:lnSpc>
                <a:spcPct val="150000"/>
              </a:lnSpc>
            </a:pPr>
            <a:r>
              <a:rPr lang="en-GB" dirty="0">
                <a:solidFill>
                  <a:srgbClr val="1C3898"/>
                </a:solidFill>
              </a:rPr>
              <a:t>Check patterns and candidate recall matches</a:t>
            </a:r>
          </a:p>
          <a:p>
            <a:pPr lvl="1" algn="just">
              <a:lnSpc>
                <a:spcPct val="150000"/>
              </a:lnSpc>
            </a:pPr>
            <a:r>
              <a:rPr lang="en-GB" dirty="0">
                <a:solidFill>
                  <a:srgbClr val="1C3898"/>
                </a:solidFill>
              </a:rPr>
              <a:t>Explain priority and cite regulatory passages</a:t>
            </a:r>
          </a:p>
          <a:p>
            <a:pPr lvl="1" algn="just">
              <a:lnSpc>
                <a:spcPct val="150000"/>
              </a:lnSpc>
            </a:pPr>
            <a:r>
              <a:rPr lang="en-GB" dirty="0">
                <a:solidFill>
                  <a:srgbClr val="1C3898"/>
                </a:solidFill>
              </a:rPr>
              <a:t>Save the investigation for qualified review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EA9B7F-B60D-6297-DC95-0FDA7E6D7C7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  <a:latin typeface="Calibri" panose="020F0502020204030204"/>
              </a:rPr>
              <a:t>Core Module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6F77F89-4F98-73F2-FD5A-5DD416A6F12F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5221164-7940-3B34-A613-28A74A63E0F7}"/>
              </a:ext>
            </a:extLst>
          </p:cNvPr>
          <p:cNvSpPr txBox="1"/>
          <p:nvPr/>
        </p:nvSpPr>
        <p:spPr>
          <a:xfrm>
            <a:off x="6093893" y="57036"/>
            <a:ext cx="6098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b="1" dirty="0" err="1">
                <a:solidFill>
                  <a:prstClr val="white"/>
                </a:solidFill>
                <a:cs typeface="Calibri" panose="020F0502020204030204" pitchFamily="34" charset="0"/>
              </a:rPr>
              <a:t>MedTrace AI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BCC2CA8-71A8-876F-901A-F96F2C4EF1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996926"/>
            <a:ext cx="1088571" cy="861074"/>
          </a:xfrm>
          <a:prstGeom prst="rect">
            <a:avLst/>
          </a:prstGeom>
        </p:spPr>
      </p:pic>
      <p:sp>
        <p:nvSpPr>
          <p:cNvPr id="5" name="Rectangle: Diagonal Corners Rounded 4">
            <a:extLst>
              <a:ext uri="{FF2B5EF4-FFF2-40B4-BE49-F238E27FC236}">
                <a16:creationId xmlns:a16="http://schemas.microsoft.com/office/drawing/2014/main" id="{0B48D5B7-C527-CC9F-0286-9376F2B55D23}"/>
              </a:ext>
            </a:extLst>
          </p:cNvPr>
          <p:cNvSpPr/>
          <p:nvPr/>
        </p:nvSpPr>
        <p:spPr>
          <a:xfrm>
            <a:off x="8708571" y="1191756"/>
            <a:ext cx="2634323" cy="560844"/>
          </a:xfrm>
          <a:prstGeom prst="round2Diag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spc="50" dirty="0">
                <a:ln w="0"/>
                <a:solidFill>
                  <a:schemeClr val="bg1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New Complaint</a:t>
            </a:r>
            <a:r>
              <a:rPr lang="en-IN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/>
            </a:r>
            <a:r>
              <a:rPr lang="en-IN" b="1" spc="50" dirty="0">
                <a:ln w="0"/>
                <a:solidFill>
                  <a:schemeClr val="bg1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/>
            </a:r>
          </a:p>
        </p:txBody>
      </p:sp>
      <p:sp>
        <p:nvSpPr>
          <p:cNvPr id="9" name="Rectangle: Diagonal Corners Rounded 8">
            <a:extLst>
              <a:ext uri="{FF2B5EF4-FFF2-40B4-BE49-F238E27FC236}">
                <a16:creationId xmlns:a16="http://schemas.microsoft.com/office/drawing/2014/main" id="{028E31A4-E7A1-67C9-8B1F-09481CB5FFBC}"/>
              </a:ext>
            </a:extLst>
          </p:cNvPr>
          <p:cNvSpPr/>
          <p:nvPr/>
        </p:nvSpPr>
        <p:spPr>
          <a:xfrm>
            <a:off x="8708571" y="2294782"/>
            <a:ext cx="2634327" cy="560844"/>
          </a:xfrm>
          <a:prstGeom prst="round2Diag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spc="50" dirty="0">
                <a:ln w="0"/>
                <a:solidFill>
                  <a:schemeClr val="bg1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Reported Facts</a:t>
            </a:r>
          </a:p>
        </p:txBody>
      </p:sp>
      <p:sp>
        <p:nvSpPr>
          <p:cNvPr id="11" name="Rectangle: Diagonal Corners Rounded 10">
            <a:extLst>
              <a:ext uri="{FF2B5EF4-FFF2-40B4-BE49-F238E27FC236}">
                <a16:creationId xmlns:a16="http://schemas.microsoft.com/office/drawing/2014/main" id="{DC845692-7033-1C75-13CC-06D7622CD89E}"/>
              </a:ext>
            </a:extLst>
          </p:cNvPr>
          <p:cNvSpPr/>
          <p:nvPr/>
        </p:nvSpPr>
        <p:spPr>
          <a:xfrm>
            <a:off x="8708571" y="3245406"/>
            <a:ext cx="2634335" cy="560844"/>
          </a:xfrm>
          <a:prstGeom prst="round2Diag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spc="50" dirty="0">
                <a:ln w="0"/>
                <a:solidFill>
                  <a:schemeClr val="bg1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Historical Evidence</a:t>
            </a:r>
          </a:p>
        </p:txBody>
      </p:sp>
      <p:sp>
        <p:nvSpPr>
          <p:cNvPr id="13" name="Rectangle: Diagonal Corners Rounded 12">
            <a:extLst>
              <a:ext uri="{FF2B5EF4-FFF2-40B4-BE49-F238E27FC236}">
                <a16:creationId xmlns:a16="http://schemas.microsoft.com/office/drawing/2014/main" id="{44F1EF95-1FC2-A7C4-B078-D31F4EC1F46E}"/>
              </a:ext>
            </a:extLst>
          </p:cNvPr>
          <p:cNvSpPr/>
          <p:nvPr/>
        </p:nvSpPr>
        <p:spPr>
          <a:xfrm>
            <a:off x="8708571" y="4272231"/>
            <a:ext cx="2634339" cy="560844"/>
          </a:xfrm>
          <a:prstGeom prst="round2Diag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spc="50" dirty="0">
                <a:ln w="0"/>
                <a:solidFill>
                  <a:schemeClr val="bg1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Priority + Regulation</a:t>
            </a:r>
          </a:p>
        </p:txBody>
      </p:sp>
      <p:sp>
        <p:nvSpPr>
          <p:cNvPr id="15" name="Rectangle: Diagonal Corners Rounded 14">
            <a:extLst>
              <a:ext uri="{FF2B5EF4-FFF2-40B4-BE49-F238E27FC236}">
                <a16:creationId xmlns:a16="http://schemas.microsoft.com/office/drawing/2014/main" id="{92D032EF-D71B-AA71-FBFA-84F630FEA62C}"/>
              </a:ext>
            </a:extLst>
          </p:cNvPr>
          <p:cNvSpPr/>
          <p:nvPr/>
        </p:nvSpPr>
        <p:spPr>
          <a:xfrm>
            <a:off x="8708572" y="5299056"/>
            <a:ext cx="2634342" cy="560844"/>
          </a:xfrm>
          <a:prstGeom prst="round2Diag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spc="50" dirty="0">
                <a:ln w="0"/>
                <a:solidFill>
                  <a:schemeClr val="bg1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Investigator Review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6BFD7411-4CE8-FFA5-EAF2-FDBDE5FC15C9}"/>
              </a:ext>
            </a:extLst>
          </p:cNvPr>
          <p:cNvCxnSpPr/>
          <p:nvPr/>
        </p:nvCxnSpPr>
        <p:spPr>
          <a:xfrm>
            <a:off x="9976758" y="1902897"/>
            <a:ext cx="0" cy="2939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8D13A268-9FD5-403C-D76B-F01036BC6438}"/>
              </a:ext>
            </a:extLst>
          </p:cNvPr>
          <p:cNvCxnSpPr/>
          <p:nvPr/>
        </p:nvCxnSpPr>
        <p:spPr>
          <a:xfrm>
            <a:off x="9987646" y="4918056"/>
            <a:ext cx="0" cy="2939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3B3B1F59-593D-1075-AE15-1314AA9DB712}"/>
              </a:ext>
            </a:extLst>
          </p:cNvPr>
          <p:cNvCxnSpPr/>
          <p:nvPr/>
        </p:nvCxnSpPr>
        <p:spPr>
          <a:xfrm>
            <a:off x="9976758" y="3902117"/>
            <a:ext cx="0" cy="2939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565AC0DF-15D2-FE9F-94D4-7C3C26336755}"/>
              </a:ext>
            </a:extLst>
          </p:cNvPr>
          <p:cNvCxnSpPr/>
          <p:nvPr/>
        </p:nvCxnSpPr>
        <p:spPr>
          <a:xfrm>
            <a:off x="9987646" y="2951492"/>
            <a:ext cx="0" cy="2939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775862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E2D7CD-C158-6FC1-06C7-09444D2DE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325C8EF-A5DD-AB22-0372-51B9ABE6352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endParaRPr lang="en-GB" sz="2400" b="0" dirty="0">
              <a:solidFill>
                <a:srgbClr val="5583D1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endParaRPr lang="en-GB" sz="2400" b="0" dirty="0">
              <a:solidFill>
                <a:srgbClr val="5583D1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endParaRPr lang="en-GB" sz="2400" b="0" dirty="0">
              <a:solidFill>
                <a:srgbClr val="5583D1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endParaRPr lang="en-GB" sz="2400" b="0" dirty="0">
              <a:solidFill>
                <a:srgbClr val="5583D1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endParaRPr lang="en-GB" sz="2400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B15F4B8-EED0-F7BE-96C7-D7AAE989A251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Methodology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A882B44-FCE4-BF93-E951-46CF2238FB74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CE164B1-01DD-BF3B-88E8-DF2DEDBFA9EB}"/>
              </a:ext>
            </a:extLst>
          </p:cNvPr>
          <p:cNvSpPr txBox="1"/>
          <p:nvPr/>
        </p:nvSpPr>
        <p:spPr>
          <a:xfrm>
            <a:off x="6093893" y="57036"/>
            <a:ext cx="6098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b="1" dirty="0" err="1">
                <a:solidFill>
                  <a:prstClr val="white"/>
                </a:solidFill>
                <a:cs typeface="Calibri" panose="020F0502020204030204" pitchFamily="34" charset="0"/>
              </a:rPr>
              <a:t>MedTrace AI</a:t>
            </a:r>
            <a:endParaRPr lang="en-US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FFA23D4C-2010-EBB5-0A49-EE02D1683035}"/>
              </a:ext>
            </a:extLst>
          </p:cNvPr>
          <p:cNvSpPr/>
          <p:nvPr/>
        </p:nvSpPr>
        <p:spPr>
          <a:xfrm>
            <a:off x="9616062" y="3772634"/>
            <a:ext cx="2008475" cy="718454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Explainable Priority</a:t>
            </a:r>
            <a:endParaRPr lang="en-GB" b="1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04C4EB68-3383-A444-BF24-EE8F976C47CE}"/>
              </a:ext>
            </a:extLst>
          </p:cNvPr>
          <p:cNvSpPr/>
          <p:nvPr/>
        </p:nvSpPr>
        <p:spPr>
          <a:xfrm>
            <a:off x="6475473" y="1456504"/>
            <a:ext cx="2008477" cy="718454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Retrieve Similar Cases</a:t>
            </a:r>
            <a:endParaRPr lang="en-GB" b="1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F1DFF38A-329C-1B92-6B9E-46228CE93E1D}"/>
              </a:ext>
            </a:extLst>
          </p:cNvPr>
          <p:cNvSpPr/>
          <p:nvPr/>
        </p:nvSpPr>
        <p:spPr>
          <a:xfrm>
            <a:off x="3315924" y="1439782"/>
            <a:ext cx="2008473" cy="718454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Clean Text + Extract Facts</a:t>
            </a:r>
            <a:endParaRPr lang="en-GB" b="1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27EC5B1D-9C02-4BD4-1825-18C835C96680}"/>
              </a:ext>
            </a:extLst>
          </p:cNvPr>
          <p:cNvSpPr/>
          <p:nvPr/>
        </p:nvSpPr>
        <p:spPr>
          <a:xfrm>
            <a:off x="255995" y="1443792"/>
            <a:ext cx="2008477" cy="718454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Complaint Input</a:t>
            </a:r>
            <a:r>
              <a:rPr lang="en-IN" dirty="0">
                <a:solidFill>
                  <a:schemeClr val="bg1"/>
                </a:solidFill>
              </a:rPr>
              <a:t/>
            </a:r>
            <a:endParaRPr lang="en-GB" b="1" spc="50" dirty="0">
              <a:ln w="0"/>
              <a:solidFill>
                <a:schemeClr val="bg1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1C159FCD-4D31-0554-6FCD-A223BF96818A}"/>
              </a:ext>
            </a:extLst>
          </p:cNvPr>
          <p:cNvSpPr/>
          <p:nvPr/>
        </p:nvSpPr>
        <p:spPr>
          <a:xfrm>
            <a:off x="3315924" y="3735265"/>
            <a:ext cx="2008476" cy="718454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Evidence-Based Draft</a:t>
            </a:r>
            <a:endParaRPr lang="en-US" b="1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8C519EC5-97E8-BA8F-355E-5D1A41366FE5}"/>
              </a:ext>
            </a:extLst>
          </p:cNvPr>
          <p:cNvSpPr/>
          <p:nvPr/>
        </p:nvSpPr>
        <p:spPr>
          <a:xfrm>
            <a:off x="6475475" y="3772634"/>
            <a:ext cx="2008475" cy="718454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Regulatory Retrieval</a:t>
            </a:r>
            <a:endParaRPr lang="en-GB" b="1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586AE15A-427A-C8B0-8CD3-FB94D1DDEE70}"/>
              </a:ext>
            </a:extLst>
          </p:cNvPr>
          <p:cNvCxnSpPr/>
          <p:nvPr/>
        </p:nvCxnSpPr>
        <p:spPr>
          <a:xfrm>
            <a:off x="2183810" y="1799009"/>
            <a:ext cx="113211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B0F0A2A4-4D81-0A47-A656-F7A9294AD5B7}"/>
              </a:ext>
            </a:extLst>
          </p:cNvPr>
          <p:cNvCxnSpPr/>
          <p:nvPr/>
        </p:nvCxnSpPr>
        <p:spPr>
          <a:xfrm>
            <a:off x="5324397" y="1799009"/>
            <a:ext cx="113211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3AFAE600-15F9-5631-FF0E-89C1E32D7EE8}"/>
              </a:ext>
            </a:extLst>
          </p:cNvPr>
          <p:cNvCxnSpPr>
            <a:cxnSpLocks/>
          </p:cNvCxnSpPr>
          <p:nvPr/>
        </p:nvCxnSpPr>
        <p:spPr>
          <a:xfrm>
            <a:off x="10633938" y="2277663"/>
            <a:ext cx="0" cy="138827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96E46FEC-0583-2AEB-5342-D31231540BEF}"/>
              </a:ext>
            </a:extLst>
          </p:cNvPr>
          <p:cNvCxnSpPr>
            <a:cxnSpLocks/>
            <a:endCxn id="18" idx="3"/>
          </p:cNvCxnSpPr>
          <p:nvPr/>
        </p:nvCxnSpPr>
        <p:spPr>
          <a:xfrm flipH="1">
            <a:off x="8483950" y="4131861"/>
            <a:ext cx="111035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D29957B2-608C-7E3F-6ABC-C60FF2BDBF0E}"/>
              </a:ext>
            </a:extLst>
          </p:cNvPr>
          <p:cNvCxnSpPr>
            <a:cxnSpLocks/>
            <a:endCxn id="16" idx="3"/>
          </p:cNvCxnSpPr>
          <p:nvPr/>
        </p:nvCxnSpPr>
        <p:spPr>
          <a:xfrm flipH="1" flipV="1">
            <a:off x="5324400" y="4094492"/>
            <a:ext cx="1074506" cy="186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Picture 31">
            <a:extLst>
              <a:ext uri="{FF2B5EF4-FFF2-40B4-BE49-F238E27FC236}">
                <a16:creationId xmlns:a16="http://schemas.microsoft.com/office/drawing/2014/main" id="{A9B6F60F-2D7F-2DB2-1541-C204BE311A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996926"/>
            <a:ext cx="1088571" cy="861074"/>
          </a:xfrm>
          <a:prstGeom prst="rect">
            <a:avLst/>
          </a:prstGeom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73D35D06-368D-794A-130B-222A68DDBA82}"/>
              </a:ext>
            </a:extLst>
          </p:cNvPr>
          <p:cNvCxnSpPr/>
          <p:nvPr/>
        </p:nvCxnSpPr>
        <p:spPr>
          <a:xfrm>
            <a:off x="8483950" y="1815731"/>
            <a:ext cx="113211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CDF0C51D-5ADC-4421-06A8-3AF14AC6074B}"/>
              </a:ext>
            </a:extLst>
          </p:cNvPr>
          <p:cNvSpPr/>
          <p:nvPr/>
        </p:nvSpPr>
        <p:spPr>
          <a:xfrm>
            <a:off x="9616064" y="1460559"/>
            <a:ext cx="2008473" cy="718454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Trends + Recall Check</a:t>
            </a:r>
            <a:endParaRPr lang="en-GB" b="1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865D90E5-5662-5688-2F6C-333593242294}"/>
              </a:ext>
            </a:extLst>
          </p:cNvPr>
          <p:cNvSpPr/>
          <p:nvPr/>
        </p:nvSpPr>
        <p:spPr>
          <a:xfrm>
            <a:off x="255996" y="3735265"/>
            <a:ext cx="2008476" cy="718454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Human Review</a:t>
            </a:r>
            <a:r>
              <a:rPr lang="en-IN" dirty="0" err="1"/>
              <a:t/>
            </a:r>
            <a:r>
              <a:rPr lang="en-IN" dirty="0"/>
              <a:t/>
            </a:r>
            <a:endParaRPr lang="en-US" b="1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D2C3AA53-0202-6F17-480D-BC0B9963189C}"/>
              </a:ext>
            </a:extLst>
          </p:cNvPr>
          <p:cNvCxnSpPr>
            <a:cxnSpLocks/>
          </p:cNvCxnSpPr>
          <p:nvPr/>
        </p:nvCxnSpPr>
        <p:spPr>
          <a:xfrm flipH="1" flipV="1">
            <a:off x="2230539" y="4131861"/>
            <a:ext cx="1074506" cy="186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EE1AFD21-703C-9D3C-3246-3B173D014D05}"/>
              </a:ext>
            </a:extLst>
          </p:cNvPr>
          <p:cNvSpPr txBox="1"/>
          <p:nvPr/>
        </p:nvSpPr>
        <p:spPr>
          <a:xfrm>
            <a:off x="2103120" y="4808991"/>
            <a:ext cx="8869680" cy="156966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n-IN" sz="2400" b="1" dirty="0"/>
              <a:t>Evaluation plan</a:t>
            </a:r>
            <a:endParaRPr lang="en-IN" sz="2400" dirty="0"/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400" dirty="0"/>
              <a:t>Baseline vs. transformer classification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400" dirty="0"/>
              <a:t>Human judgments for retrieval and citation support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400" dirty="0"/>
              <a:t>Macro F1, precision@5 and investigation time</a:t>
            </a:r>
          </a:p>
        </p:txBody>
      </p:sp>
    </p:spTree>
    <p:extLst>
      <p:ext uri="{BB962C8B-B14F-4D97-AF65-F5344CB8AC3E}">
        <p14:creationId xmlns:p14="http://schemas.microsoft.com/office/powerpoint/2010/main" val="20346819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9CEA2B-384E-F256-4734-5578EDB52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0F88864-2E71-2992-AD53-E8948837272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1612880" cy="2926080"/>
          </a:xfrm>
        </p:spPr>
        <p:txBody>
          <a:bodyPr/>
          <a:lstStyle/>
          <a:p>
            <a:pPr algn="just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 b="0" dirty="0" sz="2500">
                <a:solidFill>
                  <a:srgbClr val="5583D1"/>
                </a:solidFill>
                <a:latin typeface="+mn-lt"/>
              </a:rPr>
              <a:t>FDA MAUDE: 280 real reports in the working sample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 b="0" dirty="0" sz="2500">
                <a:solidFill>
                  <a:srgbClr val="5583D1"/>
                </a:solidFill>
                <a:latin typeface="+mn-lt"/>
              </a:rPr>
              <a:t>Research target: 20,000–100,000 records, 2021–2025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 b="0" dirty="0" sz="2500">
                <a:solidFill>
                  <a:srgbClr val="5583D1"/>
                </a:solidFill>
                <a:latin typeface="+mn-lt"/>
              </a:rPr>
              <a:t>Filter infusion-pump product code and receipt date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 b="0" dirty="0" sz="2500">
                <a:solidFill>
                  <a:srgbClr val="5583D1"/>
                </a:solidFill>
                <a:latin typeface="+mn-lt"/>
              </a:rPr>
              <a:t>Join raw FDA files using MDR_REPORT_KEY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 b="0" dirty="0" sz="2500">
                <a:solidFill>
                  <a:srgbClr val="5583D1"/>
                </a:solidFill>
                <a:latin typeface="+mn-lt"/>
              </a:rPr>
              <a:t>Clean text; retain missing values and source links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 b="0" dirty="0" sz="2500">
                <a:solidFill>
                  <a:srgbClr val="5583D1"/>
                </a:solidFill>
                <a:latin typeface="+mn-lt"/>
              </a:rPr>
              <a:t>Deduplicate records before retrieval and evaluation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11E118-0427-BF72-3B78-1707B0D6E382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Data preprocessing &amp; EDA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A5618F6-CE69-311A-F79A-D12C7E917449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4F7A196-7B69-DD68-52A5-39CD9B799F7D}"/>
              </a:ext>
            </a:extLst>
          </p:cNvPr>
          <p:cNvSpPr txBox="1"/>
          <p:nvPr/>
        </p:nvSpPr>
        <p:spPr>
          <a:xfrm>
            <a:off x="6093893" y="57036"/>
            <a:ext cx="6098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b="1" dirty="0" err="1">
                <a:solidFill>
                  <a:prstClr val="white"/>
                </a:solidFill>
                <a:cs typeface="Calibri" panose="020F0502020204030204" pitchFamily="34" charset="0"/>
              </a:rPr>
              <a:t>MedTrace AI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79B57E3-A5BD-EF87-D219-1C3012DE20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996926"/>
            <a:ext cx="1088571" cy="861074"/>
          </a:xfrm>
          <a:prstGeom prst="rect">
            <a:avLst/>
          </a:prstGeom>
        </p:spPr>
      </p:pic>
      <p:sp>
        <p:nvSpPr>
          <p:cNvPr id="8" name="Rectangle: Folded Corner 7">
            <a:extLst>
              <a:ext uri="{FF2B5EF4-FFF2-40B4-BE49-F238E27FC236}">
                <a16:creationId xmlns:a16="http://schemas.microsoft.com/office/drawing/2014/main" id="{D5456A6A-9A32-A04B-8092-5844EC7FEC7D}"/>
              </a:ext>
            </a:extLst>
          </p:cNvPr>
          <p:cNvSpPr/>
          <p:nvPr/>
        </p:nvSpPr>
        <p:spPr>
          <a:xfrm>
            <a:off x="914400" y="4663440"/>
            <a:ext cx="10744200" cy="1143000"/>
          </a:xfrm>
          <a:prstGeom prst="foldedCorner">
            <a:avLst/>
          </a:prstGeom>
          <a:ln w="76200">
            <a:solidFill>
              <a:schemeClr val="accent1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sz="2200"/>
              <a:t>EDA: report counts, problem types, manufacturers and missing fields</a:t>
            </a:r>
            <a:endParaRPr lang="en-GB" sz="2800" dirty="0">
              <a:solidFill>
                <a:schemeClr val="accent1">
                  <a:lumMod val="75000"/>
                </a:schemeClr>
              </a:solidFill>
            </a:endParaRPr>
          </a:p>
          <a:p>
            <a:pPr algn="just"/>
            <a:r>
              <a:rPr lang="en-IN" sz="2200" b="1" dirty="0">
                <a:ln>
                  <a:solidFill>
                    <a:schemeClr val="accent5"/>
                  </a:solidFill>
                </a:ln>
              </a:rPr>
              <a:t>Also included: 100 recall records and 72 regulatory text chunks</a:t>
            </a:r>
            <a:endParaRPr lang="en-GB" sz="2800" b="1" dirty="0">
              <a:ln>
                <a:solidFill>
                  <a:schemeClr val="accent5"/>
                </a:solidFill>
              </a:ln>
              <a:solidFill>
                <a:schemeClr val="accent1">
                  <a:lumMod val="75000"/>
                </a:schemeClr>
              </a:solidFill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GB" sz="2200" dirty="0">
                <a:solidFill>
                  <a:schemeClr val="accent1">
                    <a:lumMod val="75000"/>
                  </a:schemeClr>
                </a:solidFill>
              </a:rPr>
              <a:t>Sample patterns are descriptive; they do not estimate incidence.</a:t>
            </a:r>
          </a:p>
        </p:txBody>
      </p:sp>
    </p:spTree>
    <p:extLst>
      <p:ext uri="{BB962C8B-B14F-4D97-AF65-F5344CB8AC3E}">
        <p14:creationId xmlns:p14="http://schemas.microsoft.com/office/powerpoint/2010/main" val="679362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E7B675-E694-7663-D55C-2461C40B8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D243BDD-B44E-04F0-FA93-336DD2FFA770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Approach/Algorithms/Tools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4963133-FFA1-7CF4-9FAD-E6A120EF4238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FEA3EC9D-D5AF-E54C-A3D0-5E42F32DC03B}"/>
              </a:ext>
            </a:extLst>
          </p:cNvPr>
          <p:cNvSpPr txBox="1"/>
          <p:nvPr/>
        </p:nvSpPr>
        <p:spPr>
          <a:xfrm>
            <a:off x="6093893" y="57036"/>
            <a:ext cx="6098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b="1" dirty="0" err="1">
                <a:solidFill>
                  <a:prstClr val="white"/>
                </a:solidFill>
                <a:cs typeface="Calibri" panose="020F0502020204030204" pitchFamily="34" charset="0"/>
              </a:rPr>
              <a:t>MedTrace AI</a:t>
            </a:r>
            <a:endParaRPr lang="en-US" dirty="0"/>
          </a:p>
        </p:txBody>
      </p:sp>
      <p:sp>
        <p:nvSpPr>
          <p:cNvPr id="6" name="Rectangle: Folded Corner 5">
            <a:extLst>
              <a:ext uri="{FF2B5EF4-FFF2-40B4-BE49-F238E27FC236}">
                <a16:creationId xmlns:a16="http://schemas.microsoft.com/office/drawing/2014/main" id="{F4A875DE-98CD-BA4B-F6C9-49C3EC00D87A}"/>
              </a:ext>
            </a:extLst>
          </p:cNvPr>
          <p:cNvSpPr/>
          <p:nvPr/>
        </p:nvSpPr>
        <p:spPr>
          <a:xfrm>
            <a:off x="255996" y="2035624"/>
            <a:ext cx="5752978" cy="3630612"/>
          </a:xfrm>
          <a:prstGeom prst="foldedCorner">
            <a:avLst/>
          </a:prstGeom>
          <a:ln w="76200">
            <a:solidFill>
              <a:schemeClr val="accent1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sz="2500"/>
              <a:t>Rule extraction with evidence spans</a:t>
            </a:r>
            <a:endParaRPr lang="en-GB" sz="2800" dirty="0">
              <a:solidFill>
                <a:schemeClr val="accent1">
                  <a:lumMod val="75000"/>
                </a:schemeClr>
              </a:solidFill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GB" sz="2500" dirty="0">
                <a:solidFill>
                  <a:schemeClr val="accent1">
                    <a:lumMod val="75000"/>
                  </a:schemeClr>
                </a:solidFill>
              </a:rPr>
              <a:t>TF-IDF case-retrieval baseline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GB" sz="2500" dirty="0">
                <a:solidFill>
                  <a:schemeClr val="accent1">
                    <a:lumMod val="75000"/>
                  </a:schemeClr>
                </a:solidFill>
              </a:rPr>
              <a:t>Sentence Transformers + FAISS*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GB" sz="2500" dirty="0">
                <a:solidFill>
                  <a:schemeClr val="accent1">
                    <a:lumMod val="75000"/>
                  </a:schemeClr>
                </a:solidFill>
              </a:rPr>
              <a:t>BERT / RoBERTa comparison*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GB" sz="2500" dirty="0">
                <a:solidFill>
                  <a:schemeClr val="accent1">
                    <a:lumMod val="75000"/>
                  </a:schemeClr>
                </a:solidFill>
              </a:rPr>
              <a:t>Transparent priority; XGBoost / SHAP*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GB" sz="2500" dirty="0">
                <a:solidFill>
                  <a:schemeClr val="accent1">
                    <a:lumMod val="75000"/>
                  </a:schemeClr>
                </a:solidFill>
              </a:rPr>
              <a:t>Source-linked regulatory RAG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DA9BA6F-509D-65CF-46B6-BEC776844648}"/>
              </a:ext>
            </a:extLst>
          </p:cNvPr>
          <p:cNvSpPr txBox="1"/>
          <p:nvPr/>
        </p:nvSpPr>
        <p:spPr>
          <a:xfrm>
            <a:off x="544285" y="1443324"/>
            <a:ext cx="343286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solidFill>
                  <a:schemeClr val="accent1"/>
                </a:solidFill>
              </a:rPr>
              <a:t>Methods:</a:t>
            </a:r>
          </a:p>
        </p:txBody>
      </p:sp>
      <p:sp>
        <p:nvSpPr>
          <p:cNvPr id="12" name="Rectangle: Folded Corner 11">
            <a:extLst>
              <a:ext uri="{FF2B5EF4-FFF2-40B4-BE49-F238E27FC236}">
                <a16:creationId xmlns:a16="http://schemas.microsoft.com/office/drawing/2014/main" id="{8AD39A90-45A4-9A37-7D82-C7E4DEC2677D}"/>
              </a:ext>
            </a:extLst>
          </p:cNvPr>
          <p:cNvSpPr/>
          <p:nvPr/>
        </p:nvSpPr>
        <p:spPr>
          <a:xfrm>
            <a:off x="6266457" y="2035624"/>
            <a:ext cx="5752977" cy="3630612"/>
          </a:xfrm>
          <a:prstGeom prst="foldedCorner">
            <a:avLst/>
          </a:prstGeom>
          <a:ln w="76200">
            <a:solidFill>
              <a:schemeClr val="accent1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GB" sz="2500" dirty="0">
                <a:solidFill>
                  <a:schemeClr val="accent1">
                    <a:lumMod val="75000"/>
                  </a:schemeClr>
                </a:solidFill>
              </a:rPr>
              <a:t>Python | pandas | scikit-learn</a:t>
            </a:r>
            <a:r>
              <a:rPr lang="en-GB" sz="2500" dirty="0" err="1">
                <a:solidFill>
                  <a:schemeClr val="accent1">
                    <a:lumMod val="75000"/>
                  </a:schemeClr>
                </a:solidFill>
              </a:rPr>
              <a:t/>
            </a:r>
            <a:r>
              <a:rPr lang="en-GB" sz="2500" dirty="0">
                <a:solidFill>
                  <a:schemeClr val="accent1">
                    <a:lumMod val="75000"/>
                  </a:schemeClr>
                </a:solidFill>
              </a:rPr>
              <a:t/>
            </a:r>
            <a:r>
              <a:rPr lang="en-GB" sz="2500" dirty="0" err="1">
                <a:solidFill>
                  <a:schemeClr val="accent1">
                    <a:lumMod val="75000"/>
                  </a:schemeClr>
                </a:solidFill>
              </a:rPr>
              <a:t/>
            </a:r>
            <a:endParaRPr lang="en-GB" sz="2800" dirty="0">
              <a:solidFill>
                <a:schemeClr val="accent1">
                  <a:lumMod val="75000"/>
                </a:schemeClr>
              </a:solidFill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GB" sz="2500" dirty="0">
                <a:solidFill>
                  <a:schemeClr val="accent1">
                    <a:lumMod val="75000"/>
                  </a:schemeClr>
                </a:solidFill>
              </a:rPr>
              <a:t>FastAPI | Streamlit | Plotly</a:t>
            </a:r>
            <a:r>
              <a:rPr lang="en-GB" sz="2500" dirty="0" err="1">
                <a:solidFill>
                  <a:schemeClr val="accent1">
                    <a:lumMod val="75000"/>
                  </a:schemeClr>
                </a:solidFill>
              </a:rPr>
              <a:t/>
            </a:r>
            <a:r>
              <a:rPr lang="en-GB" sz="2500" dirty="0">
                <a:solidFill>
                  <a:schemeClr val="accent1">
                    <a:lumMod val="75000"/>
                  </a:schemeClr>
                </a:solidFill>
              </a:rPr>
              <a:t/>
            </a:r>
            <a:r>
              <a:rPr lang="en-GB" sz="2500" dirty="0" err="1">
                <a:solidFill>
                  <a:schemeClr val="accent1">
                    <a:lumMod val="75000"/>
                  </a:schemeClr>
                </a:solidFill>
              </a:rPr>
              <a:t/>
            </a:r>
            <a:endParaRPr lang="en-GB" sz="2800" dirty="0">
              <a:solidFill>
                <a:schemeClr val="accent1">
                  <a:lumMod val="75000"/>
                </a:schemeClr>
              </a:solidFill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GB" sz="2500" dirty="0">
                <a:solidFill>
                  <a:schemeClr val="accent1">
                    <a:lumMod val="75000"/>
                  </a:schemeClr>
                </a:solidFill>
              </a:rPr>
              <a:t>SQLite / PostgreSQL*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GB" sz="2500" dirty="0">
                <a:solidFill>
                  <a:schemeClr val="accent1">
                    <a:lumMod val="75000"/>
                  </a:schemeClr>
                </a:solidFill>
              </a:rPr>
              <a:t>LangGraph | LangChain*</a:t>
            </a:r>
            <a:r>
              <a:rPr lang="en-GB" sz="2500" dirty="0" err="1">
                <a:solidFill>
                  <a:schemeClr val="accent1">
                    <a:lumMod val="75000"/>
                  </a:schemeClr>
                </a:solidFill>
              </a:rPr>
              <a:t/>
            </a:r>
            <a:endParaRPr lang="en-IN" sz="2800" dirty="0">
              <a:solidFill>
                <a:schemeClr val="accent1">
                  <a:lumMod val="75000"/>
                </a:schemeClr>
              </a:solidFill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GB" sz="2500" dirty="0">
                <a:solidFill>
                  <a:schemeClr val="accent1">
                    <a:lumMod val="75000"/>
                  </a:schemeClr>
                </a:solidFill>
              </a:rPr>
              <a:t>Transformers | FAISS | SHAP*</a:t>
            </a:r>
            <a:r>
              <a:rPr lang="en-GB" sz="2500" dirty="0" err="1">
                <a:solidFill>
                  <a:schemeClr val="accent1">
                    <a:lumMod val="75000"/>
                  </a:schemeClr>
                </a:solidFill>
              </a:rPr>
              <a:t/>
            </a:r>
            <a:endParaRPr lang="en-IN" sz="28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223CE81-2B5F-FD31-429E-01DDC1EBF5F1}"/>
              </a:ext>
            </a:extLst>
          </p:cNvPr>
          <p:cNvSpPr txBox="1"/>
          <p:nvPr/>
        </p:nvSpPr>
        <p:spPr>
          <a:xfrm>
            <a:off x="7039195" y="1469527"/>
            <a:ext cx="227897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solidFill>
                  <a:schemeClr val="accent1"/>
                </a:solidFill>
              </a:rPr>
              <a:t>Tools: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B129754E-B853-552E-1A37-066C6243D5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996926"/>
            <a:ext cx="1088571" cy="86107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005840" y="5687568"/>
            <a:ext cx="1078992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244D70"/>
                </a:solidFill>
              </a:rPr>
              <a:t>* Advanced paths are implemented; model training and optional deployment require activation and evaluation.</a:t>
            </a:r>
          </a:p>
        </p:txBody>
      </p:sp>
    </p:spTree>
    <p:extLst>
      <p:ext uri="{BB962C8B-B14F-4D97-AF65-F5344CB8AC3E}">
        <p14:creationId xmlns:p14="http://schemas.microsoft.com/office/powerpoint/2010/main" val="1079446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19A058-E477-163A-1B3E-61A05B0F38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8F67352-6E77-1E87-24B7-ED7906E0679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fr-FR" sz="3600" b="1" dirty="0">
                <a:solidFill>
                  <a:srgbClr val="5B9BD5">
                    <a:lumMod val="50000"/>
                  </a:srgbClr>
                </a:solidFill>
              </a:rPr>
              <a:t>Project plan/ Mile stones Progress 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64F4198-C244-16A7-B796-A2E4B5EA6A81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8C26B487-77E4-5D5B-7416-E64E3C867A98}"/>
              </a:ext>
            </a:extLst>
          </p:cNvPr>
          <p:cNvSpPr txBox="1"/>
          <p:nvPr/>
        </p:nvSpPr>
        <p:spPr>
          <a:xfrm>
            <a:off x="6093893" y="57036"/>
            <a:ext cx="6098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b="1" dirty="0" err="1">
                <a:solidFill>
                  <a:prstClr val="white"/>
                </a:solidFill>
                <a:cs typeface="Calibri" panose="020F0502020204030204" pitchFamily="34" charset="0"/>
              </a:rPr>
              <a:t>MedTrace AI</a:t>
            </a:r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CCD62DB-C8ED-FB89-6AEB-118F577E48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996926"/>
            <a:ext cx="1088571" cy="861074"/>
          </a:xfrm>
          <a:prstGeom prst="rect">
            <a:avLst/>
          </a:prstGeom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71B15A0-8A0C-EA13-95B3-0FC86AD67B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2695536"/>
              </p:ext>
            </p:extLst>
          </p:nvPr>
        </p:nvGraphicFramePr>
        <p:xfrm>
          <a:off x="502920" y="1371600"/>
          <a:ext cx="7772401" cy="4206240"/>
        </p:xfrm>
        <a:graphic>
          <a:graphicData uri="http://schemas.openxmlformats.org/drawingml/2006/table">
            <a:tbl>
              <a:tblPr firstRow="1">
                <a:tableStyleId>{5A111915-BE36-4E01-A7E5-04B1672EAD32}</a:tableStyleId>
              </a:tblPr>
              <a:tblGrid>
                <a:gridCol w="3667968">
                  <a:extLst>
                    <a:ext uri="{9D8B030D-6E8A-4147-A177-3AD203B41FA5}">
                      <a16:colId xmlns:a16="http://schemas.microsoft.com/office/drawing/2014/main" val="2347290435"/>
                    </a:ext>
                  </a:extLst>
                </a:gridCol>
                <a:gridCol w="4104433">
                  <a:extLst>
                    <a:ext uri="{9D8B030D-6E8A-4147-A177-3AD203B41FA5}">
                      <a16:colId xmlns:a16="http://schemas.microsoft.com/office/drawing/2014/main" val="3413434173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b="1" sz="170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</a:rPr>
                        <a:t>Milestone</a:t>
                      </a:r>
                    </a:p>
                  </a:txBody>
                  <a:tcPr marL="50800" marR="50800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b="1" dirty="0" sz="170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</a:rPr>
                        <a:t>Status</a:t>
                      </a:r>
                    </a:p>
                  </a:txBody>
                  <a:tcPr marL="50800" marR="50800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60886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b="0" cap="none" spc="0" dirty="0" sz="170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FDA sample and source provenance</a:t>
                      </a:r>
                      <a:r>
                        <a:rPr lang="en-IN" b="0" cap="none" spc="0" dirty="0" err="1" sz="170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/>
                      </a:r>
                      <a:r>
                        <a:rPr lang="en-IN" b="0" cap="none" spc="0" dirty="0" sz="170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/>
                      </a:r>
                      <a:r>
                        <a:rPr lang="en-IN" b="0" cap="none" spc="0" dirty="0" err="1" sz="170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/>
                      </a:r>
                      <a:r>
                        <a:rPr lang="en-IN" b="0" cap="none" spc="0" dirty="0" sz="170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/>
                      </a:r>
                      <a:r>
                        <a:rPr lang="en-IN" b="0" cap="none" spc="0" dirty="0" err="1" sz="170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/>
                      </a:r>
                      <a:r>
                        <a:rPr lang="en-IN" b="0" cap="none" spc="0" dirty="0" sz="170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/>
                      </a:r>
                    </a:p>
                  </a:txBody>
                  <a:tcPr marL="50800" marR="50800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b="0" cap="none" spc="0" dirty="0" sz="170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Completed</a:t>
                      </a:r>
                    </a:p>
                  </a:txBody>
                  <a:tcPr marL="50800" marR="50800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41152687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b="0" cap="none" spc="0" sz="170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Text cleaning and rule extraction</a:t>
                      </a:r>
                    </a:p>
                  </a:txBody>
                  <a:tcPr marL="50800" marR="50800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b="0" cap="none" spc="0" sz="170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Tested</a:t>
                      </a:r>
                    </a:p>
                  </a:txBody>
                  <a:tcPr marL="50800" marR="50800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582875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b="0" cap="none" spc="0" sz="170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TF-IDF retrieval and sample trends</a:t>
                      </a:r>
                    </a:p>
                  </a:txBody>
                  <a:tcPr marL="50800" marR="50800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b="0" cap="none" spc="0" dirty="0" sz="170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Tested</a:t>
                      </a:r>
                    </a:p>
                  </a:txBody>
                  <a:tcPr marL="50800" marR="50800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6889708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b="0" cap="none" spc="0" sz="170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Priority rules and regulatory evidence</a:t>
                      </a:r>
                    </a:p>
                  </a:txBody>
                  <a:tcPr marL="50800" marR="50800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b="0" cap="none" spc="0" dirty="0" sz="170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Tested</a:t>
                      </a:r>
                    </a:p>
                  </a:txBody>
                  <a:tcPr marL="50800" marR="50800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00335446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b="0" cap="none" spc="0" sz="170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API, SQLite and Streamlit workflow</a:t>
                      </a:r>
                    </a:p>
                  </a:txBody>
                  <a:tcPr marL="50800" marR="50800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b="0" cap="none" spc="0" sz="170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Tested</a:t>
                      </a:r>
                    </a:p>
                  </a:txBody>
                  <a:tcPr marL="50800" marR="50800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89922618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b="0" cap="none" spc="0" sz="170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LangGraph and FAISS numeric test</a:t>
                      </a:r>
                    </a:p>
                  </a:txBody>
                  <a:tcPr marL="50800" marR="50800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b="0" cap="none" spc="0" sz="170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Tested</a:t>
                      </a:r>
                    </a:p>
                  </a:txBody>
                  <a:tcPr marL="50800" marR="50800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69037837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b="0" cap="none" spc="0" sz="170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BERT / RoBERTa and SHAP code</a:t>
                      </a:r>
                    </a:p>
                  </a:txBody>
                  <a:tcPr marL="50800" marR="50800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b="0" cap="none" spc="0" sz="170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Training pending</a:t>
                      </a:r>
                    </a:p>
                  </a:txBody>
                  <a:tcPr marL="50800" marR="50800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6227188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b="0" cap="none" spc="0" sz="170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Larger corpus and reviewed labels</a:t>
                      </a:r>
                    </a:p>
                  </a:txBody>
                  <a:tcPr marL="50800" marR="50800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b="0" cap="none" spc="0" sz="170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Pending</a:t>
                      </a:r>
                    </a:p>
                  </a:txBody>
                  <a:tcPr marL="50800" marR="50800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85322456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b="0" cap="none" spc="0" sz="170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Docker and PostgreSQL deployment</a:t>
                      </a:r>
                    </a:p>
                  </a:txBody>
                  <a:tcPr marL="50800" marR="50800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b="0" cap="none" spc="0" dirty="0" sz="170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Not yet tested</a:t>
                      </a:r>
                    </a:p>
                  </a:txBody>
                  <a:tcPr marL="50800" marR="50800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10089554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8E1C193B-0634-B498-1BD7-A2A198B34DC2}"/>
              </a:ext>
            </a:extLst>
          </p:cNvPr>
          <p:cNvSpPr txBox="1"/>
          <p:nvPr/>
        </p:nvSpPr>
        <p:spPr>
          <a:xfrm>
            <a:off x="8577942" y="2501220"/>
            <a:ext cx="3246120" cy="370332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marL="342900" indent="-342900"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IN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18 automated tests passed</a:t>
            </a:r>
          </a:p>
          <a:p>
            <a:pPr marL="342900" indent="-342900"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IN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Dashboard workflow tested</a:t>
            </a:r>
          </a:p>
          <a:p>
            <a:pPr marL="342900" indent="-342900"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IN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5 similar FDA reports retrieved</a:t>
            </a:r>
          </a:p>
          <a:p>
            <a:pPr marL="342900" indent="-342900"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IN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4 regulatory passages retrieved</a:t>
            </a:r>
          </a:p>
          <a:p>
            <a:pPr marL="342900" indent="-342900"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IN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No model accuracy claimed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20A46EB-68B4-6819-0A06-915CC65E945B}"/>
              </a:ext>
            </a:extLst>
          </p:cNvPr>
          <p:cNvSpPr txBox="1"/>
          <p:nvPr/>
        </p:nvSpPr>
        <p:spPr>
          <a:xfrm>
            <a:off x="8577942" y="2039555"/>
            <a:ext cx="33832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/>
              <a:t>Verified demonstration:</a:t>
            </a:r>
          </a:p>
        </p:txBody>
      </p:sp>
    </p:spTree>
    <p:extLst>
      <p:ext uri="{BB962C8B-B14F-4D97-AF65-F5344CB8AC3E}">
        <p14:creationId xmlns:p14="http://schemas.microsoft.com/office/powerpoint/2010/main" val="25011091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E5BBC5-46B5-0DF4-A2AC-5289D29573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BEA9949-295E-B2C7-8E3A-639B0AD48F51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fr-FR" sz="3600" b="1" dirty="0">
                <a:solidFill>
                  <a:srgbClr val="5B9BD5">
                    <a:lumMod val="50000"/>
                  </a:srgbClr>
                </a:solidFill>
              </a:rPr>
              <a:t>Pipeline structure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C3477A6-BED1-8211-5527-9030F1E86940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AB5AC1E1-8B68-1019-1B7A-0CF7BDC8B3EC}"/>
              </a:ext>
            </a:extLst>
          </p:cNvPr>
          <p:cNvSpPr txBox="1"/>
          <p:nvPr/>
        </p:nvSpPr>
        <p:spPr>
          <a:xfrm>
            <a:off x="6093893" y="57036"/>
            <a:ext cx="6098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b="1" dirty="0" err="1">
                <a:solidFill>
                  <a:prstClr val="white"/>
                </a:solidFill>
                <a:cs typeface="Calibri" panose="020F0502020204030204" pitchFamily="34" charset="0"/>
              </a:rPr>
              <a:t>MedTrace AI</a:t>
            </a:r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1C4CF98-D184-9A32-35E0-BFEA79DE0C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996926"/>
            <a:ext cx="1088571" cy="861074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3794760" y="1417320"/>
            <a:ext cx="4572000" cy="667512"/>
          </a:xfrm>
          <a:prstGeom prst="rect">
            <a:avLst/>
          </a:prstGeom>
          <a:solidFill>
            <a:srgbClr val="ECF5FA"/>
          </a:solidFill>
          <a:ln w="12700">
            <a:solidFill>
              <a:srgbClr val="2257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36576"/>
          <a:lstStyle/>
          <a:p>
            <a:pPr algn="ctr"/>
            <a:r>
              <a:rPr sz="2000" b="1">
                <a:solidFill>
                  <a:srgbClr val="22577E"/>
                </a:solidFill>
                <a:latin typeface="Calibri"/>
              </a:rPr>
              <a:t>New complaint</a:t>
            </a:r>
          </a:p>
          <a:p>
            <a:pPr algn="ctr"/>
            <a:r>
              <a:rPr sz="1500" b="0">
                <a:solidFill>
                  <a:srgbClr val="526675"/>
                </a:solidFill>
                <a:latin typeface="Calibri"/>
              </a:rPr>
              <a:t>Narrative + available device identifiers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794760" y="2286000"/>
            <a:ext cx="4572000" cy="667512"/>
          </a:xfrm>
          <a:prstGeom prst="rect">
            <a:avLst/>
          </a:prstGeom>
          <a:solidFill>
            <a:srgbClr val="ECF5FA"/>
          </a:solidFill>
          <a:ln w="12700">
            <a:solidFill>
              <a:srgbClr val="2257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36576"/>
          <a:lstStyle/>
          <a:p>
            <a:pPr algn="ctr"/>
            <a:r>
              <a:rPr sz="2000" b="1">
                <a:solidFill>
                  <a:srgbClr val="22577E"/>
                </a:solidFill>
                <a:latin typeface="Calibri"/>
              </a:rPr>
              <a:t>Complaint understanding</a:t>
            </a:r>
          </a:p>
          <a:p>
            <a:pPr algn="ctr"/>
            <a:r>
              <a:rPr sz="1500" b="0">
                <a:solidFill>
                  <a:srgbClr val="526675"/>
                </a:solidFill>
                <a:latin typeface="Calibri"/>
              </a:rPr>
              <a:t>Extract facts; record missing information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794760" y="3154680"/>
            <a:ext cx="4572000" cy="667512"/>
          </a:xfrm>
          <a:prstGeom prst="rect">
            <a:avLst/>
          </a:prstGeom>
          <a:solidFill>
            <a:srgbClr val="ECF5FA"/>
          </a:solidFill>
          <a:ln w="12700">
            <a:solidFill>
              <a:srgbClr val="2257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36576"/>
          <a:lstStyle/>
          <a:p>
            <a:pPr algn="ctr"/>
            <a:r>
              <a:rPr sz="2000" b="1">
                <a:solidFill>
                  <a:srgbClr val="22577E"/>
                </a:solidFill>
                <a:latin typeface="Calibri"/>
              </a:rPr>
              <a:t>Historical evidence</a:t>
            </a:r>
          </a:p>
          <a:p>
            <a:pPr algn="ctr"/>
            <a:r>
              <a:rPr sz="1500" b="0">
                <a:solidFill>
                  <a:srgbClr val="526675"/>
                </a:solidFill>
                <a:latin typeface="Calibri"/>
              </a:rPr>
              <a:t>Similar reports + trends + recall candidates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94760" y="4023360"/>
            <a:ext cx="4572000" cy="667512"/>
          </a:xfrm>
          <a:prstGeom prst="rect">
            <a:avLst/>
          </a:prstGeom>
          <a:solidFill>
            <a:srgbClr val="ECF5FA"/>
          </a:solidFill>
          <a:ln w="12700">
            <a:solidFill>
              <a:srgbClr val="2257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36576"/>
          <a:lstStyle/>
          <a:p>
            <a:pPr algn="ctr"/>
            <a:r>
              <a:rPr sz="2000" b="1">
                <a:solidFill>
                  <a:srgbClr val="22577E"/>
                </a:solidFill>
                <a:latin typeface="Calibri"/>
              </a:rPr>
              <a:t>Priority and synthesis</a:t>
            </a:r>
          </a:p>
          <a:p>
            <a:pPr algn="ctr"/>
            <a:r>
              <a:rPr sz="1500" b="0">
                <a:solidFill>
                  <a:srgbClr val="526675"/>
                </a:solidFill>
                <a:latin typeface="Calibri"/>
              </a:rPr>
              <a:t>Visible rule factors + cited regulatory passages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794760" y="4892040"/>
            <a:ext cx="4572000" cy="667512"/>
          </a:xfrm>
          <a:prstGeom prst="rect">
            <a:avLst/>
          </a:prstGeom>
          <a:solidFill>
            <a:srgbClr val="ECF5FA"/>
          </a:solidFill>
          <a:ln w="12700">
            <a:solidFill>
              <a:srgbClr val="2257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36576"/>
          <a:lstStyle/>
          <a:p>
            <a:pPr algn="ctr"/>
            <a:r>
              <a:rPr sz="2000" b="1">
                <a:solidFill>
                  <a:srgbClr val="22577E"/>
                </a:solidFill>
                <a:latin typeface="Calibri"/>
              </a:rPr>
              <a:t>Investigation report</a:t>
            </a:r>
          </a:p>
          <a:p>
            <a:pPr algn="ctr"/>
            <a:r>
              <a:rPr sz="1500" b="0">
                <a:solidFill>
                  <a:srgbClr val="526675"/>
                </a:solidFill>
                <a:latin typeface="Calibri"/>
              </a:rPr>
              <a:t>Stored evidence → qualified human review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080760" y="2084832"/>
            <a:ext cx="0" cy="201168"/>
          </a:xfrm>
          <a:prstGeom prst="line">
            <a:avLst/>
          </a:prstGeom>
          <a:ln w="19050">
            <a:solidFill>
              <a:srgbClr val="168C9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6080760" y="2953512"/>
            <a:ext cx="0" cy="201168"/>
          </a:xfrm>
          <a:prstGeom prst="line">
            <a:avLst/>
          </a:prstGeom>
          <a:ln w="19050">
            <a:solidFill>
              <a:srgbClr val="168C9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080760" y="3822191"/>
            <a:ext cx="0" cy="201169"/>
          </a:xfrm>
          <a:prstGeom prst="line">
            <a:avLst/>
          </a:prstGeom>
          <a:ln w="19050">
            <a:solidFill>
              <a:srgbClr val="168C9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080760" y="4690872"/>
            <a:ext cx="0" cy="201168"/>
          </a:xfrm>
          <a:prstGeom prst="line">
            <a:avLst/>
          </a:prstGeom>
          <a:ln w="19050">
            <a:solidFill>
              <a:srgbClr val="168C9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502920" y="3063240"/>
            <a:ext cx="2788920" cy="850392"/>
          </a:xfrm>
          <a:prstGeom prst="rect">
            <a:avLst/>
          </a:prstGeom>
          <a:solidFill>
            <a:srgbClr val="ECF5FA"/>
          </a:solidFill>
          <a:ln w="12700">
            <a:solidFill>
              <a:srgbClr val="2257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36576"/>
          <a:lstStyle/>
          <a:p>
            <a:pPr algn="ctr"/>
            <a:r>
              <a:rPr sz="2000" b="1">
                <a:solidFill>
                  <a:srgbClr val="22577E"/>
                </a:solidFill>
                <a:latin typeface="Calibri"/>
              </a:rPr>
              <a:t>FDA MAUDE</a:t>
            </a:r>
          </a:p>
          <a:p>
            <a:pPr algn="ctr"/>
            <a:r>
              <a:rPr sz="1500" b="0">
                <a:solidFill>
                  <a:srgbClr val="526675"/>
                </a:solidFill>
                <a:latin typeface="Calibri"/>
              </a:rPr>
              <a:t>TF-IDF / semantic search*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291840" y="3474720"/>
            <a:ext cx="502920" cy="0"/>
          </a:xfrm>
          <a:prstGeom prst="line">
            <a:avLst/>
          </a:prstGeom>
          <a:ln w="19050">
            <a:solidFill>
              <a:srgbClr val="168C9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8869680" y="3063240"/>
            <a:ext cx="2788920" cy="850392"/>
          </a:xfrm>
          <a:prstGeom prst="rect">
            <a:avLst/>
          </a:prstGeom>
          <a:solidFill>
            <a:srgbClr val="ECF5FA"/>
          </a:solidFill>
          <a:ln w="12700">
            <a:solidFill>
              <a:srgbClr val="2257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36576"/>
          <a:lstStyle/>
          <a:p>
            <a:pPr algn="ctr"/>
            <a:r>
              <a:rPr sz="2000" b="1">
                <a:solidFill>
                  <a:srgbClr val="22577E"/>
                </a:solidFill>
                <a:latin typeface="Calibri"/>
              </a:rPr>
              <a:t>FDA recall records</a:t>
            </a:r>
          </a:p>
          <a:p>
            <a:pPr algn="ctr"/>
            <a:r>
              <a:rPr sz="1500" b="0">
                <a:solidFill>
                  <a:srgbClr val="526675"/>
                </a:solidFill>
                <a:latin typeface="Calibri"/>
              </a:rPr>
              <a:t>Candidate matches only</a:t>
            </a:r>
          </a:p>
        </p:txBody>
      </p:sp>
      <p:cxnSp>
        <p:nvCxnSpPr>
          <p:cNvPr id="23" name="Connector 22"/>
          <p:cNvCxnSpPr/>
          <p:nvPr/>
        </p:nvCxnSpPr>
        <p:spPr>
          <a:xfrm flipH="1">
            <a:off x="8366760" y="3474720"/>
            <a:ext cx="502920" cy="0"/>
          </a:xfrm>
          <a:prstGeom prst="line">
            <a:avLst/>
          </a:prstGeom>
          <a:ln w="19050">
            <a:solidFill>
              <a:srgbClr val="168C9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502920" y="4023360"/>
            <a:ext cx="2788920" cy="850392"/>
          </a:xfrm>
          <a:prstGeom prst="rect">
            <a:avLst/>
          </a:prstGeom>
          <a:solidFill>
            <a:srgbClr val="ECF5FA"/>
          </a:solidFill>
          <a:ln w="12700">
            <a:solidFill>
              <a:srgbClr val="2257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36576"/>
          <a:lstStyle/>
          <a:p>
            <a:pPr algn="ctr"/>
            <a:r>
              <a:rPr sz="2000" b="1">
                <a:solidFill>
                  <a:srgbClr val="22577E"/>
                </a:solidFill>
                <a:latin typeface="Calibri"/>
              </a:rPr>
              <a:t>Regulatory sources</a:t>
            </a:r>
          </a:p>
          <a:p>
            <a:pPr algn="ctr"/>
            <a:r>
              <a:rPr sz="1500" b="0">
                <a:solidFill>
                  <a:srgbClr val="526675"/>
                </a:solidFill>
                <a:latin typeface="Calibri"/>
              </a:rPr>
              <a:t>Dated CFR passages / RAG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3291840" y="4352544"/>
            <a:ext cx="502920" cy="0"/>
          </a:xfrm>
          <a:prstGeom prst="line">
            <a:avLst/>
          </a:prstGeom>
          <a:ln w="19050">
            <a:solidFill>
              <a:srgbClr val="168C9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8869680" y="4800600"/>
            <a:ext cx="2788920" cy="850392"/>
          </a:xfrm>
          <a:prstGeom prst="rect">
            <a:avLst/>
          </a:prstGeom>
          <a:solidFill>
            <a:srgbClr val="ECF5FA"/>
          </a:solidFill>
          <a:ln w="12700">
            <a:solidFill>
              <a:srgbClr val="2257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36576"/>
          <a:lstStyle/>
          <a:p>
            <a:pPr algn="ctr"/>
            <a:r>
              <a:rPr sz="2000" b="1">
                <a:solidFill>
                  <a:srgbClr val="22577E"/>
                </a:solidFill>
                <a:latin typeface="Calibri"/>
              </a:rPr>
              <a:t>Investigation store</a:t>
            </a:r>
          </a:p>
          <a:p>
            <a:pPr algn="ctr"/>
            <a:r>
              <a:rPr sz="1500" b="0">
                <a:solidFill>
                  <a:srgbClr val="526675"/>
                </a:solidFill>
                <a:latin typeface="Calibri"/>
              </a:rPr>
              <a:t>SQLite / PostgreSQL*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366760" y="5230368"/>
            <a:ext cx="502920" cy="0"/>
          </a:xfrm>
          <a:prstGeom prst="line">
            <a:avLst/>
          </a:prstGeom>
          <a:ln w="19050">
            <a:solidFill>
              <a:srgbClr val="168C9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1097280" y="5788152"/>
            <a:ext cx="10607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526675"/>
                </a:solidFill>
              </a:rPr>
              <a:t>Sequential / LangGraph orchestration   •   FastAPI + Streamlit   •   * Optional advanced configuration</a:t>
            </a:r>
          </a:p>
        </p:txBody>
      </p:sp>
    </p:spTree>
    <p:extLst>
      <p:ext uri="{BB962C8B-B14F-4D97-AF65-F5344CB8AC3E}">
        <p14:creationId xmlns:p14="http://schemas.microsoft.com/office/powerpoint/2010/main" val="21983719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333</TotalTime>
  <Words>402</Words>
  <Application>Microsoft Office PowerPoint</Application>
  <PresentationFormat>Widescreen</PresentationFormat>
  <Paragraphs>126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Calibri</vt:lpstr>
      <vt:lpstr>Calibri (Body)</vt:lpstr>
      <vt:lpstr>Frutiger 45 bold</vt:lpstr>
      <vt:lpstr>Frutiger LT Pro 45 Light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HARI PRASATH</dc:creator>
  <cp:lastModifiedBy>Premkumar Sivasankar</cp:lastModifiedBy>
  <cp:revision>15</cp:revision>
  <dcterms:created xsi:type="dcterms:W3CDTF">2024-05-13T10:33:11Z</dcterms:created>
  <dcterms:modified xsi:type="dcterms:W3CDTF">2026-09-24T06:23:28Z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c52bb50-aef2-4dc8-bb7f-e0da22648362_Enabled">
    <vt:lpwstr>true</vt:lpwstr>
  </property>
  <property fmtid="{D5CDD505-2E9C-101B-9397-08002B2CF9AE}" pid="3" name="MSIP_Label_ac52bb50-aef2-4dc8-bb7f-e0da22648362_SetDate">
    <vt:lpwstr>2025-08-25T08:11:33Z</vt:lpwstr>
  </property>
  <property fmtid="{D5CDD505-2E9C-101B-9397-08002B2CF9AE}" pid="4" name="MSIP_Label_ac52bb50-aef2-4dc8-bb7f-e0da22648362_Method">
    <vt:lpwstr>Standard</vt:lpwstr>
  </property>
  <property fmtid="{D5CDD505-2E9C-101B-9397-08002B2CF9AE}" pid="5" name="MSIP_Label_ac52bb50-aef2-4dc8-bb7f-e0da22648362_Name">
    <vt:lpwstr>ac52bb50-aef2-4dc8-bb7f-e0da22648362</vt:lpwstr>
  </property>
  <property fmtid="{D5CDD505-2E9C-101B-9397-08002B2CF9AE}" pid="6" name="MSIP_Label_ac52bb50-aef2-4dc8-bb7f-e0da22648362_SiteId">
    <vt:lpwstr>264b9899-fe1b-430b-9509-2154878d5774</vt:lpwstr>
  </property>
  <property fmtid="{D5CDD505-2E9C-101B-9397-08002B2CF9AE}" pid="7" name="MSIP_Label_ac52bb50-aef2-4dc8-bb7f-e0da22648362_ActionId">
    <vt:lpwstr>5a5317b9-6049-4f38-9ea6-5786aca62bc4</vt:lpwstr>
  </property>
  <property fmtid="{D5CDD505-2E9C-101B-9397-08002B2CF9AE}" pid="8" name="MSIP_Label_ac52bb50-aef2-4dc8-bb7f-e0da22648362_ContentBits">
    <vt:lpwstr>2</vt:lpwstr>
  </property>
  <property fmtid="{D5CDD505-2E9C-101B-9397-08002B2CF9AE}" pid="9" name="MSIP_Label_ac52bb50-aef2-4dc8-bb7f-e0da22648362_Tag">
    <vt:lpwstr>10, 3, 0, 1</vt:lpwstr>
  </property>
  <property fmtid="{D5CDD505-2E9C-101B-9397-08002B2CF9AE}" pid="10" name="ClassificationContentMarkingFooterLocations">
    <vt:lpwstr>1_Office Theme:8</vt:lpwstr>
  </property>
  <property fmtid="{D5CDD505-2E9C-101B-9397-08002B2CF9AE}" pid="11" name="ClassificationContentMarkingFooterText">
    <vt:lpwstr>Sensitivity: LNT Construction Internal Use</vt:lpwstr>
  </property>
</Properties>
</file>