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12"/>
  </p:notesMasterIdLst>
  <p:sldIdLst>
    <p:sldId id="256" r:id="rId2"/>
    <p:sldId id="257" r:id="rId3"/>
    <p:sldId id="258" r:id="rId4"/>
    <p:sldId id="259" r:id="rId5"/>
    <p:sldId id="260" r:id="rId6"/>
    <p:sldId id="261" r:id="rId7"/>
    <p:sldId id="262" r:id="rId8"/>
    <p:sldId id="265" r:id="rId9"/>
    <p:sldId id="263" r:id="rId10"/>
    <p:sldId id="264"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6CAD268-3F10-421D-BA33-64A75AFF0ACE}">
  <a:tblStyle styleId="{26CAD268-3F10-421D-BA33-64A75AFF0ACE}"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593100EF-B65B-4215-8807-50E75C0B9107}"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10" autoAdjust="0"/>
  </p:normalViewPr>
  <p:slideViewPr>
    <p:cSldViewPr snapToGrid="0">
      <p:cViewPr varScale="1">
        <p:scale>
          <a:sx n="39" d="100"/>
          <a:sy n="39" d="100"/>
        </p:scale>
        <p:origin x="60" y="5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59" name="Google Shape;5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dirty="0"/>
              <a:t>Proposed B2B decision-support platform for complaint investigators, quality engineers and regulatory affairs teams. Example: a pump stops during medication delivery. </a:t>
            </a:r>
            <a:r>
              <a:rPr dirty="0" err="1"/>
              <a:t>MedTrace</a:t>
            </a:r>
            <a:r>
              <a:rPr dirty="0"/>
              <a:t> extracts reported facts, gathers related evidence and drafts investigation questions. It does not establish causality or autonomously decide reportability. Source: FDA, About MAUDE: https://www.fda.gov/medical-devices/mandatory-reporting-requirements-manufacturers-importers-and-device-user-facilities/about-manufacturer-and-user-facility-device-experience-maude-database . </a:t>
            </a:r>
          </a:p>
        </p:txBody>
      </p:sp>
      <p:sp>
        <p:nvSpPr>
          <p:cNvPr id="71" name="Google Shape;7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dirty="0"/>
              <a:t>Evaluation plan: compare TF-IDF plus logistic regression against a transformer classifier for available problem labels. Compare keyword retrieval, basic semantic RAG and the proposed evidence-linked workflow. Measure macro-F1, </a:t>
            </a:r>
            <a:r>
              <a:rPr dirty="0" err="1"/>
              <a:t>recall@k</a:t>
            </a:r>
            <a:r>
              <a:rPr dirty="0"/>
              <a:t>, citation support and investigator review time. Deduplicate reports and keep related reports within the same split. Use temporal holdout where feasible. A rule-defined priority is not a calibrated medical risk probability</a:t>
            </a:r>
            <a:r>
              <a:rPr lang="en-IN"/>
              <a:t>.</a:t>
            </a:r>
            <a:endParaRPr/>
          </a:p>
        </p:txBody>
      </p:sp>
      <p:sp>
        <p:nvSpPr>
          <p:cNvPr id="79" name="Google Shape;7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t>The final device category and record count remain to be selected after inspecting data coverage. Infusion pumps are a candidate, not a confirmed restriction. Use real MAUDE narratives as core data, FDA device metadata and recall records as supporting evidence, and versioned FDA/eCFR documents for RAG. Synthetic records are optional demonstration inputs, not required training data. Sources: https://open.fda.gov/apis/device/ ; https://www.ecfr.gov/current/title-21/chapter-I/subchapter-H/part-803 . MAUDE reports are incomplete and may be biased. Report counts do not establish incidence or causality. Recall matching must disclose ambiguity.</a:t>
            </a:r>
          </a:p>
        </p:txBody>
      </p:sp>
      <p:sp>
        <p:nvSpPr>
          <p:cNvPr id="87" name="Google Shape;8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t>Literature references (displayed MALADE and Medical Graph RAG titles are shortened to fit the reference table).
[1] Susmitha Wunnava, David Harris, Florence T. Bourgeois, Timothy A. Miller. Development of a Benchmark Corpus for Medical Device Adverse Event Detection. CL4Health @ LREC-COLING 2024, pp. 240-245. https://aclanthology.org/2024.cl4health-1.29/ . Creates 935 annotated reports across nine entity types.
[2] Jihye Choi, Nils Palumbo, Prasad Chalasani, Matthew M. Engelhard, Somesh Jha, Anivarya Kumar, David Page. MALADE: Orchestration of LLM-powered Agents with Retrieval Augmented Generation for Pharmacovigilance. MLHC 2024. https://arxiv.org/abs/2408.01869 . Studies drug-outcome association extraction from drug labels.
[3] Junde Wu, Jiayuan Zhu, Yunli Qi, Jingkun Chen, Min Xu, Filippo Menolascina, Vicente Grau. Medical Graph RAG: Towards Safe Medical Large Language Model via Graph Retrieval-Augmented Generation. arXiv:2408.04187, 2024 version. https://arxiv.org/abs/2408.04187 . Links medical documents, credible sources and controlled vocabulary.
The gaps are project-specific comparisons inferred from each paper's stated scope, not claims that the entire literature lacks these capabilities.</a:t>
            </a:r>
          </a:p>
        </p:txBody>
      </p:sp>
      <p:sp>
        <p:nvSpPr>
          <p:cNvPr id="95" name="Google Shape;9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t>Sources: Wunnava et al., https://aclanthology.org/2024.cl4health-1.29/ ; Choi et al., https://arxiv.org/abs/2408.01869 ; Wu et al., https://arxiv.org/abs/2408.04187 . These support complementary components: device information extraction, agent orchestration and medical evidence retrieval. None of these individual papers establishes the complete proposed MedTrace workflow. This is a bounded comparison, not an exhaustive novelty claim.</a:t>
            </a:r>
          </a:p>
        </p:txBody>
      </p:sp>
      <p:sp>
        <p:nvSpPr>
          <p:cNvPr id="104" name="Google Shape;104;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t>Research gaps and proposed responses correspond to the three papers on the Literature Review slide. Wunnava: extend an extraction benchmark toward evidence retrieval and investigation support. MALADE: adapt a drug-safety architecture to device reports, model/manufacturer matching and recall evidence. MedGraphRAG: adapt medical QA grounding to complaint-level prioritization and regulatory context. Proposed contribution: a claim-to-evidence record that distinguishes reported facts, uncertain associations and missing information. Test its value through an ablation with and without evidence checks. Novelty and improvement remain hypotheses requiring broader literature review and experiments. Sources: https://aclanthology.org/2024.cl4health-1.29/ ; https://arxiv.org/abs/2408.01869 ; https://arxiv.org/abs/2408.04187 .</a:t>
            </a:r>
          </a:p>
        </p:txBody>
      </p:sp>
      <p:sp>
        <p:nvSpPr>
          <p:cNvPr id="112" name="Google Shape;112;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8B997867-6746-B86A-1D53-7D586EC79B50}"/>
            </a:ext>
          </a:extLst>
        </p:cNvPr>
        <p:cNvGrpSpPr/>
        <p:nvPr/>
      </p:nvGrpSpPr>
      <p:grpSpPr>
        <a:xfrm>
          <a:off x="0" y="0"/>
          <a:ext cx="0" cy="0"/>
          <a:chOff x="0" y="0"/>
          <a:chExt cx="0" cy="0"/>
        </a:xfrm>
      </p:grpSpPr>
      <p:sp>
        <p:nvSpPr>
          <p:cNvPr id="111" name="Google Shape;111;p7:notes">
            <a:extLst>
              <a:ext uri="{FF2B5EF4-FFF2-40B4-BE49-F238E27FC236}">
                <a16:creationId xmlns:a16="http://schemas.microsoft.com/office/drawing/2014/main" id="{186F6AF5-D45D-DC16-2B29-703AC1499D4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t>Research gaps and proposed responses correspond to the three papers on the Literature Review slide. Wunnava: extend an extraction benchmark toward evidence retrieval and investigation support. MALADE: adapt a drug-safety architecture to device reports, model/manufacturer matching and recall evidence. MedGraphRAG: adapt medical QA grounding to complaint-level prioritization and regulatory context. Proposed contribution: a claim-to-evidence record that distinguishes reported facts, uncertain associations and missing information. Test its value through an ablation with and without evidence checks. Novelty and improvement remain hypotheses requiring broader literature review and experiments. Sources: https://aclanthology.org/2024.cl4health-1.29/ ; https://arxiv.org/abs/2408.01869 ; https://arxiv.org/abs/2408.04187 .</a:t>
            </a:r>
          </a:p>
        </p:txBody>
      </p:sp>
      <p:sp>
        <p:nvSpPr>
          <p:cNvPr id="112" name="Google Shape;112;p7:notes">
            <a:extLst>
              <a:ext uri="{FF2B5EF4-FFF2-40B4-BE49-F238E27FC236}">
                <a16:creationId xmlns:a16="http://schemas.microsoft.com/office/drawing/2014/main" id="{3818E25B-529F-AB7B-2C7F-0E446F06C3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8064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t>Four presentation-level modules group the detailed architecture from the supplied project report. Module 1: ingestion, normalization, extraction and problem classification. Module 2: Sentence Transformers plus FAISS/Chroma, structured device filtering and recall matching. Module 3: report-count trends, documented priority rules, versioned regulatory RAG and tool orchestration. Module 4: source-linked report, missing-evidence checks, human review and evaluation. Candidate implementation stack from the conversation: Python, Pandas, scikit-learn, Hugging Face, FastAPI, Streamlit/Gradio and Docker. Final tool choices remain implementation decisions.</a:t>
            </a:r>
          </a:p>
        </p:txBody>
      </p:sp>
      <p:sp>
        <p:nvSpPr>
          <p:cNvPr id="120" name="Google Shape;120;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t>Expected outcomes are proposed deliverables and testable aims, not measured performance. Evaluate complaint extraction, evidence relevance, supported-claim proportion, missing-evidence identification and review time. Report any null or negative results. Keep formal regulatory decisions with qualified professionals. FDA source for data limitations: https://www.fda.gov/medical-devices/mandatory-reporting-requirements-manufacturers-importers-and-device-user-facilities/about-manufacturer-and-user-facility-device-experience-maude-database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Picture with Caption">
  <p:cSld name="1_Picture with Caption">
    <p:spTree>
      <p:nvGrpSpPr>
        <p:cNvPr id="1" name="Shape 14"/>
        <p:cNvGrpSpPr/>
        <p:nvPr/>
      </p:nvGrpSpPr>
      <p:grpSpPr>
        <a:xfrm>
          <a:off x="0" y="0"/>
          <a:ext cx="0" cy="0"/>
          <a:chOff x="0" y="0"/>
          <a:chExt cx="0" cy="0"/>
        </a:xfrm>
      </p:grpSpPr>
      <p:sp>
        <p:nvSpPr>
          <p:cNvPr id="15" name="Google Shape;15;p2"/>
          <p:cNvSpPr txBox="1">
            <a:spLocks noGrp="1"/>
          </p:cNvSpPr>
          <p:nvPr>
            <p:ph type="body" idx="1"/>
          </p:nvPr>
        </p:nvSpPr>
        <p:spPr>
          <a:xfrm>
            <a:off x="255996" y="1271219"/>
            <a:ext cx="10624338" cy="444565"/>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rgbClr val="0070C0"/>
              </a:buClr>
              <a:buSzPts val="2800"/>
              <a:buChar char="•"/>
              <a:defRPr sz="2800" b="1">
                <a:solidFill>
                  <a:srgbClr val="0070C0"/>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 name="Google Shape;16;p2"/>
          <p:cNvSpPr txBox="1">
            <a:spLocks noGrp="1"/>
          </p:cNvSpPr>
          <p:nvPr>
            <p:ph type="body" idx="2"/>
          </p:nvPr>
        </p:nvSpPr>
        <p:spPr>
          <a:xfrm>
            <a:off x="255996" y="629525"/>
            <a:ext cx="10624338" cy="444565"/>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rgbClr val="0070C0"/>
              </a:buClr>
              <a:buSzPts val="2800"/>
              <a:buChar char="•"/>
              <a:defRPr sz="2800" b="1">
                <a:solidFill>
                  <a:srgbClr val="0070C0"/>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 name="Google Shape;19;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 name="Google Shape;20;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3" name="Google Shape;23;p4"/>
          <p:cNvSpPr txBox="1">
            <a:spLocks noGrp="1"/>
          </p:cNvSpPr>
          <p:nvPr>
            <p:ph type="body" idx="1"/>
          </p:nvPr>
        </p:nvSpPr>
        <p:spPr>
          <a:xfrm>
            <a:off x="677271" y="1191757"/>
            <a:ext cx="11004446" cy="479500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26;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7" name="Google Shape;27;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0" name="Google Shape;30;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4" name="Google Shape;34;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7" name="Google Shape;37;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0"/>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1"/>
        <p:cNvGrpSpPr/>
        <p:nvPr/>
      </p:nvGrpSpPr>
      <p:grpSpPr>
        <a:xfrm>
          <a:off x="0" y="0"/>
          <a:ext cx="0" cy="0"/>
          <a:chOff x="0" y="0"/>
          <a:chExt cx="0" cy="0"/>
        </a:xfrm>
      </p:grpSpPr>
      <p:sp>
        <p:nvSpPr>
          <p:cNvPr id="42" name="Google Shape;4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3" name="Google Shape;43;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4" name="Google Shape;44;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5"/>
        <p:cNvGrpSpPr/>
        <p:nvPr/>
      </p:nvGrpSpPr>
      <p:grpSpPr>
        <a:xfrm>
          <a:off x="0" y="0"/>
          <a:ext cx="0" cy="0"/>
          <a:chOff x="0" y="0"/>
          <a:chExt cx="0" cy="0"/>
        </a:xfrm>
      </p:grpSpPr>
      <p:sp>
        <p:nvSpPr>
          <p:cNvPr id="46" name="Google Shape;46;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7" name="Google Shape;47;p11"/>
          <p:cNvSpPr>
            <a:spLocks noGrp="1"/>
          </p:cNvSpPr>
          <p:nvPr>
            <p:ph type="pic" idx="2"/>
          </p:nvPr>
        </p:nvSpPr>
        <p:spPr>
          <a:xfrm>
            <a:off x="5183188" y="987425"/>
            <a:ext cx="6172200" cy="4873625"/>
          </a:xfrm>
          <a:prstGeom prst="rect">
            <a:avLst/>
          </a:prstGeom>
          <a:noFill/>
          <a:ln>
            <a:noFill/>
          </a:ln>
        </p:spPr>
      </p:sp>
      <p:sp>
        <p:nvSpPr>
          <p:cNvPr id="48" name="Google Shape;48;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1" name="Google Shape;51;p12"/>
          <p:cNvSpPr txBox="1">
            <a:spLocks noGrp="1"/>
          </p:cNvSpPr>
          <p:nvPr>
            <p:ph type="body" idx="1"/>
          </p:nvPr>
        </p:nvSpPr>
        <p:spPr>
          <a:xfrm rot="5400000">
            <a:off x="3781990" y="-1912962"/>
            <a:ext cx="4795008" cy="1100444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2"/>
        <p:cNvGrpSpPr/>
        <p:nvPr/>
      </p:nvGrpSpPr>
      <p:grpSpPr>
        <a:xfrm>
          <a:off x="0" y="0"/>
          <a:ext cx="0" cy="0"/>
          <a:chOff x="0" y="0"/>
          <a:chExt cx="0" cy="0"/>
        </a:xfrm>
      </p:grpSpPr>
      <p:sp>
        <p:nvSpPr>
          <p:cNvPr id="53" name="Google Shape;53;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4" name="Google Shape;54;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Picture with Caption">
  <p:cSld name="2_Picture with Caption">
    <p:spTree>
      <p:nvGrpSpPr>
        <p:cNvPr id="1" name="Shape 55"/>
        <p:cNvGrpSpPr/>
        <p:nvPr/>
      </p:nvGrpSpPr>
      <p:grpSpPr>
        <a:xfrm>
          <a:off x="0" y="0"/>
          <a:ext cx="0" cy="0"/>
          <a:chOff x="0" y="0"/>
          <a:chExt cx="0" cy="0"/>
        </a:xfrm>
      </p:grpSpPr>
      <p:sp>
        <p:nvSpPr>
          <p:cNvPr id="56" name="Google Shape;56;p14"/>
          <p:cNvSpPr txBox="1">
            <a:spLocks noGrp="1"/>
          </p:cNvSpPr>
          <p:nvPr>
            <p:ph type="body" idx="1"/>
          </p:nvPr>
        </p:nvSpPr>
        <p:spPr>
          <a:xfrm>
            <a:off x="173803" y="469835"/>
            <a:ext cx="11672300" cy="650048"/>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rgbClr val="595959"/>
              </a:buClr>
              <a:buSzPts val="3200"/>
              <a:buChar char="•"/>
              <a:defRPr sz="3200" b="1">
                <a:solidFill>
                  <a:srgbClr val="595959"/>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jp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15">
            <a:alphaModFix/>
          </a:blip>
          <a:srcRect/>
          <a:stretch/>
        </p:blipFill>
        <p:spPr>
          <a:xfrm>
            <a:off x="1" y="5337544"/>
            <a:ext cx="12191994" cy="1548307"/>
          </a:xfrm>
          <a:prstGeom prst="rect">
            <a:avLst/>
          </a:prstGeom>
          <a:noFill/>
          <a:ln>
            <a:noFill/>
          </a:ln>
        </p:spPr>
      </p:pic>
      <p:sp>
        <p:nvSpPr>
          <p:cNvPr id="7" name="Google Shape;7;p1"/>
          <p:cNvSpPr/>
          <p:nvPr/>
        </p:nvSpPr>
        <p:spPr>
          <a:xfrm>
            <a:off x="0" y="0"/>
            <a:ext cx="12192000" cy="365125"/>
          </a:xfrm>
          <a:prstGeom prst="rect">
            <a:avLst/>
          </a:prstGeom>
          <a:gradFill>
            <a:gsLst>
              <a:gs pos="0">
                <a:srgbClr val="47BDAE"/>
              </a:gs>
              <a:gs pos="5000">
                <a:srgbClr val="47BDAE"/>
              </a:gs>
              <a:gs pos="59000">
                <a:srgbClr val="25B9ED"/>
              </a:gs>
              <a:gs pos="100000">
                <a:srgbClr val="FFFFFF"/>
              </a:gs>
            </a:gsLst>
            <a:lin ang="10800000" scaled="0"/>
          </a:grad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000"/>
              <a:buFont typeface="Arial"/>
              <a:buNone/>
            </a:pPr>
            <a:endParaRPr sz="2000" b="1" i="1" u="none" strike="noStrike" cap="none">
              <a:solidFill>
                <a:srgbClr val="BFBFBF"/>
              </a:solidFill>
              <a:latin typeface="Calibri"/>
              <a:ea typeface="Calibri"/>
              <a:cs typeface="Calibri"/>
              <a:sym typeface="Calibri"/>
            </a:endParaRPr>
          </a:p>
        </p:txBody>
      </p:sp>
      <p:sp>
        <p:nvSpPr>
          <p:cNvPr id="8" name="Google Shape;8;p1"/>
          <p:cNvSpPr txBox="1">
            <a:spLocks noGrp="1"/>
          </p:cNvSpPr>
          <p:nvPr>
            <p:ph type="body" idx="1"/>
          </p:nvPr>
        </p:nvSpPr>
        <p:spPr>
          <a:xfrm>
            <a:off x="677271" y="1191757"/>
            <a:ext cx="11004446" cy="479500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p:nvPr/>
        </p:nvSpPr>
        <p:spPr>
          <a:xfrm>
            <a:off x="221274" y="88514"/>
            <a:ext cx="8176583" cy="1103242"/>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Calibri"/>
              <a:buNone/>
            </a:pPr>
            <a:endParaRPr sz="4400" b="0" i="0" u="none" strike="noStrike" cap="none">
              <a:solidFill>
                <a:schemeClr val="dk1"/>
              </a:solidFill>
              <a:latin typeface="Calibri"/>
              <a:ea typeface="Calibri"/>
              <a:cs typeface="Calibri"/>
              <a:sym typeface="Calibri"/>
            </a:endParaRPr>
          </a:p>
        </p:txBody>
      </p:sp>
      <p:sp>
        <p:nvSpPr>
          <p:cNvPr id="10" name="Google Shape;10;p1"/>
          <p:cNvSpPr txBox="1"/>
          <p:nvPr/>
        </p:nvSpPr>
        <p:spPr>
          <a:xfrm>
            <a:off x="391411" y="640135"/>
            <a:ext cx="11290305" cy="52377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p:txBody>
      </p:sp>
      <p:sp>
        <p:nvSpPr>
          <p:cNvPr id="11" name="Google Shape;11;p1"/>
          <p:cNvSpPr txBox="1"/>
          <p:nvPr/>
        </p:nvSpPr>
        <p:spPr>
          <a:xfrm>
            <a:off x="158720" y="413891"/>
            <a:ext cx="10025576" cy="685945"/>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12" name="Google Shape;12;p1"/>
          <p:cNvPicPr preferRelativeResize="0"/>
          <p:nvPr/>
        </p:nvPicPr>
        <p:blipFill rotWithShape="1">
          <a:blip r:embed="rId16">
            <a:alphaModFix/>
          </a:blip>
          <a:srcRect/>
          <a:stretch/>
        </p:blipFill>
        <p:spPr>
          <a:xfrm>
            <a:off x="105554" y="6358271"/>
            <a:ext cx="964436" cy="411216"/>
          </a:xfrm>
          <a:prstGeom prst="rect">
            <a:avLst/>
          </a:prstGeom>
          <a:noFill/>
          <a:ln>
            <a:noFill/>
          </a:ln>
        </p:spPr>
      </p:pic>
      <p:pic>
        <p:nvPicPr>
          <p:cNvPr id="13" name="Google Shape;13;p1" descr="LTM Limited (Formerly LTIMindtree Limited)"/>
          <p:cNvPicPr preferRelativeResize="0"/>
          <p:nvPr/>
        </p:nvPicPr>
        <p:blipFill rotWithShape="1">
          <a:blip r:embed="rId17">
            <a:alphaModFix/>
          </a:blip>
          <a:srcRect/>
          <a:stretch/>
        </p:blipFill>
        <p:spPr>
          <a:xfrm>
            <a:off x="11459750" y="6584400"/>
            <a:ext cx="611850" cy="273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5"/>
          <p:cNvSpPr/>
          <p:nvPr/>
        </p:nvSpPr>
        <p:spPr>
          <a:xfrm>
            <a:off x="-31269" y="29737"/>
            <a:ext cx="12254538" cy="6868389"/>
          </a:xfrm>
          <a:prstGeom prst="rect">
            <a:avLst/>
          </a:prstGeom>
          <a:gradFill>
            <a:gsLst>
              <a:gs pos="0">
                <a:srgbClr val="47BDAF"/>
              </a:gs>
              <a:gs pos="39000">
                <a:srgbClr val="1C4D98"/>
              </a:gs>
              <a:gs pos="100000">
                <a:srgbClr val="3793A6"/>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62" name="Google Shape;62;p15"/>
          <p:cNvSpPr txBox="1">
            <a:spLocks noGrp="1"/>
          </p:cNvSpPr>
          <p:nvPr>
            <p:ph type="body" idx="1"/>
          </p:nvPr>
        </p:nvSpPr>
        <p:spPr>
          <a:xfrm>
            <a:off x="2289635" y="17705"/>
            <a:ext cx="6910121" cy="1058125"/>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4400"/>
              <a:buNone/>
            </a:pPr>
            <a:r>
              <a:rPr lang="en-US" sz="4400">
                <a:solidFill>
                  <a:schemeClr val="lt1"/>
                </a:solidFill>
              </a:rPr>
              <a:t>M.Tech Program </a:t>
            </a:r>
            <a:endParaRPr/>
          </a:p>
          <a:p>
            <a:pPr marL="0" lvl="0" indent="0" algn="ctr" rtl="0">
              <a:lnSpc>
                <a:spcPct val="90000"/>
              </a:lnSpc>
              <a:spcBef>
                <a:spcPts val="1000"/>
              </a:spcBef>
              <a:spcAft>
                <a:spcPts val="0"/>
              </a:spcAft>
              <a:buClr>
                <a:schemeClr val="lt1"/>
              </a:buClr>
              <a:buSzPts val="2000"/>
              <a:buNone/>
            </a:pPr>
            <a:r>
              <a:rPr lang="en-US" sz="2000">
                <a:solidFill>
                  <a:schemeClr val="lt1"/>
                </a:solidFill>
              </a:rPr>
              <a:t>Advanced Industry Integrated Programs</a:t>
            </a:r>
            <a:endParaRPr/>
          </a:p>
        </p:txBody>
      </p:sp>
      <p:cxnSp>
        <p:nvCxnSpPr>
          <p:cNvPr id="63" name="Google Shape;63;p15"/>
          <p:cNvCxnSpPr/>
          <p:nvPr/>
        </p:nvCxnSpPr>
        <p:spPr>
          <a:xfrm>
            <a:off x="2977350" y="1120307"/>
            <a:ext cx="5866228" cy="0"/>
          </a:xfrm>
          <a:prstGeom prst="straightConnector1">
            <a:avLst/>
          </a:prstGeom>
          <a:noFill/>
          <a:ln w="9525" cap="flat" cmpd="sng">
            <a:solidFill>
              <a:schemeClr val="lt1"/>
            </a:solidFill>
            <a:prstDash val="solid"/>
            <a:miter lim="0"/>
            <a:headEnd type="none" w="sm" len="sm"/>
            <a:tailEnd type="none" w="sm" len="sm"/>
          </a:ln>
        </p:spPr>
      </p:cxnSp>
      <p:sp>
        <p:nvSpPr>
          <p:cNvPr id="64" name="Google Shape;64;p15"/>
          <p:cNvSpPr/>
          <p:nvPr/>
        </p:nvSpPr>
        <p:spPr>
          <a:xfrm>
            <a:off x="4125950" y="1177575"/>
            <a:ext cx="3033000" cy="412800"/>
          </a:xfrm>
          <a:prstGeom prst="roundRect">
            <a:avLst>
              <a:gd name="adj" fmla="val 16667"/>
            </a:avLst>
          </a:prstGeom>
          <a:solidFill>
            <a:srgbClr val="E1EFD8"/>
          </a:soli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595959"/>
              </a:buClr>
              <a:buSzPts val="1200"/>
              <a:buFont typeface="Arial"/>
              <a:buNone/>
            </a:pPr>
            <a:r>
              <a:rPr lang="en-US" sz="1200" b="0" i="0" u="none" strike="noStrike" cap="none">
                <a:solidFill>
                  <a:srgbClr val="595959"/>
                </a:solidFill>
                <a:latin typeface="Arial"/>
                <a:ea typeface="Arial"/>
                <a:cs typeface="Arial"/>
                <a:sym typeface="Arial"/>
              </a:rPr>
              <a:t>Jointly offered by University and LTIMindTree</a:t>
            </a:r>
            <a:endParaRPr sz="1400" b="0" i="0" u="none" strike="noStrike" cap="none">
              <a:solidFill>
                <a:srgbClr val="000000"/>
              </a:solidFill>
              <a:latin typeface="Arial"/>
              <a:ea typeface="Arial"/>
              <a:cs typeface="Arial"/>
              <a:sym typeface="Arial"/>
            </a:endParaRPr>
          </a:p>
        </p:txBody>
      </p:sp>
      <p:sp>
        <p:nvSpPr>
          <p:cNvPr id="65" name="Google Shape;65;p15"/>
          <p:cNvSpPr txBox="1"/>
          <p:nvPr/>
        </p:nvSpPr>
        <p:spPr>
          <a:xfrm>
            <a:off x="180236" y="1659822"/>
            <a:ext cx="11428200" cy="535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3600"/>
              <a:buFont typeface="Calibri"/>
              <a:buNone/>
            </a:pPr>
            <a:r>
              <a:rPr lang="en-US" sz="3600" b="1" i="0" u="none" strike="noStrike" cap="none" dirty="0">
                <a:solidFill>
                  <a:srgbClr val="FFFFFF"/>
                </a:solidFill>
                <a:latin typeface="Calibri"/>
                <a:ea typeface="Calibri"/>
                <a:cs typeface="Calibri"/>
                <a:sym typeface="Calibri"/>
              </a:rPr>
              <a:t>Project Title</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err="1">
                <a:solidFill>
                  <a:srgbClr val="FFFFFF"/>
                </a:solidFill>
                <a:latin typeface="Calibri"/>
                <a:ea typeface="Calibri"/>
                <a:cs typeface="Calibri"/>
                <a:sym typeface="Calibri"/>
              </a:rPr>
              <a:t>MedTrace</a:t>
            </a:r>
            <a:r>
              <a:rPr lang="en-US" sz="3600" b="1" i="0" u="none" strike="noStrike" cap="none" dirty="0">
                <a:solidFill>
                  <a:srgbClr val="FFFFFF"/>
                </a:solidFill>
                <a:latin typeface="Calibri"/>
                <a:ea typeface="Calibri"/>
                <a:cs typeface="Calibri"/>
                <a:sym typeface="Calibri"/>
              </a:rPr>
              <a:t> AI - Medical Device Complaint Investigation Platform</a:t>
            </a:r>
            <a:endParaRPr sz="3600" b="1" i="0" u="none" strike="noStrike" cap="none" dirty="0">
              <a:solidFill>
                <a:srgbClr val="FFFFFF"/>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5400"/>
              <a:buFont typeface="Arial"/>
              <a:buNone/>
            </a:pPr>
            <a:endParaRPr sz="5400" b="1" i="0" u="none" strike="noStrike" cap="none" dirty="0">
              <a:solidFill>
                <a:srgbClr val="FFFFFF"/>
              </a:solidFill>
              <a:latin typeface="Arial"/>
              <a:ea typeface="Arial"/>
              <a:cs typeface="Arial"/>
              <a:sym typeface="Arial"/>
            </a:endParaRPr>
          </a:p>
          <a:p>
            <a:pPr lvl="0" algn="ctr">
              <a:buSzPts val="2400"/>
            </a:pPr>
            <a:r>
              <a:rPr lang="en-US" sz="2400" b="1" dirty="0">
                <a:solidFill>
                  <a:srgbClr val="FFFFFF"/>
                </a:solidFill>
                <a:latin typeface="Calibri"/>
                <a:ea typeface="Calibri"/>
                <a:cs typeface="Calibri"/>
                <a:sym typeface="Calibri"/>
              </a:rPr>
              <a:t>T9972</a:t>
            </a:r>
            <a:endParaRPr sz="2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FFFFFF"/>
                </a:solidFill>
                <a:latin typeface="Calibri"/>
                <a:ea typeface="Calibri"/>
                <a:cs typeface="Calibri"/>
                <a:sym typeface="Calibri"/>
              </a:rPr>
              <a:t>Khavin C (251011010)</a:t>
            </a:r>
            <a:endParaRPr sz="2400" b="1" i="0" u="none" strike="noStrike" cap="none" dirty="0">
              <a:solidFill>
                <a:srgbClr val="FFFFFF"/>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FFFFFF"/>
                </a:solidFill>
                <a:latin typeface="Calibri"/>
                <a:ea typeface="Calibri"/>
                <a:cs typeface="Calibri"/>
                <a:sym typeface="Calibri"/>
              </a:rPr>
              <a:t>RAJALAKSHMI ENGINEERING COLLEGE</a:t>
            </a:r>
            <a:endParaRPr sz="2400" b="1" i="0" u="none" strike="noStrike" cap="none" dirty="0">
              <a:solidFill>
                <a:srgbClr val="FFFFFF"/>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5400"/>
              <a:buFont typeface="Arial"/>
              <a:buNone/>
            </a:pPr>
            <a:endParaRPr sz="5400" b="1" i="0" u="none" strike="noStrike" cap="none" dirty="0">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5400"/>
              <a:buFont typeface="Arial"/>
              <a:buNone/>
            </a:pPr>
            <a:endParaRPr sz="5400" b="1" i="0" u="none" strike="noStrike" cap="none" dirty="0">
              <a:solidFill>
                <a:srgbClr val="FFFFFF"/>
              </a:solidFill>
              <a:latin typeface="Arial"/>
              <a:ea typeface="Arial"/>
              <a:cs typeface="Arial"/>
              <a:sym typeface="Arial"/>
            </a:endParaRPr>
          </a:p>
        </p:txBody>
      </p:sp>
      <p:graphicFrame>
        <p:nvGraphicFramePr>
          <p:cNvPr id="66" name="Google Shape;66;p15"/>
          <p:cNvGraphicFramePr/>
          <p:nvPr/>
        </p:nvGraphicFramePr>
        <p:xfrm>
          <a:off x="-47290" y="5501244"/>
          <a:ext cx="12239200" cy="3264845"/>
        </p:xfrm>
        <a:graphic>
          <a:graphicData uri="http://schemas.openxmlformats.org/drawingml/2006/table">
            <a:tbl>
              <a:tblPr firstRow="1" bandRow="1">
                <a:noFill/>
                <a:tableStyleId>{26CAD268-3F10-421D-BA33-64A75AFF0ACE}</a:tableStyleId>
              </a:tblPr>
              <a:tblGrid>
                <a:gridCol w="6119600">
                  <a:extLst>
                    <a:ext uri="{9D8B030D-6E8A-4147-A177-3AD203B41FA5}">
                      <a16:colId xmlns:a16="http://schemas.microsoft.com/office/drawing/2014/main" val="20000"/>
                    </a:ext>
                  </a:extLst>
                </a:gridCol>
                <a:gridCol w="6119600">
                  <a:extLst>
                    <a:ext uri="{9D8B030D-6E8A-4147-A177-3AD203B41FA5}">
                      <a16:colId xmlns:a16="http://schemas.microsoft.com/office/drawing/2014/main" val="20001"/>
                    </a:ext>
                  </a:extLst>
                </a:gridCol>
              </a:tblGrid>
              <a:tr h="1527475">
                <a:tc>
                  <a:txBody>
                    <a:bodyPr/>
                    <a:lstStyle/>
                    <a:p>
                      <a:pPr marL="0" marR="0" lvl="0" indent="0" algn="l" rtl="0">
                        <a:lnSpc>
                          <a:spcPct val="100000"/>
                        </a:lnSpc>
                        <a:spcBef>
                          <a:spcPts val="0"/>
                        </a:spcBef>
                        <a:spcAft>
                          <a:spcPts val="0"/>
                        </a:spcAft>
                        <a:buClr>
                          <a:schemeClr val="lt1"/>
                        </a:buClr>
                        <a:buSzPts val="1800"/>
                        <a:buFont typeface="Arial"/>
                        <a:buNone/>
                      </a:pPr>
                      <a:r>
                        <a:rPr lang="en-US" sz="1800" u="none" strike="noStrike" cap="none">
                          <a:solidFill>
                            <a:schemeClr val="lt1"/>
                          </a:solidFill>
                          <a:latin typeface="Arial"/>
                          <a:ea typeface="Arial"/>
                          <a:cs typeface="Arial"/>
                          <a:sym typeface="Arial"/>
                        </a:rPr>
                        <a:t>Knowledge partner</a:t>
                      </a:r>
                      <a:endParaRPr sz="1800" u="none" strike="noStrike" cap="none">
                        <a:solidFill>
                          <a:schemeClr val="lt1"/>
                        </a:solidFill>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lt1"/>
                        </a:buClr>
                        <a:buSzPts val="1800"/>
                        <a:buFont typeface="Arial"/>
                        <a:buNone/>
                      </a:pPr>
                      <a:r>
                        <a:rPr lang="en-US" sz="1800" u="none" strike="noStrike" cap="none">
                          <a:solidFill>
                            <a:schemeClr val="lt1"/>
                          </a:solidFill>
                          <a:latin typeface="Arial"/>
                          <a:ea typeface="Arial"/>
                          <a:cs typeface="Arial"/>
                          <a:sym typeface="Arial"/>
                        </a:rPr>
                        <a:t>                                                                     Implementation partner</a:t>
                      </a:r>
                      <a:endParaRPr sz="1800" u="none" strike="noStrike" cap="none">
                        <a:solidFill>
                          <a:schemeClr val="lt1"/>
                        </a:solidFill>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1842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67" name="Google Shape;67;p15"/>
          <p:cNvPicPr preferRelativeResize="0"/>
          <p:nvPr/>
        </p:nvPicPr>
        <p:blipFill rotWithShape="1">
          <a:blip r:embed="rId3">
            <a:alphaModFix/>
          </a:blip>
          <a:srcRect/>
          <a:stretch/>
        </p:blipFill>
        <p:spPr>
          <a:xfrm>
            <a:off x="9775332" y="5852667"/>
            <a:ext cx="1987468" cy="847417"/>
          </a:xfrm>
          <a:prstGeom prst="rect">
            <a:avLst/>
          </a:prstGeom>
          <a:noFill/>
          <a:ln>
            <a:noFill/>
          </a:ln>
        </p:spPr>
      </p:pic>
      <p:pic>
        <p:nvPicPr>
          <p:cNvPr id="68" name="Google Shape;68;p15"/>
          <p:cNvPicPr preferRelativeResize="0"/>
          <p:nvPr/>
        </p:nvPicPr>
        <p:blipFill rotWithShape="1">
          <a:blip r:embed="rId4">
            <a:alphaModFix/>
          </a:blip>
          <a:srcRect/>
          <a:stretch/>
        </p:blipFill>
        <p:spPr>
          <a:xfrm>
            <a:off x="-1223793" y="5226092"/>
            <a:ext cx="4201139" cy="210057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body" idx="1"/>
          </p:nvPr>
        </p:nvSpPr>
        <p:spPr>
          <a:xfrm>
            <a:off x="256000" y="1271225"/>
            <a:ext cx="11760600" cy="4297500"/>
          </a:xfrm>
          <a:prstGeom prst="rect">
            <a:avLst/>
          </a:prstGeom>
          <a:noFill/>
          <a:ln>
            <a:noFill/>
          </a:ln>
        </p:spPr>
        <p:txBody>
          <a:bodyPr spcFirstLastPara="1" wrap="square" lIns="91425" tIns="45700" rIns="91425" bIns="45700" anchor="t" anchorCtr="0">
            <a:noAutofit/>
          </a:bodyPr>
          <a:lstStyle/>
          <a:p>
            <a:pPr marL="457200" lvl="0" indent="-406400" algn="l" rtl="0">
              <a:lnSpc>
                <a:spcPct val="150000"/>
              </a:lnSpc>
              <a:spcBef>
                <a:spcPts val="0"/>
              </a:spcBef>
              <a:spcAft>
                <a:spcPts val="0"/>
              </a:spcAft>
              <a:buClr>
                <a:srgbClr val="0070C0"/>
              </a:buClr>
              <a:buSzPts val="2800"/>
              <a:buFont typeface="Calibri"/>
              <a:buChar char="●"/>
            </a:pPr>
            <a:r>
              <a:rPr lang="en-US" b="0">
                <a:solidFill>
                  <a:srgbClr val="0070C0"/>
                </a:solidFill>
                <a:latin typeface="Calibri"/>
                <a:ea typeface="Calibri"/>
                <a:cs typeface="Calibri"/>
                <a:sym typeface="Calibri"/>
              </a:rPr>
              <a:t>Medical-device complaints contain </a:t>
            </a:r>
            <a:r>
              <a:rPr lang="en-US">
                <a:solidFill>
                  <a:srgbClr val="0070C0"/>
                </a:solidFill>
                <a:latin typeface="Calibri"/>
                <a:ea typeface="Calibri"/>
                <a:cs typeface="Calibri"/>
                <a:sym typeface="Calibri"/>
              </a:rPr>
              <a:t>unstructured failure reports</a:t>
            </a:r>
            <a:r>
              <a:rPr lang="en-US" b="0">
                <a:solidFill>
                  <a:srgbClr val="0070C0"/>
                </a:solidFill>
                <a:latin typeface="Calibri"/>
                <a:ea typeface="Calibri"/>
                <a:cs typeface="Calibri"/>
                <a:sym typeface="Calibri"/>
              </a:rPr>
              <a:t>.</a:t>
            </a:r>
            <a:endParaRPr b="0">
              <a:solidFill>
                <a:srgbClr val="0070C0"/>
              </a:solidFill>
              <a:latin typeface="Calibri"/>
              <a:ea typeface="Calibri"/>
              <a:cs typeface="Calibri"/>
              <a:sym typeface="Calibri"/>
            </a:endParaRPr>
          </a:p>
          <a:p>
            <a:pPr marL="457200" lvl="0" indent="-406400" algn="l" rtl="0">
              <a:lnSpc>
                <a:spcPct val="150000"/>
              </a:lnSpc>
              <a:spcBef>
                <a:spcPts val="0"/>
              </a:spcBef>
              <a:spcAft>
                <a:spcPts val="0"/>
              </a:spcAft>
              <a:buClr>
                <a:srgbClr val="0070C0"/>
              </a:buClr>
              <a:buSzPts val="2800"/>
              <a:buFont typeface="Calibri"/>
              <a:buChar char="●"/>
            </a:pPr>
            <a:r>
              <a:rPr lang="en-US" b="0">
                <a:solidFill>
                  <a:srgbClr val="0070C0"/>
                </a:solidFill>
                <a:latin typeface="Calibri"/>
                <a:ea typeface="Calibri"/>
                <a:cs typeface="Calibri"/>
                <a:sym typeface="Calibri"/>
              </a:rPr>
              <a:t>Investigators need </a:t>
            </a:r>
            <a:r>
              <a:rPr lang="en-US">
                <a:solidFill>
                  <a:srgbClr val="0070C0"/>
                </a:solidFill>
                <a:latin typeface="Calibri"/>
                <a:ea typeface="Calibri"/>
                <a:cs typeface="Calibri"/>
                <a:sym typeface="Calibri"/>
              </a:rPr>
              <a:t>historical cases and regulatory evidence</a:t>
            </a:r>
            <a:r>
              <a:rPr lang="en-US" b="0">
                <a:solidFill>
                  <a:srgbClr val="0070C0"/>
                </a:solidFill>
                <a:latin typeface="Calibri"/>
                <a:ea typeface="Calibri"/>
                <a:cs typeface="Calibri"/>
                <a:sym typeface="Calibri"/>
              </a:rPr>
              <a:t>.</a:t>
            </a:r>
            <a:endParaRPr b="0">
              <a:solidFill>
                <a:srgbClr val="0070C0"/>
              </a:solidFill>
              <a:latin typeface="Calibri"/>
              <a:ea typeface="Calibri"/>
              <a:cs typeface="Calibri"/>
              <a:sym typeface="Calibri"/>
            </a:endParaRPr>
          </a:p>
          <a:p>
            <a:pPr marL="457200" lvl="0" indent="-406400" algn="l" rtl="0">
              <a:lnSpc>
                <a:spcPct val="150000"/>
              </a:lnSpc>
              <a:spcBef>
                <a:spcPts val="0"/>
              </a:spcBef>
              <a:spcAft>
                <a:spcPts val="0"/>
              </a:spcAft>
              <a:buClr>
                <a:srgbClr val="0070C0"/>
              </a:buClr>
              <a:buSzPts val="2800"/>
              <a:buFont typeface="Calibri"/>
              <a:buChar char="●"/>
            </a:pPr>
            <a:r>
              <a:rPr lang="en-US" b="0">
                <a:solidFill>
                  <a:srgbClr val="0070C0"/>
                </a:solidFill>
                <a:latin typeface="Calibri"/>
                <a:ea typeface="Calibri"/>
                <a:cs typeface="Calibri"/>
                <a:sym typeface="Calibri"/>
              </a:rPr>
              <a:t>MedTrace combines </a:t>
            </a:r>
            <a:r>
              <a:rPr lang="en-US">
                <a:solidFill>
                  <a:srgbClr val="0070C0"/>
                </a:solidFill>
                <a:latin typeface="Calibri"/>
                <a:ea typeface="Calibri"/>
                <a:cs typeface="Calibri"/>
                <a:sym typeface="Calibri"/>
              </a:rPr>
              <a:t>NLP, ML and RAG</a:t>
            </a:r>
            <a:r>
              <a:rPr lang="en-US" b="0">
                <a:solidFill>
                  <a:srgbClr val="0070C0"/>
                </a:solidFill>
                <a:latin typeface="Calibri"/>
                <a:ea typeface="Calibri"/>
                <a:cs typeface="Calibri"/>
                <a:sym typeface="Calibri"/>
              </a:rPr>
              <a:t> for complaint investigation.</a:t>
            </a:r>
            <a:endParaRPr b="0">
              <a:solidFill>
                <a:srgbClr val="0070C0"/>
              </a:solidFill>
              <a:latin typeface="Calibri"/>
              <a:ea typeface="Calibri"/>
              <a:cs typeface="Calibri"/>
              <a:sym typeface="Calibri"/>
            </a:endParaRPr>
          </a:p>
          <a:p>
            <a:pPr marL="457200" lvl="0" indent="-406400" algn="l" rtl="0">
              <a:lnSpc>
                <a:spcPct val="150000"/>
              </a:lnSpc>
              <a:spcBef>
                <a:spcPts val="0"/>
              </a:spcBef>
              <a:spcAft>
                <a:spcPts val="0"/>
              </a:spcAft>
              <a:buClr>
                <a:srgbClr val="0070C0"/>
              </a:buClr>
              <a:buSzPts val="2800"/>
              <a:buFont typeface="Calibri"/>
              <a:buChar char="●"/>
            </a:pPr>
            <a:r>
              <a:rPr lang="en-US" b="0">
                <a:solidFill>
                  <a:srgbClr val="0070C0"/>
                </a:solidFill>
                <a:latin typeface="Calibri"/>
                <a:ea typeface="Calibri"/>
                <a:cs typeface="Calibri"/>
                <a:sym typeface="Calibri"/>
              </a:rPr>
              <a:t>It links </a:t>
            </a:r>
            <a:r>
              <a:rPr lang="en-US">
                <a:solidFill>
                  <a:srgbClr val="0070C0"/>
                </a:solidFill>
                <a:latin typeface="Calibri"/>
                <a:ea typeface="Calibri"/>
                <a:cs typeface="Calibri"/>
                <a:sym typeface="Calibri"/>
              </a:rPr>
              <a:t>similar reports, recalls and device details</a:t>
            </a:r>
            <a:r>
              <a:rPr lang="en-US" b="0">
                <a:solidFill>
                  <a:srgbClr val="0070C0"/>
                </a:solidFill>
                <a:latin typeface="Calibri"/>
                <a:ea typeface="Calibri"/>
                <a:cs typeface="Calibri"/>
                <a:sym typeface="Calibri"/>
              </a:rPr>
              <a:t>.</a:t>
            </a:r>
            <a:endParaRPr b="0">
              <a:solidFill>
                <a:srgbClr val="0070C0"/>
              </a:solidFill>
              <a:latin typeface="Calibri"/>
              <a:ea typeface="Calibri"/>
              <a:cs typeface="Calibri"/>
              <a:sym typeface="Calibri"/>
            </a:endParaRPr>
          </a:p>
          <a:p>
            <a:pPr marL="457200" lvl="0" indent="-406400" algn="l" rtl="0">
              <a:lnSpc>
                <a:spcPct val="150000"/>
              </a:lnSpc>
              <a:spcBef>
                <a:spcPts val="0"/>
              </a:spcBef>
              <a:spcAft>
                <a:spcPts val="0"/>
              </a:spcAft>
              <a:buClr>
                <a:srgbClr val="0070C0"/>
              </a:buClr>
              <a:buSzPts val="2800"/>
              <a:buFont typeface="Calibri"/>
              <a:buChar char="●"/>
            </a:pPr>
            <a:r>
              <a:rPr lang="en-US" b="0">
                <a:solidFill>
                  <a:srgbClr val="0070C0"/>
                </a:solidFill>
                <a:latin typeface="Calibri"/>
                <a:ea typeface="Calibri"/>
                <a:cs typeface="Calibri"/>
                <a:sym typeface="Calibri"/>
              </a:rPr>
              <a:t>The platform supports </a:t>
            </a:r>
            <a:r>
              <a:rPr lang="en-US">
                <a:solidFill>
                  <a:srgbClr val="0070C0"/>
                </a:solidFill>
                <a:latin typeface="Calibri"/>
                <a:ea typeface="Calibri"/>
                <a:cs typeface="Calibri"/>
                <a:sym typeface="Calibri"/>
              </a:rPr>
              <a:t>evidence-based review</a:t>
            </a:r>
            <a:r>
              <a:rPr lang="en-US" b="0">
                <a:solidFill>
                  <a:srgbClr val="0070C0"/>
                </a:solidFill>
                <a:latin typeface="Calibri"/>
                <a:ea typeface="Calibri"/>
                <a:cs typeface="Calibri"/>
                <a:sym typeface="Calibri"/>
              </a:rPr>
              <a:t> by quality teams.</a:t>
            </a:r>
            <a:endParaRPr b="0">
              <a:solidFill>
                <a:srgbClr val="0070C0"/>
              </a:solidFill>
              <a:latin typeface="Calibri"/>
              <a:ea typeface="Calibri"/>
              <a:cs typeface="Calibri"/>
              <a:sym typeface="Calibri"/>
            </a:endParaRPr>
          </a:p>
          <a:p>
            <a:pPr marL="0" lvl="0" indent="0" algn="l" rtl="0">
              <a:lnSpc>
                <a:spcPct val="150000"/>
              </a:lnSpc>
              <a:spcBef>
                <a:spcPts val="0"/>
              </a:spcBef>
              <a:spcAft>
                <a:spcPts val="0"/>
              </a:spcAft>
              <a:buClr>
                <a:srgbClr val="5583D1"/>
              </a:buClr>
              <a:buSzPts val="2400"/>
              <a:buNone/>
            </a:pPr>
            <a:endParaRPr>
              <a:solidFill>
                <a:schemeClr val="dk1"/>
              </a:solidFill>
              <a:latin typeface="Calibri"/>
              <a:ea typeface="Calibri"/>
              <a:cs typeface="Calibri"/>
              <a:sym typeface="Calibri"/>
            </a:endParaRPr>
          </a:p>
        </p:txBody>
      </p:sp>
      <p:sp>
        <p:nvSpPr>
          <p:cNvPr id="74" name="Google Shape;74;p16"/>
          <p:cNvSpPr txBox="1"/>
          <p:nvPr/>
        </p:nvSpPr>
        <p:spPr>
          <a:xfrm>
            <a:off x="255996" y="502545"/>
            <a:ext cx="10624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E4E79"/>
              </a:buClr>
              <a:buSzPts val="3600"/>
              <a:buFont typeface="Calibri"/>
              <a:buNone/>
            </a:pPr>
            <a:r>
              <a:rPr lang="en-US" sz="3600" b="1" i="0" u="none" strike="noStrike" cap="none">
                <a:solidFill>
                  <a:srgbClr val="1E4E79"/>
                </a:solidFill>
                <a:latin typeface="Calibri"/>
                <a:ea typeface="Calibri"/>
                <a:cs typeface="Calibri"/>
                <a:sym typeface="Calibri"/>
              </a:rPr>
              <a:t>Introduction</a:t>
            </a:r>
            <a:endParaRPr sz="1400" b="0" i="0" u="none" strike="noStrike" cap="none">
              <a:solidFill>
                <a:srgbClr val="000000"/>
              </a:solidFill>
              <a:latin typeface="Arial"/>
              <a:ea typeface="Arial"/>
              <a:cs typeface="Arial"/>
              <a:sym typeface="Arial"/>
            </a:endParaRPr>
          </a:p>
        </p:txBody>
      </p:sp>
      <p:cxnSp>
        <p:nvCxnSpPr>
          <p:cNvPr id="75" name="Google Shape;75;p16"/>
          <p:cNvCxnSpPr/>
          <p:nvPr/>
        </p:nvCxnSpPr>
        <p:spPr>
          <a:xfrm>
            <a:off x="221274" y="1191756"/>
            <a:ext cx="7305799" cy="0"/>
          </a:xfrm>
          <a:prstGeom prst="straightConnector1">
            <a:avLst/>
          </a:prstGeom>
          <a:noFill/>
          <a:ln w="28575" cap="flat" cmpd="sng">
            <a:solidFill>
              <a:schemeClr val="accent6"/>
            </a:solidFill>
            <a:prstDash val="solid"/>
            <a:miter lim="0"/>
            <a:headEnd type="none" w="sm" len="sm"/>
            <a:tailEnd type="none" w="sm" len="sm"/>
          </a:ln>
        </p:spPr>
      </p:cxnSp>
      <p:sp>
        <p:nvSpPr>
          <p:cNvPr id="76" name="Google Shape;76;p16"/>
          <p:cNvSpPr txBox="1"/>
          <p:nvPr/>
        </p:nvSpPr>
        <p:spPr>
          <a:xfrm>
            <a:off x="3444178" y="57025"/>
            <a:ext cx="8747700" cy="6465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en-US" sz="1800" b="1" i="1" u="none" strike="noStrike" cap="none">
                <a:solidFill>
                  <a:srgbClr val="FFFFFF"/>
                </a:solidFill>
                <a:latin typeface="Calibri"/>
                <a:ea typeface="Calibri"/>
                <a:cs typeface="Calibri"/>
                <a:sym typeface="Calibri"/>
              </a:rPr>
              <a:t>MedTrace AI - Medical Device Complaint Investigation Platform</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p:nvPr/>
        </p:nvSpPr>
        <p:spPr>
          <a:xfrm>
            <a:off x="255996" y="502545"/>
            <a:ext cx="10624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E4E79"/>
              </a:buClr>
              <a:buSzPts val="3600"/>
              <a:buFont typeface="Calibri"/>
              <a:buNone/>
            </a:pPr>
            <a:r>
              <a:rPr lang="en-US" sz="3600" b="1" i="0" u="none" strike="noStrike" cap="none">
                <a:solidFill>
                  <a:srgbClr val="1E4E79"/>
                </a:solidFill>
                <a:latin typeface="Calibri"/>
                <a:ea typeface="Calibri"/>
                <a:cs typeface="Calibri"/>
                <a:sym typeface="Calibri"/>
              </a:rPr>
              <a:t>Objective</a:t>
            </a:r>
            <a:endParaRPr sz="1400" b="0" i="0" u="none" strike="noStrike" cap="none">
              <a:solidFill>
                <a:srgbClr val="000000"/>
              </a:solidFill>
              <a:latin typeface="Arial"/>
              <a:ea typeface="Arial"/>
              <a:cs typeface="Arial"/>
              <a:sym typeface="Arial"/>
            </a:endParaRPr>
          </a:p>
        </p:txBody>
      </p:sp>
      <p:cxnSp>
        <p:nvCxnSpPr>
          <p:cNvPr id="82" name="Google Shape;82;p17"/>
          <p:cNvCxnSpPr/>
          <p:nvPr/>
        </p:nvCxnSpPr>
        <p:spPr>
          <a:xfrm>
            <a:off x="221274" y="1191756"/>
            <a:ext cx="7305799" cy="0"/>
          </a:xfrm>
          <a:prstGeom prst="straightConnector1">
            <a:avLst/>
          </a:prstGeom>
          <a:noFill/>
          <a:ln w="28575" cap="flat" cmpd="sng">
            <a:solidFill>
              <a:schemeClr val="accent6"/>
            </a:solidFill>
            <a:prstDash val="solid"/>
            <a:miter lim="0"/>
            <a:headEnd type="none" w="sm" len="sm"/>
            <a:tailEnd type="none" w="sm" len="sm"/>
          </a:ln>
        </p:spPr>
      </p:cxnSp>
      <p:sp>
        <p:nvSpPr>
          <p:cNvPr id="83" name="Google Shape;83;p17"/>
          <p:cNvSpPr txBox="1"/>
          <p:nvPr/>
        </p:nvSpPr>
        <p:spPr>
          <a:xfrm>
            <a:off x="3216575" y="57025"/>
            <a:ext cx="8975400" cy="9234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1800"/>
              <a:buFont typeface="Arial"/>
              <a:buNone/>
            </a:pPr>
            <a:r>
              <a:rPr lang="en-US" sz="1800" b="1" i="1" u="none" strike="noStrike" cap="none">
                <a:solidFill>
                  <a:schemeClr val="lt1"/>
                </a:solidFill>
                <a:latin typeface="Calibri"/>
                <a:ea typeface="Calibri"/>
                <a:cs typeface="Calibri"/>
                <a:sym typeface="Calibri"/>
              </a:rPr>
              <a:t>MedTrace AI - Medical Device Complaint Investigation Platform</a:t>
            </a:r>
            <a:endParaRPr sz="1400" b="0" i="0" u="none" strike="noStrike" cap="none">
              <a:solidFill>
                <a:schemeClr val="dk1"/>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800" b="1" i="1" u="none" strike="noStrike" cap="none">
              <a:solidFill>
                <a:srgbClr val="FFFFFF"/>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4" name="Google Shape;84;p17"/>
          <p:cNvSpPr txBox="1"/>
          <p:nvPr/>
        </p:nvSpPr>
        <p:spPr>
          <a:xfrm>
            <a:off x="493475" y="1149050"/>
            <a:ext cx="10624200" cy="4956000"/>
          </a:xfrm>
          <a:prstGeom prst="rect">
            <a:avLst/>
          </a:prstGeom>
          <a:noFill/>
          <a:ln>
            <a:noFill/>
          </a:ln>
        </p:spPr>
        <p:txBody>
          <a:bodyPr spcFirstLastPara="1" wrap="square" lIns="91425" tIns="91425" rIns="91425" bIns="91425" anchor="t" anchorCtr="0">
            <a:noAutofit/>
          </a:bodyPr>
          <a:lstStyle/>
          <a:p>
            <a:pPr marL="457200" marR="0" lvl="0" indent="-406400" algn="l" rtl="0">
              <a:lnSpc>
                <a:spcPct val="115000"/>
              </a:lnSpc>
              <a:spcBef>
                <a:spcPts val="1200"/>
              </a:spcBef>
              <a:spcAft>
                <a:spcPts val="0"/>
              </a:spcAft>
              <a:buClr>
                <a:srgbClr val="0070C0"/>
              </a:buClr>
              <a:buSzPts val="2800"/>
              <a:buFont typeface="Arial"/>
              <a:buChar char="●"/>
            </a:pPr>
            <a:r>
              <a:rPr lang="en-US" sz="2800" b="0" i="0" u="none" strike="noStrike" cap="none">
                <a:solidFill>
                  <a:srgbClr val="0070C0"/>
                </a:solidFill>
                <a:latin typeface="Calibri"/>
                <a:ea typeface="Calibri"/>
                <a:cs typeface="Calibri"/>
                <a:sym typeface="Calibri"/>
              </a:rPr>
              <a:t>Extract device problems and patient effects from complaint narratives.</a:t>
            </a:r>
            <a:endParaRPr sz="2800" b="0" i="0" u="none" strike="noStrike" cap="none">
              <a:solidFill>
                <a:srgbClr val="0070C0"/>
              </a:solidFill>
              <a:latin typeface="Calibri"/>
              <a:ea typeface="Calibri"/>
              <a:cs typeface="Calibri"/>
              <a:sym typeface="Calibri"/>
            </a:endParaRPr>
          </a:p>
          <a:p>
            <a:pPr marL="457200" marR="0" lvl="0" indent="-406400" algn="l" rtl="0">
              <a:lnSpc>
                <a:spcPct val="115000"/>
              </a:lnSpc>
              <a:spcBef>
                <a:spcPts val="0"/>
              </a:spcBef>
              <a:spcAft>
                <a:spcPts val="0"/>
              </a:spcAft>
              <a:buClr>
                <a:srgbClr val="0070C0"/>
              </a:buClr>
              <a:buSzPts val="2800"/>
              <a:buFont typeface="Arial"/>
              <a:buChar char="●"/>
            </a:pPr>
            <a:r>
              <a:rPr lang="en-US" sz="2800" b="0" i="0" u="none" strike="noStrike" cap="none">
                <a:solidFill>
                  <a:srgbClr val="0070C0"/>
                </a:solidFill>
                <a:latin typeface="Calibri"/>
                <a:ea typeface="Calibri"/>
                <a:cs typeface="Calibri"/>
                <a:sym typeface="Calibri"/>
              </a:rPr>
              <a:t>Retrieve similar cases and relevant recall evidence.</a:t>
            </a:r>
            <a:endParaRPr sz="2800" b="0" i="0" u="none" strike="noStrike" cap="none">
              <a:solidFill>
                <a:srgbClr val="0070C0"/>
              </a:solidFill>
              <a:latin typeface="Calibri"/>
              <a:ea typeface="Calibri"/>
              <a:cs typeface="Calibri"/>
              <a:sym typeface="Calibri"/>
            </a:endParaRPr>
          </a:p>
          <a:p>
            <a:pPr marL="457200" marR="0" lvl="0" indent="-406400" algn="l" rtl="0">
              <a:lnSpc>
                <a:spcPct val="115000"/>
              </a:lnSpc>
              <a:spcBef>
                <a:spcPts val="0"/>
              </a:spcBef>
              <a:spcAft>
                <a:spcPts val="0"/>
              </a:spcAft>
              <a:buClr>
                <a:srgbClr val="0070C0"/>
              </a:buClr>
              <a:buSzPts val="2800"/>
              <a:buFont typeface="Arial"/>
              <a:buChar char="●"/>
            </a:pPr>
            <a:r>
              <a:rPr lang="en-US" sz="2800" b="0" i="0" u="none" strike="noStrike" cap="none">
                <a:solidFill>
                  <a:srgbClr val="0070C0"/>
                </a:solidFill>
                <a:latin typeface="Calibri"/>
                <a:ea typeface="Calibri"/>
                <a:cs typeface="Calibri"/>
                <a:sym typeface="Calibri"/>
              </a:rPr>
              <a:t>Prioritize investigations using transparent scoring rules.</a:t>
            </a:r>
            <a:endParaRPr sz="2800" b="0" i="0" u="none" strike="noStrike" cap="none">
              <a:solidFill>
                <a:srgbClr val="0070C0"/>
              </a:solidFill>
              <a:latin typeface="Calibri"/>
              <a:ea typeface="Calibri"/>
              <a:cs typeface="Calibri"/>
              <a:sym typeface="Calibri"/>
            </a:endParaRPr>
          </a:p>
          <a:p>
            <a:pPr marL="457200" marR="0" lvl="0" indent="-406400" algn="l" rtl="0">
              <a:lnSpc>
                <a:spcPct val="115000"/>
              </a:lnSpc>
              <a:spcBef>
                <a:spcPts val="0"/>
              </a:spcBef>
              <a:spcAft>
                <a:spcPts val="0"/>
              </a:spcAft>
              <a:buClr>
                <a:srgbClr val="0070C0"/>
              </a:buClr>
              <a:buSzPts val="2800"/>
              <a:buFont typeface="Arial"/>
              <a:buChar char="●"/>
            </a:pPr>
            <a:r>
              <a:rPr lang="en-US" sz="2800" b="0" i="0" u="none" strike="noStrike" cap="none">
                <a:solidFill>
                  <a:srgbClr val="0070C0"/>
                </a:solidFill>
                <a:latin typeface="Calibri"/>
                <a:ea typeface="Calibri"/>
                <a:cs typeface="Calibri"/>
                <a:sym typeface="Calibri"/>
              </a:rPr>
              <a:t>Generate cited summaries and identify missing evidence.</a:t>
            </a:r>
            <a:endParaRPr sz="2800" b="0" i="0" u="none" strike="noStrike" cap="none">
              <a:solidFill>
                <a:srgbClr val="0070C0"/>
              </a:solidFill>
              <a:latin typeface="Calibri"/>
              <a:ea typeface="Calibri"/>
              <a:cs typeface="Calibri"/>
              <a:sym typeface="Calibri"/>
            </a:endParaRPr>
          </a:p>
          <a:p>
            <a:pPr marL="457200" marR="0" lvl="0" indent="-406400" algn="l" rtl="0">
              <a:lnSpc>
                <a:spcPct val="115000"/>
              </a:lnSpc>
              <a:spcBef>
                <a:spcPts val="0"/>
              </a:spcBef>
              <a:spcAft>
                <a:spcPts val="0"/>
              </a:spcAft>
              <a:buClr>
                <a:srgbClr val="0070C0"/>
              </a:buClr>
              <a:buSzPts val="2800"/>
              <a:buFont typeface="Arial"/>
              <a:buChar char="●"/>
            </a:pPr>
            <a:r>
              <a:rPr lang="en-US" sz="2800" b="0" i="0" u="none" strike="noStrike" cap="none">
                <a:solidFill>
                  <a:srgbClr val="0070C0"/>
                </a:solidFill>
                <a:latin typeface="Calibri"/>
                <a:ea typeface="Calibri"/>
                <a:cs typeface="Calibri"/>
                <a:sym typeface="Calibri"/>
              </a:rPr>
              <a:t>Compare keyword search, basic RAG and the proposed workflow.</a:t>
            </a:r>
            <a:endParaRPr sz="2800" b="0" i="0" u="none" strike="noStrike" cap="none">
              <a:solidFill>
                <a:srgbClr val="0070C0"/>
              </a:solidFill>
              <a:latin typeface="Calibri"/>
              <a:ea typeface="Calibri"/>
              <a:cs typeface="Calibri"/>
              <a:sym typeface="Calibri"/>
            </a:endParaRPr>
          </a:p>
          <a:p>
            <a:pPr marL="0" marR="0" lvl="0" indent="0" algn="l" rtl="0">
              <a:lnSpc>
                <a:spcPct val="150000"/>
              </a:lnSpc>
              <a:spcBef>
                <a:spcPts val="1200"/>
              </a:spcBef>
              <a:spcAft>
                <a:spcPts val="0"/>
              </a:spcAft>
              <a:buClr>
                <a:srgbClr val="5583D1"/>
              </a:buClr>
              <a:buSzPts val="2400"/>
              <a:buFont typeface="Arial"/>
              <a:buNone/>
            </a:pPr>
            <a:endParaRPr sz="2400" b="0" i="0" u="none" strike="noStrike" cap="none">
              <a:solidFill>
                <a:srgbClr val="5583D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5583D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body" idx="1"/>
          </p:nvPr>
        </p:nvSpPr>
        <p:spPr>
          <a:xfrm>
            <a:off x="256000" y="1271225"/>
            <a:ext cx="11654400" cy="5055600"/>
          </a:xfrm>
          <a:prstGeom prst="rect">
            <a:avLst/>
          </a:prstGeom>
          <a:noFill/>
          <a:ln>
            <a:noFill/>
          </a:ln>
        </p:spPr>
        <p:txBody>
          <a:bodyPr spcFirstLastPara="1" wrap="square" lIns="91425" tIns="45700" rIns="91425" bIns="45700" anchor="t" anchorCtr="0">
            <a:noAutofit/>
          </a:bodyPr>
          <a:lstStyle/>
          <a:p>
            <a:pPr marL="457200" lvl="0" indent="-406400" algn="l" rtl="0">
              <a:lnSpc>
                <a:spcPct val="150000"/>
              </a:lnSpc>
              <a:spcBef>
                <a:spcPts val="1200"/>
              </a:spcBef>
              <a:spcAft>
                <a:spcPts val="0"/>
              </a:spcAft>
              <a:buClr>
                <a:srgbClr val="0070C0"/>
              </a:buClr>
              <a:buSzPts val="2800"/>
              <a:buChar char="●"/>
            </a:pPr>
            <a:r>
              <a:rPr lang="en-US" b="0" dirty="0">
                <a:solidFill>
                  <a:srgbClr val="0070C0"/>
                </a:solidFill>
                <a:latin typeface="Calibri"/>
                <a:ea typeface="Calibri"/>
                <a:cs typeface="Calibri"/>
                <a:sym typeface="Calibri"/>
              </a:rPr>
              <a:t>Uses </a:t>
            </a:r>
            <a:r>
              <a:rPr lang="en-US" dirty="0">
                <a:solidFill>
                  <a:srgbClr val="0070C0"/>
                </a:solidFill>
                <a:latin typeface="Calibri"/>
                <a:ea typeface="Calibri"/>
                <a:cs typeface="Calibri"/>
                <a:sym typeface="Calibri"/>
              </a:rPr>
              <a:t>public MAUDE reports</a:t>
            </a:r>
            <a:r>
              <a:rPr lang="en-US" b="0" dirty="0">
                <a:solidFill>
                  <a:srgbClr val="0070C0"/>
                </a:solidFill>
                <a:latin typeface="Calibri"/>
                <a:ea typeface="Calibri"/>
                <a:cs typeface="Calibri"/>
                <a:sym typeface="Calibri"/>
              </a:rPr>
              <a:t> with minimal synthetic data.</a:t>
            </a:r>
            <a:endParaRPr b="0" dirty="0">
              <a:solidFill>
                <a:srgbClr val="0070C0"/>
              </a:solidFill>
              <a:latin typeface="Calibri"/>
              <a:ea typeface="Calibri"/>
              <a:cs typeface="Calibri"/>
              <a:sym typeface="Calibri"/>
            </a:endParaRPr>
          </a:p>
          <a:p>
            <a:pPr marL="457200" lvl="0" indent="-406400" algn="l" rtl="0">
              <a:lnSpc>
                <a:spcPct val="150000"/>
              </a:lnSpc>
              <a:spcBef>
                <a:spcPts val="0"/>
              </a:spcBef>
              <a:spcAft>
                <a:spcPts val="0"/>
              </a:spcAft>
              <a:buClr>
                <a:srgbClr val="0070C0"/>
              </a:buClr>
              <a:buSzPts val="2800"/>
              <a:buChar char="●"/>
            </a:pPr>
            <a:r>
              <a:rPr lang="en-US" b="0" dirty="0">
                <a:solidFill>
                  <a:srgbClr val="0070C0"/>
                </a:solidFill>
                <a:latin typeface="Calibri"/>
                <a:ea typeface="Calibri"/>
                <a:cs typeface="Calibri"/>
                <a:sym typeface="Calibri"/>
              </a:rPr>
              <a:t>Covers </a:t>
            </a:r>
            <a:r>
              <a:rPr lang="en-US" dirty="0">
                <a:solidFill>
                  <a:srgbClr val="0070C0"/>
                </a:solidFill>
                <a:latin typeface="Calibri"/>
                <a:ea typeface="Calibri"/>
                <a:cs typeface="Calibri"/>
                <a:sym typeface="Calibri"/>
              </a:rPr>
              <a:t>selected device categories</a:t>
            </a:r>
            <a:r>
              <a:rPr lang="en-US" b="0" dirty="0">
                <a:solidFill>
                  <a:srgbClr val="0070C0"/>
                </a:solidFill>
                <a:latin typeface="Calibri"/>
                <a:ea typeface="Calibri"/>
                <a:cs typeface="Calibri"/>
                <a:sym typeface="Calibri"/>
              </a:rPr>
              <a:t> and reported failure patterns.</a:t>
            </a:r>
            <a:endParaRPr b="0" dirty="0">
              <a:solidFill>
                <a:srgbClr val="0070C0"/>
              </a:solidFill>
              <a:latin typeface="Calibri"/>
              <a:ea typeface="Calibri"/>
              <a:cs typeface="Calibri"/>
              <a:sym typeface="Calibri"/>
            </a:endParaRPr>
          </a:p>
          <a:p>
            <a:pPr marL="457200" lvl="0" indent="-406400" algn="l" rtl="0">
              <a:lnSpc>
                <a:spcPct val="150000"/>
              </a:lnSpc>
              <a:spcBef>
                <a:spcPts val="0"/>
              </a:spcBef>
              <a:spcAft>
                <a:spcPts val="0"/>
              </a:spcAft>
              <a:buClr>
                <a:srgbClr val="0070C0"/>
              </a:buClr>
              <a:buSzPts val="2800"/>
              <a:buChar char="●"/>
            </a:pPr>
            <a:r>
              <a:rPr lang="en-US" b="0" dirty="0">
                <a:solidFill>
                  <a:srgbClr val="0070C0"/>
                </a:solidFill>
                <a:latin typeface="Calibri"/>
                <a:ea typeface="Calibri"/>
                <a:cs typeface="Calibri"/>
                <a:sym typeface="Calibri"/>
              </a:rPr>
              <a:t>Combines </a:t>
            </a:r>
            <a:r>
              <a:rPr lang="en-US" dirty="0">
                <a:solidFill>
                  <a:srgbClr val="0070C0"/>
                </a:solidFill>
                <a:latin typeface="Calibri"/>
                <a:ea typeface="Calibri"/>
                <a:cs typeface="Calibri"/>
                <a:sym typeface="Calibri"/>
              </a:rPr>
              <a:t>device metadata, recall records and FDA guidance</a:t>
            </a:r>
            <a:r>
              <a:rPr lang="en-US" b="0" dirty="0">
                <a:solidFill>
                  <a:srgbClr val="0070C0"/>
                </a:solidFill>
                <a:latin typeface="Calibri"/>
                <a:ea typeface="Calibri"/>
                <a:cs typeface="Calibri"/>
                <a:sym typeface="Calibri"/>
              </a:rPr>
              <a:t>.</a:t>
            </a:r>
            <a:endParaRPr b="0" dirty="0">
              <a:solidFill>
                <a:srgbClr val="0070C0"/>
              </a:solidFill>
              <a:latin typeface="Calibri"/>
              <a:ea typeface="Calibri"/>
              <a:cs typeface="Calibri"/>
              <a:sym typeface="Calibri"/>
            </a:endParaRPr>
          </a:p>
          <a:p>
            <a:pPr marL="457200" lvl="0" indent="-406400" algn="l" rtl="0">
              <a:lnSpc>
                <a:spcPct val="150000"/>
              </a:lnSpc>
              <a:spcBef>
                <a:spcPts val="0"/>
              </a:spcBef>
              <a:spcAft>
                <a:spcPts val="0"/>
              </a:spcAft>
              <a:buClr>
                <a:srgbClr val="0070C0"/>
              </a:buClr>
              <a:buSzPts val="2800"/>
              <a:buChar char="●"/>
            </a:pPr>
            <a:r>
              <a:rPr lang="en-US" b="0" dirty="0">
                <a:solidFill>
                  <a:srgbClr val="0070C0"/>
                </a:solidFill>
                <a:latin typeface="Calibri"/>
                <a:ea typeface="Calibri"/>
                <a:cs typeface="Calibri"/>
                <a:sym typeface="Calibri"/>
              </a:rPr>
              <a:t>Evaluates </a:t>
            </a:r>
            <a:r>
              <a:rPr lang="en-US" dirty="0">
                <a:solidFill>
                  <a:srgbClr val="0070C0"/>
                </a:solidFill>
                <a:latin typeface="Calibri"/>
                <a:ea typeface="Calibri"/>
                <a:cs typeface="Calibri"/>
                <a:sym typeface="Calibri"/>
              </a:rPr>
              <a:t>extraction, retrieval and citation quality</a:t>
            </a:r>
            <a:r>
              <a:rPr lang="en-US" b="0" dirty="0">
                <a:solidFill>
                  <a:srgbClr val="0070C0"/>
                </a:solidFill>
                <a:latin typeface="Calibri"/>
                <a:ea typeface="Calibri"/>
                <a:cs typeface="Calibri"/>
                <a:sym typeface="Calibri"/>
              </a:rPr>
              <a:t> on held-out cases.</a:t>
            </a:r>
            <a:endParaRPr b="0" dirty="0">
              <a:solidFill>
                <a:srgbClr val="0070C0"/>
              </a:solidFill>
              <a:latin typeface="Calibri"/>
              <a:ea typeface="Calibri"/>
              <a:cs typeface="Calibri"/>
              <a:sym typeface="Calibri"/>
            </a:endParaRPr>
          </a:p>
          <a:p>
            <a:pPr marL="457200" lvl="0" indent="-406400" algn="l" rtl="0">
              <a:lnSpc>
                <a:spcPct val="150000"/>
              </a:lnSpc>
              <a:spcBef>
                <a:spcPts val="0"/>
              </a:spcBef>
              <a:spcAft>
                <a:spcPts val="0"/>
              </a:spcAft>
              <a:buClr>
                <a:srgbClr val="0070C0"/>
              </a:buClr>
              <a:buSzPts val="2800"/>
              <a:buChar char="●"/>
            </a:pPr>
            <a:r>
              <a:rPr lang="en-US" b="0" dirty="0">
                <a:solidFill>
                  <a:srgbClr val="0070C0"/>
                </a:solidFill>
                <a:latin typeface="Calibri"/>
                <a:ea typeface="Calibri"/>
                <a:cs typeface="Calibri"/>
                <a:sym typeface="Calibri"/>
              </a:rPr>
              <a:t>Provides </a:t>
            </a:r>
            <a:r>
              <a:rPr lang="en-US" dirty="0">
                <a:solidFill>
                  <a:srgbClr val="0070C0"/>
                </a:solidFill>
                <a:latin typeface="Calibri"/>
                <a:ea typeface="Calibri"/>
                <a:cs typeface="Calibri"/>
                <a:sym typeface="Calibri"/>
              </a:rPr>
              <a:t>human-reviewed recommendations</a:t>
            </a:r>
            <a:r>
              <a:rPr lang="en-US" b="0" dirty="0">
                <a:solidFill>
                  <a:srgbClr val="0070C0"/>
                </a:solidFill>
                <a:latin typeface="Calibri"/>
                <a:ea typeface="Calibri"/>
                <a:cs typeface="Calibri"/>
                <a:sym typeface="Calibri"/>
              </a:rPr>
              <a:t> within a US FDA scope.</a:t>
            </a:r>
            <a:endParaRPr b="0" dirty="0">
              <a:solidFill>
                <a:srgbClr val="0070C0"/>
              </a:solidFill>
              <a:latin typeface="Calibri"/>
              <a:ea typeface="Calibri"/>
              <a:cs typeface="Calibri"/>
              <a:sym typeface="Calibri"/>
            </a:endParaRPr>
          </a:p>
          <a:p>
            <a:pPr marL="0" lvl="0" indent="0" algn="l" rtl="0">
              <a:lnSpc>
                <a:spcPct val="150000"/>
              </a:lnSpc>
              <a:spcBef>
                <a:spcPts val="1200"/>
              </a:spcBef>
              <a:spcAft>
                <a:spcPts val="0"/>
              </a:spcAft>
              <a:buClr>
                <a:srgbClr val="5583D1"/>
              </a:buClr>
              <a:buSzPts val="2400"/>
              <a:buNone/>
            </a:pPr>
            <a:endParaRPr b="0" dirty="0">
              <a:solidFill>
                <a:schemeClr val="dk1"/>
              </a:solidFill>
              <a:latin typeface="Calibri"/>
              <a:ea typeface="Calibri"/>
              <a:cs typeface="Calibri"/>
              <a:sym typeface="Calibri"/>
            </a:endParaRPr>
          </a:p>
        </p:txBody>
      </p:sp>
      <p:sp>
        <p:nvSpPr>
          <p:cNvPr id="90" name="Google Shape;90;p18"/>
          <p:cNvSpPr txBox="1"/>
          <p:nvPr/>
        </p:nvSpPr>
        <p:spPr>
          <a:xfrm>
            <a:off x="255996" y="502545"/>
            <a:ext cx="10624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E4E79"/>
              </a:buClr>
              <a:buSzPts val="3600"/>
              <a:buFont typeface="Calibri"/>
              <a:buNone/>
            </a:pPr>
            <a:r>
              <a:rPr lang="en-US" sz="3600" b="1" i="0" u="none" strike="noStrike" cap="none">
                <a:solidFill>
                  <a:srgbClr val="1E4E79"/>
                </a:solidFill>
                <a:latin typeface="Calibri"/>
                <a:ea typeface="Calibri"/>
                <a:cs typeface="Calibri"/>
                <a:sym typeface="Calibri"/>
              </a:rPr>
              <a:t>Scope</a:t>
            </a:r>
            <a:endParaRPr sz="1400" b="0" i="0" u="none" strike="noStrike" cap="none">
              <a:solidFill>
                <a:srgbClr val="000000"/>
              </a:solidFill>
              <a:latin typeface="Arial"/>
              <a:ea typeface="Arial"/>
              <a:cs typeface="Arial"/>
              <a:sym typeface="Arial"/>
            </a:endParaRPr>
          </a:p>
        </p:txBody>
      </p:sp>
      <p:cxnSp>
        <p:nvCxnSpPr>
          <p:cNvPr id="91" name="Google Shape;91;p18"/>
          <p:cNvCxnSpPr/>
          <p:nvPr/>
        </p:nvCxnSpPr>
        <p:spPr>
          <a:xfrm>
            <a:off x="221274" y="1191756"/>
            <a:ext cx="7305799" cy="0"/>
          </a:xfrm>
          <a:prstGeom prst="straightConnector1">
            <a:avLst/>
          </a:prstGeom>
          <a:noFill/>
          <a:ln w="28575" cap="flat" cmpd="sng">
            <a:solidFill>
              <a:schemeClr val="accent6"/>
            </a:solidFill>
            <a:prstDash val="solid"/>
            <a:miter lim="0"/>
            <a:headEnd type="none" w="sm" len="sm"/>
            <a:tailEnd type="none" w="sm" len="sm"/>
          </a:ln>
        </p:spPr>
      </p:cxnSp>
      <p:sp>
        <p:nvSpPr>
          <p:cNvPr id="92" name="Google Shape;92;p18"/>
          <p:cNvSpPr txBox="1"/>
          <p:nvPr/>
        </p:nvSpPr>
        <p:spPr>
          <a:xfrm>
            <a:off x="2867629" y="57025"/>
            <a:ext cx="9324300" cy="861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1800"/>
              <a:buFont typeface="Arial"/>
              <a:buNone/>
            </a:pPr>
            <a:r>
              <a:rPr lang="en-US" sz="1800" b="1" i="1" u="none" strike="noStrike" cap="none">
                <a:solidFill>
                  <a:schemeClr val="lt1"/>
                </a:solidFill>
                <a:latin typeface="Calibri"/>
                <a:ea typeface="Calibri"/>
                <a:cs typeface="Calibri"/>
                <a:sym typeface="Calibri"/>
              </a:rPr>
              <a:t>MedTrace AI - Medical Device Complaint Investigation Platform</a:t>
            </a:r>
            <a:endParaRPr sz="1400" b="0" i="0" u="none" strike="noStrike" cap="none">
              <a:solidFill>
                <a:schemeClr val="dk1"/>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p:nvPr/>
        </p:nvSpPr>
        <p:spPr>
          <a:xfrm>
            <a:off x="255996" y="502545"/>
            <a:ext cx="10624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E4E79"/>
              </a:buClr>
              <a:buSzPts val="3600"/>
              <a:buFont typeface="Calibri"/>
              <a:buNone/>
            </a:pPr>
            <a:r>
              <a:rPr lang="en-US" sz="3600" b="1" i="0" u="none" strike="noStrike" cap="none">
                <a:solidFill>
                  <a:srgbClr val="1E4E79"/>
                </a:solidFill>
                <a:latin typeface="Calibri"/>
                <a:ea typeface="Calibri"/>
                <a:cs typeface="Calibri"/>
                <a:sym typeface="Calibri"/>
              </a:rPr>
              <a:t>Literature Review</a:t>
            </a:r>
            <a:endParaRPr sz="1400" b="0" i="0" u="none" strike="noStrike" cap="none">
              <a:solidFill>
                <a:srgbClr val="000000"/>
              </a:solidFill>
              <a:latin typeface="Arial"/>
              <a:ea typeface="Arial"/>
              <a:cs typeface="Arial"/>
              <a:sym typeface="Arial"/>
            </a:endParaRPr>
          </a:p>
        </p:txBody>
      </p:sp>
      <p:cxnSp>
        <p:nvCxnSpPr>
          <p:cNvPr id="98" name="Google Shape;98;p19"/>
          <p:cNvCxnSpPr/>
          <p:nvPr/>
        </p:nvCxnSpPr>
        <p:spPr>
          <a:xfrm>
            <a:off x="221274" y="1191756"/>
            <a:ext cx="7305799" cy="0"/>
          </a:xfrm>
          <a:prstGeom prst="straightConnector1">
            <a:avLst/>
          </a:prstGeom>
          <a:noFill/>
          <a:ln w="28575" cap="flat" cmpd="sng">
            <a:solidFill>
              <a:schemeClr val="accent6"/>
            </a:solidFill>
            <a:prstDash val="solid"/>
            <a:miter lim="0"/>
            <a:headEnd type="none" w="sm" len="sm"/>
            <a:tailEnd type="none" w="sm" len="sm"/>
          </a:ln>
        </p:spPr>
      </p:cxnSp>
      <p:sp>
        <p:nvSpPr>
          <p:cNvPr id="99" name="Google Shape;99;p19"/>
          <p:cNvSpPr txBox="1"/>
          <p:nvPr/>
        </p:nvSpPr>
        <p:spPr>
          <a:xfrm>
            <a:off x="3550375" y="57025"/>
            <a:ext cx="8641500" cy="923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1" i="1" u="none" strike="noStrike" cap="none">
                <a:solidFill>
                  <a:schemeClr val="lt1"/>
                </a:solidFill>
                <a:latin typeface="Calibri"/>
                <a:ea typeface="Calibri"/>
                <a:cs typeface="Calibri"/>
                <a:sym typeface="Calibri"/>
              </a:rPr>
              <a:t>MedTrace AI - Medical Device Complaint Investigation Platform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aphicFrame>
        <p:nvGraphicFramePr>
          <p:cNvPr id="100" name="Google Shape;100;p19"/>
          <p:cNvGraphicFramePr/>
          <p:nvPr>
            <p:extLst>
              <p:ext uri="{D42A27DB-BD31-4B8C-83A1-F6EECF244321}">
                <p14:modId xmlns:p14="http://schemas.microsoft.com/office/powerpoint/2010/main" val="256020779"/>
              </p:ext>
            </p:extLst>
          </p:nvPr>
        </p:nvGraphicFramePr>
        <p:xfrm>
          <a:off x="867705" y="1234468"/>
          <a:ext cx="10287000" cy="4382575"/>
        </p:xfrm>
        <a:graphic>
          <a:graphicData uri="http://schemas.openxmlformats.org/drawingml/2006/table">
            <a:tbl>
              <a:tblPr>
                <a:noFill/>
                <a:tableStyleId>{593100EF-B65B-4215-8807-50E75C0B9107}</a:tableStyleId>
              </a:tblPr>
              <a:tblGrid>
                <a:gridCol w="1027083">
                  <a:extLst>
                    <a:ext uri="{9D8B030D-6E8A-4147-A177-3AD203B41FA5}">
                      <a16:colId xmlns:a16="http://schemas.microsoft.com/office/drawing/2014/main" val="20000"/>
                    </a:ext>
                  </a:extLst>
                </a:gridCol>
                <a:gridCol w="2401917">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209727">
                  <a:extLst>
                    <a:ext uri="{9D8B030D-6E8A-4147-A177-3AD203B41FA5}">
                      <a16:colId xmlns:a16="http://schemas.microsoft.com/office/drawing/2014/main" val="20003"/>
                    </a:ext>
                  </a:extLst>
                </a:gridCol>
                <a:gridCol w="1734532">
                  <a:extLst>
                    <a:ext uri="{9D8B030D-6E8A-4147-A177-3AD203B41FA5}">
                      <a16:colId xmlns:a16="http://schemas.microsoft.com/office/drawing/2014/main" val="20004"/>
                    </a:ext>
                  </a:extLst>
                </a:gridCol>
                <a:gridCol w="2199241">
                  <a:extLst>
                    <a:ext uri="{9D8B030D-6E8A-4147-A177-3AD203B41FA5}">
                      <a16:colId xmlns:a16="http://schemas.microsoft.com/office/drawing/2014/main" val="20005"/>
                    </a:ext>
                  </a:extLst>
                </a:gridCol>
              </a:tblGrid>
              <a:tr h="894025">
                <a:tc>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No.</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Paper Title</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Authors</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Year</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Conference / Journal</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Relevance</a:t>
                      </a:r>
                      <a:endParaRPr sz="1500" b="1" u="none" strike="noStrike" cap="none">
                        <a:solidFill>
                          <a:srgbClr val="0070C0"/>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0"/>
                  </a:ext>
                </a:extLst>
              </a:tr>
              <a:tr h="8597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p>
                      <a:pPr marL="0" marR="0" lvl="0" indent="0" algn="l"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1.</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just"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Development of a Benchmark Corpus for Medical Device Adverse Event Detection</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just"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S. Wunnava et al.</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2024</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CL4Health / LREC-COLING</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just"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Annotated reports for extraction. Gap: no full investigation workflow.</a:t>
                      </a:r>
                      <a:endParaRPr sz="1500" b="1" u="none" strike="noStrike" cap="none">
                        <a:solidFill>
                          <a:srgbClr val="0070C0"/>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1"/>
                  </a:ext>
                </a:extLst>
              </a:tr>
              <a:tr h="15315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p>
                      <a:pPr marL="0" marR="0" lvl="0" indent="0" algn="l"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2.</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just"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MALADE: LLM Agents with RAG for Pharmacovigilance</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just"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J. Choi et al.</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2024</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MLHC</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just"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Agentic RAG for drug safety. Gap: not device complaint investigation.</a:t>
                      </a:r>
                      <a:endParaRPr sz="1500" b="1" u="none" strike="noStrike" cap="none">
                        <a:solidFill>
                          <a:srgbClr val="0070C0"/>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2"/>
                  </a:ext>
                </a:extLst>
              </a:tr>
              <a:tr h="8597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p>
                      <a:pPr marL="0" marR="0" lvl="0" indent="0" algn="l"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3.</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just"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Medical Graph RAG: Towards Safe Medical LLMs</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just"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J. Wu et al.</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2024</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0070C0"/>
                          </a:solidFill>
                          <a:latin typeface="Calibri"/>
                          <a:ea typeface="Calibri"/>
                          <a:cs typeface="Calibri"/>
                          <a:sym typeface="Calibri"/>
                        </a:rPr>
                        <a:t>arXiv preprint</a:t>
                      </a:r>
                      <a:endParaRPr sz="1500" b="1" u="none" strike="noStrike" cap="none">
                        <a:solidFill>
                          <a:srgbClr val="0070C0"/>
                        </a:solidFill>
                        <a:latin typeface="Calibri"/>
                        <a:ea typeface="Calibri"/>
                        <a:cs typeface="Calibri"/>
                        <a:sym typeface="Calibri"/>
                      </a:endParaRPr>
                    </a:p>
                  </a:txBody>
                  <a:tcPr marL="91425" marR="91425" marT="91425" marB="91425"/>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1" u="none" strike="noStrike" cap="none" dirty="0">
                          <a:solidFill>
                            <a:srgbClr val="0070C0"/>
                          </a:solidFill>
                          <a:latin typeface="Calibri"/>
                          <a:ea typeface="Calibri"/>
                          <a:cs typeface="Calibri"/>
                          <a:sym typeface="Calibri"/>
                        </a:rPr>
                        <a:t>Medical evidence retrieval. Gap: not device-specific triage.</a:t>
                      </a:r>
                      <a:endParaRPr sz="1400" b="1" u="none" strike="noStrike" cap="none" dirty="0">
                        <a:solidFill>
                          <a:srgbClr val="0070C0"/>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3"/>
                  </a:ext>
                </a:extLst>
              </a:tr>
            </a:tbl>
          </a:graphicData>
        </a:graphic>
      </p:graphicFrame>
      <p:graphicFrame>
        <p:nvGraphicFramePr>
          <p:cNvPr id="101" name="Google Shape;101;p19"/>
          <p:cNvGraphicFramePr/>
          <p:nvPr/>
        </p:nvGraphicFramePr>
        <p:xfrm>
          <a:off x="304800" y="304800"/>
          <a:ext cx="208250" cy="396210"/>
        </p:xfrm>
        <a:graphic>
          <a:graphicData uri="http://schemas.openxmlformats.org/drawingml/2006/table">
            <a:tbl>
              <a:tblPr>
                <a:noFill/>
                <a:tableStyleId>{26CAD268-3F10-421D-BA33-64A75AFF0ACE}</a:tableStyleId>
              </a:tblPr>
              <a:tblGrid>
                <a:gridCol w="208250">
                  <a:extLst>
                    <a:ext uri="{9D8B030D-6E8A-4147-A177-3AD203B41FA5}">
                      <a16:colId xmlns:a16="http://schemas.microsoft.com/office/drawing/2014/main" val="20000"/>
                    </a:ext>
                  </a:extLst>
                </a:gridCol>
              </a:tblGrid>
              <a:tr h="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0"/>
          <p:cNvSpPr txBox="1">
            <a:spLocks noGrp="1"/>
          </p:cNvSpPr>
          <p:nvPr>
            <p:ph type="body" idx="1"/>
          </p:nvPr>
        </p:nvSpPr>
        <p:spPr>
          <a:xfrm>
            <a:off x="682775" y="1271225"/>
            <a:ext cx="10787700" cy="5040600"/>
          </a:xfrm>
          <a:prstGeom prst="rect">
            <a:avLst/>
          </a:prstGeom>
          <a:noFill/>
          <a:ln>
            <a:noFill/>
          </a:ln>
        </p:spPr>
        <p:txBody>
          <a:bodyPr spcFirstLastPara="1" wrap="square" lIns="91425" tIns="45700" rIns="91425" bIns="45700" anchor="t" anchorCtr="0">
            <a:noAutofit/>
          </a:bodyPr>
          <a:lstStyle/>
          <a:p>
            <a:pPr marL="457200" lvl="0" indent="-406400" algn="l" rtl="0">
              <a:lnSpc>
                <a:spcPct val="150000"/>
              </a:lnSpc>
              <a:spcBef>
                <a:spcPts val="0"/>
              </a:spcBef>
              <a:spcAft>
                <a:spcPts val="0"/>
              </a:spcAft>
              <a:buClr>
                <a:srgbClr val="0070C0"/>
              </a:buClr>
              <a:buSzPts val="2800"/>
              <a:buFont typeface="Calibri"/>
              <a:buChar char="●"/>
            </a:pPr>
            <a:r>
              <a:rPr lang="en-US">
                <a:solidFill>
                  <a:srgbClr val="0070C0"/>
                </a:solidFill>
                <a:latin typeface="Calibri"/>
                <a:ea typeface="Calibri"/>
                <a:cs typeface="Calibri"/>
                <a:sym typeface="Calibri"/>
              </a:rPr>
              <a:t>Wunnava et al. (2024):</a:t>
            </a:r>
            <a:r>
              <a:rPr lang="en-US" b="0">
                <a:solidFill>
                  <a:srgbClr val="0070C0"/>
                </a:solidFill>
                <a:latin typeface="Calibri"/>
                <a:ea typeface="Calibri"/>
                <a:cs typeface="Calibri"/>
                <a:sym typeface="Calibri"/>
              </a:rPr>
              <a:t> Annotated device reports support NLP extraction.</a:t>
            </a:r>
            <a:endParaRPr b="0">
              <a:solidFill>
                <a:srgbClr val="0070C0"/>
              </a:solidFill>
              <a:latin typeface="Calibri"/>
              <a:ea typeface="Calibri"/>
              <a:cs typeface="Calibri"/>
              <a:sym typeface="Calibri"/>
            </a:endParaRPr>
          </a:p>
          <a:p>
            <a:pPr marL="457200" lvl="0" indent="-406400" algn="l" rtl="0">
              <a:lnSpc>
                <a:spcPct val="150000"/>
              </a:lnSpc>
              <a:spcBef>
                <a:spcPts val="0"/>
              </a:spcBef>
              <a:spcAft>
                <a:spcPts val="0"/>
              </a:spcAft>
              <a:buClr>
                <a:srgbClr val="0070C0"/>
              </a:buClr>
              <a:buSzPts val="2800"/>
              <a:buFont typeface="Calibri"/>
              <a:buChar char="●"/>
            </a:pPr>
            <a:r>
              <a:rPr lang="en-US">
                <a:solidFill>
                  <a:srgbClr val="0070C0"/>
                </a:solidFill>
                <a:latin typeface="Calibri"/>
                <a:ea typeface="Calibri"/>
                <a:cs typeface="Calibri"/>
                <a:sym typeface="Calibri"/>
              </a:rPr>
              <a:t>Choi et al. (2024):</a:t>
            </a:r>
            <a:r>
              <a:rPr lang="en-US" b="0">
                <a:solidFill>
                  <a:srgbClr val="0070C0"/>
                </a:solidFill>
                <a:latin typeface="Calibri"/>
                <a:ea typeface="Calibri"/>
                <a:cs typeface="Calibri"/>
                <a:sym typeface="Calibri"/>
              </a:rPr>
              <a:t> MALADE combines agents and RAG for drug safety.</a:t>
            </a:r>
            <a:endParaRPr b="0">
              <a:solidFill>
                <a:srgbClr val="0070C0"/>
              </a:solidFill>
              <a:latin typeface="Calibri"/>
              <a:ea typeface="Calibri"/>
              <a:cs typeface="Calibri"/>
              <a:sym typeface="Calibri"/>
            </a:endParaRPr>
          </a:p>
          <a:p>
            <a:pPr marL="457200" lvl="0" indent="-406400" algn="l" rtl="0">
              <a:lnSpc>
                <a:spcPct val="150000"/>
              </a:lnSpc>
              <a:spcBef>
                <a:spcPts val="0"/>
              </a:spcBef>
              <a:spcAft>
                <a:spcPts val="0"/>
              </a:spcAft>
              <a:buClr>
                <a:srgbClr val="0070C0"/>
              </a:buClr>
              <a:buSzPts val="2800"/>
              <a:buFont typeface="Calibri"/>
              <a:buChar char="●"/>
            </a:pPr>
            <a:r>
              <a:rPr lang="en-US">
                <a:solidFill>
                  <a:srgbClr val="0070C0"/>
                </a:solidFill>
                <a:latin typeface="Calibri"/>
                <a:ea typeface="Calibri"/>
                <a:cs typeface="Calibri"/>
                <a:sym typeface="Calibri"/>
              </a:rPr>
              <a:t>Wu et al. (2024):</a:t>
            </a:r>
            <a:r>
              <a:rPr lang="en-US" b="0">
                <a:solidFill>
                  <a:srgbClr val="0070C0"/>
                </a:solidFill>
                <a:latin typeface="Calibri"/>
                <a:ea typeface="Calibri"/>
                <a:cs typeface="Calibri"/>
                <a:sym typeface="Calibri"/>
              </a:rPr>
              <a:t> MedGraphRAG links medical answers to evidence.</a:t>
            </a:r>
            <a:endParaRPr b="0">
              <a:solidFill>
                <a:srgbClr val="0070C0"/>
              </a:solidFill>
              <a:latin typeface="Calibri"/>
              <a:ea typeface="Calibri"/>
              <a:cs typeface="Calibri"/>
              <a:sym typeface="Calibri"/>
            </a:endParaRPr>
          </a:p>
          <a:p>
            <a:pPr marL="457200" lvl="0" indent="-406400" algn="l" rtl="0">
              <a:lnSpc>
                <a:spcPct val="150000"/>
              </a:lnSpc>
              <a:spcBef>
                <a:spcPts val="0"/>
              </a:spcBef>
              <a:spcAft>
                <a:spcPts val="0"/>
              </a:spcAft>
              <a:buClr>
                <a:srgbClr val="0070C0"/>
              </a:buClr>
              <a:buSzPts val="2800"/>
              <a:buFont typeface="Calibri"/>
              <a:buChar char="●"/>
            </a:pPr>
            <a:r>
              <a:rPr lang="en-US">
                <a:solidFill>
                  <a:srgbClr val="0070C0"/>
                </a:solidFill>
                <a:latin typeface="Calibri"/>
                <a:ea typeface="Calibri"/>
                <a:cs typeface="Calibri"/>
                <a:sym typeface="Calibri"/>
              </a:rPr>
              <a:t>MedTrace extends these ideas:</a:t>
            </a:r>
            <a:r>
              <a:rPr lang="en-US" b="0">
                <a:solidFill>
                  <a:srgbClr val="0070C0"/>
                </a:solidFill>
                <a:latin typeface="Calibri"/>
                <a:ea typeface="Calibri"/>
                <a:cs typeface="Calibri"/>
                <a:sym typeface="Calibri"/>
              </a:rPr>
              <a:t> Connect complaint evidence with recall and regulatory context.</a:t>
            </a:r>
            <a:endParaRPr b="0">
              <a:solidFill>
                <a:srgbClr val="0070C0"/>
              </a:solidFill>
              <a:latin typeface="Calibri"/>
              <a:ea typeface="Calibri"/>
              <a:cs typeface="Calibri"/>
              <a:sym typeface="Calibri"/>
            </a:endParaRPr>
          </a:p>
          <a:p>
            <a:pPr marL="0" lvl="0" indent="0" algn="l" rtl="0">
              <a:lnSpc>
                <a:spcPct val="150000"/>
              </a:lnSpc>
              <a:spcBef>
                <a:spcPts val="0"/>
              </a:spcBef>
              <a:spcAft>
                <a:spcPts val="0"/>
              </a:spcAft>
              <a:buClr>
                <a:srgbClr val="5583D1"/>
              </a:buClr>
              <a:buSzPts val="2400"/>
              <a:buNone/>
            </a:pPr>
            <a:endParaRPr b="0">
              <a:solidFill>
                <a:schemeClr val="dk1"/>
              </a:solidFill>
              <a:latin typeface="Calibri"/>
              <a:ea typeface="Calibri"/>
              <a:cs typeface="Calibri"/>
              <a:sym typeface="Calibri"/>
            </a:endParaRPr>
          </a:p>
        </p:txBody>
      </p:sp>
      <p:sp>
        <p:nvSpPr>
          <p:cNvPr id="107" name="Google Shape;107;p20"/>
          <p:cNvSpPr txBox="1"/>
          <p:nvPr/>
        </p:nvSpPr>
        <p:spPr>
          <a:xfrm>
            <a:off x="255996" y="502545"/>
            <a:ext cx="10624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E4E79"/>
              </a:buClr>
              <a:buSzPts val="3600"/>
              <a:buFont typeface="Calibri"/>
              <a:buNone/>
            </a:pPr>
            <a:r>
              <a:rPr lang="en-US" sz="3600" b="1" i="0" u="none" strike="noStrike" cap="none">
                <a:solidFill>
                  <a:srgbClr val="1E4E79"/>
                </a:solidFill>
                <a:latin typeface="Calibri"/>
                <a:ea typeface="Calibri"/>
                <a:cs typeface="Calibri"/>
                <a:sym typeface="Calibri"/>
              </a:rPr>
              <a:t>Summary of Literature</a:t>
            </a:r>
            <a:endParaRPr sz="1400" b="0" i="0" u="none" strike="noStrike" cap="none">
              <a:solidFill>
                <a:srgbClr val="000000"/>
              </a:solidFill>
              <a:latin typeface="Arial"/>
              <a:ea typeface="Arial"/>
              <a:cs typeface="Arial"/>
              <a:sym typeface="Arial"/>
            </a:endParaRPr>
          </a:p>
        </p:txBody>
      </p:sp>
      <p:cxnSp>
        <p:nvCxnSpPr>
          <p:cNvPr id="108" name="Google Shape;108;p20"/>
          <p:cNvCxnSpPr/>
          <p:nvPr/>
        </p:nvCxnSpPr>
        <p:spPr>
          <a:xfrm>
            <a:off x="221274" y="1191756"/>
            <a:ext cx="7305799" cy="0"/>
          </a:xfrm>
          <a:prstGeom prst="straightConnector1">
            <a:avLst/>
          </a:prstGeom>
          <a:noFill/>
          <a:ln w="28575" cap="flat" cmpd="sng">
            <a:solidFill>
              <a:schemeClr val="accent6"/>
            </a:solidFill>
            <a:prstDash val="solid"/>
            <a:miter lim="0"/>
            <a:headEnd type="none" w="sm" len="sm"/>
            <a:tailEnd type="none" w="sm" len="sm"/>
          </a:ln>
        </p:spPr>
      </p:cxnSp>
      <p:sp>
        <p:nvSpPr>
          <p:cNvPr id="109" name="Google Shape;109;p20"/>
          <p:cNvSpPr txBox="1"/>
          <p:nvPr/>
        </p:nvSpPr>
        <p:spPr>
          <a:xfrm>
            <a:off x="3444178" y="57025"/>
            <a:ext cx="8747700" cy="861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1" i="1" u="none" strike="noStrike" cap="none">
                <a:solidFill>
                  <a:schemeClr val="lt1"/>
                </a:solidFill>
                <a:latin typeface="Calibri"/>
                <a:ea typeface="Calibri"/>
                <a:cs typeface="Calibri"/>
                <a:sym typeface="Calibri"/>
              </a:rPr>
              <a:t>MedTrace AI - Medical Device Complaint Investigation Platform</a:t>
            </a:r>
            <a:endParaRPr sz="14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1"/>
          <p:cNvSpPr txBox="1">
            <a:spLocks noGrp="1"/>
          </p:cNvSpPr>
          <p:nvPr>
            <p:ph type="body" idx="1"/>
          </p:nvPr>
        </p:nvSpPr>
        <p:spPr>
          <a:xfrm>
            <a:off x="713100" y="1271225"/>
            <a:ext cx="11258100" cy="5207400"/>
          </a:xfrm>
          <a:prstGeom prst="rect">
            <a:avLst/>
          </a:prstGeom>
          <a:noFill/>
          <a:ln>
            <a:noFill/>
          </a:ln>
        </p:spPr>
        <p:txBody>
          <a:bodyPr spcFirstLastPara="1" wrap="square" lIns="91425" tIns="45700" rIns="91425" bIns="45700" anchor="t" anchorCtr="0">
            <a:noAutofit/>
          </a:bodyPr>
          <a:lstStyle/>
          <a:p>
            <a:pPr marL="457200" lvl="0" indent="-387350" algn="just" rtl="0">
              <a:lnSpc>
                <a:spcPct val="150000"/>
              </a:lnSpc>
              <a:spcBef>
                <a:spcPts val="0"/>
              </a:spcBef>
              <a:spcAft>
                <a:spcPts val="0"/>
              </a:spcAft>
              <a:buClr>
                <a:srgbClr val="0070C0"/>
              </a:buClr>
              <a:buSzPts val="2500"/>
              <a:buFont typeface="Calibri"/>
              <a:buChar char="●"/>
            </a:pPr>
            <a:r>
              <a:rPr lang="en-US" sz="2500">
                <a:solidFill>
                  <a:srgbClr val="0070C0"/>
                </a:solidFill>
                <a:latin typeface="Calibri"/>
                <a:ea typeface="Calibri"/>
                <a:cs typeface="Calibri"/>
                <a:sym typeface="Calibri"/>
              </a:rPr>
              <a:t>Wunnava et al.:</a:t>
            </a:r>
            <a:r>
              <a:rPr lang="en-US" sz="2500" b="0">
                <a:solidFill>
                  <a:srgbClr val="0070C0"/>
                </a:solidFill>
                <a:latin typeface="Calibri"/>
                <a:ea typeface="Calibri"/>
                <a:cs typeface="Calibri"/>
                <a:sym typeface="Calibri"/>
              </a:rPr>
              <a:t> Extraction-focused. We add similar-case retrieval and an investigation report.</a:t>
            </a:r>
            <a:endParaRPr sz="2500" b="0">
              <a:solidFill>
                <a:srgbClr val="0070C0"/>
              </a:solidFill>
              <a:latin typeface="Calibri"/>
              <a:ea typeface="Calibri"/>
              <a:cs typeface="Calibri"/>
              <a:sym typeface="Calibri"/>
            </a:endParaRPr>
          </a:p>
          <a:p>
            <a:pPr marL="457200" lvl="0" indent="-387350" algn="just" rtl="0">
              <a:lnSpc>
                <a:spcPct val="150000"/>
              </a:lnSpc>
              <a:spcBef>
                <a:spcPts val="0"/>
              </a:spcBef>
              <a:spcAft>
                <a:spcPts val="0"/>
              </a:spcAft>
              <a:buClr>
                <a:srgbClr val="0070C0"/>
              </a:buClr>
              <a:buSzPts val="2500"/>
              <a:buFont typeface="Calibri"/>
              <a:buChar char="●"/>
            </a:pPr>
            <a:r>
              <a:rPr lang="en-US" sz="2500">
                <a:solidFill>
                  <a:srgbClr val="0070C0"/>
                </a:solidFill>
                <a:latin typeface="Calibri"/>
                <a:ea typeface="Calibri"/>
                <a:cs typeface="Calibri"/>
                <a:sym typeface="Calibri"/>
              </a:rPr>
              <a:t>Choi et al.:</a:t>
            </a:r>
            <a:r>
              <a:rPr lang="en-US" sz="2500" b="0">
                <a:solidFill>
                  <a:srgbClr val="0070C0"/>
                </a:solidFill>
                <a:latin typeface="Calibri"/>
                <a:ea typeface="Calibri"/>
                <a:cs typeface="Calibri"/>
                <a:sym typeface="Calibri"/>
              </a:rPr>
              <a:t> Drug-focused. We adapt agentic retrieval to device complaints and recall evidence.</a:t>
            </a:r>
            <a:endParaRPr sz="2500" b="0">
              <a:solidFill>
                <a:srgbClr val="0070C0"/>
              </a:solidFill>
              <a:latin typeface="Calibri"/>
              <a:ea typeface="Calibri"/>
              <a:cs typeface="Calibri"/>
              <a:sym typeface="Calibri"/>
            </a:endParaRPr>
          </a:p>
          <a:p>
            <a:pPr marL="457200" lvl="0" indent="-387350" algn="just" rtl="0">
              <a:lnSpc>
                <a:spcPct val="150000"/>
              </a:lnSpc>
              <a:spcBef>
                <a:spcPts val="0"/>
              </a:spcBef>
              <a:spcAft>
                <a:spcPts val="0"/>
              </a:spcAft>
              <a:buClr>
                <a:srgbClr val="0070C0"/>
              </a:buClr>
              <a:buSzPts val="2500"/>
              <a:buFont typeface="Calibri"/>
              <a:buChar char="●"/>
            </a:pPr>
            <a:r>
              <a:rPr lang="en-US" sz="2500">
                <a:solidFill>
                  <a:srgbClr val="0070C0"/>
                </a:solidFill>
                <a:latin typeface="Calibri"/>
                <a:ea typeface="Calibri"/>
                <a:cs typeface="Calibri"/>
                <a:sym typeface="Calibri"/>
              </a:rPr>
              <a:t>Wu et al.:</a:t>
            </a:r>
            <a:r>
              <a:rPr lang="en-US" sz="2500" b="0">
                <a:solidFill>
                  <a:srgbClr val="0070C0"/>
                </a:solidFill>
                <a:latin typeface="Calibri"/>
                <a:ea typeface="Calibri"/>
                <a:cs typeface="Calibri"/>
                <a:sym typeface="Calibri"/>
              </a:rPr>
              <a:t> Medical QA-focused. We add complaint-level prioritization and FDA reporting context.</a:t>
            </a:r>
            <a:endParaRPr sz="2500" b="0">
              <a:solidFill>
                <a:srgbClr val="0070C0"/>
              </a:solidFill>
              <a:latin typeface="Calibri"/>
              <a:ea typeface="Calibri"/>
              <a:cs typeface="Calibri"/>
              <a:sym typeface="Calibri"/>
            </a:endParaRPr>
          </a:p>
          <a:p>
            <a:pPr marL="457200" lvl="0" indent="-387350" algn="just" rtl="0">
              <a:lnSpc>
                <a:spcPct val="150000"/>
              </a:lnSpc>
              <a:spcBef>
                <a:spcPts val="0"/>
              </a:spcBef>
              <a:spcAft>
                <a:spcPts val="0"/>
              </a:spcAft>
              <a:buClr>
                <a:srgbClr val="0070C0"/>
              </a:buClr>
              <a:buSzPts val="2500"/>
              <a:buFont typeface="Calibri"/>
              <a:buChar char="●"/>
            </a:pPr>
            <a:r>
              <a:rPr lang="en-US" sz="2500">
                <a:solidFill>
                  <a:srgbClr val="0070C0"/>
                </a:solidFill>
                <a:latin typeface="Calibri"/>
                <a:ea typeface="Calibri"/>
                <a:cs typeface="Calibri"/>
                <a:sym typeface="Calibri"/>
              </a:rPr>
              <a:t>Proposed contribution:</a:t>
            </a:r>
            <a:r>
              <a:rPr lang="en-US" sz="2500" b="0">
                <a:solidFill>
                  <a:srgbClr val="0070C0"/>
                </a:solidFill>
                <a:latin typeface="Calibri"/>
                <a:ea typeface="Calibri"/>
                <a:cs typeface="Calibri"/>
                <a:sym typeface="Calibri"/>
              </a:rPr>
              <a:t> Link each finding to its source and flag missing evidence for human review.</a:t>
            </a:r>
            <a:endParaRPr sz="2500" b="0">
              <a:solidFill>
                <a:srgbClr val="0070C0"/>
              </a:solidFill>
              <a:latin typeface="Calibri"/>
              <a:ea typeface="Calibri"/>
              <a:cs typeface="Calibri"/>
              <a:sym typeface="Calibri"/>
            </a:endParaRPr>
          </a:p>
          <a:p>
            <a:pPr marL="0" lvl="0" indent="0" algn="l" rtl="0">
              <a:lnSpc>
                <a:spcPct val="150000"/>
              </a:lnSpc>
              <a:spcBef>
                <a:spcPts val="0"/>
              </a:spcBef>
              <a:spcAft>
                <a:spcPts val="0"/>
              </a:spcAft>
              <a:buClr>
                <a:srgbClr val="5583D1"/>
              </a:buClr>
              <a:buSzPts val="2400"/>
              <a:buNone/>
            </a:pPr>
            <a:endParaRPr>
              <a:solidFill>
                <a:srgbClr val="0070C0"/>
              </a:solidFill>
              <a:latin typeface="Calibri"/>
              <a:ea typeface="Calibri"/>
              <a:cs typeface="Calibri"/>
              <a:sym typeface="Calibri"/>
            </a:endParaRPr>
          </a:p>
        </p:txBody>
      </p:sp>
      <p:sp>
        <p:nvSpPr>
          <p:cNvPr id="115" name="Google Shape;115;p21"/>
          <p:cNvSpPr txBox="1"/>
          <p:nvPr/>
        </p:nvSpPr>
        <p:spPr>
          <a:xfrm>
            <a:off x="255996" y="502545"/>
            <a:ext cx="10624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E4E79"/>
              </a:buClr>
              <a:buSzPts val="3600"/>
              <a:buFont typeface="Calibri"/>
              <a:buNone/>
            </a:pPr>
            <a:r>
              <a:rPr lang="en-US" sz="3600" b="1" i="0" u="none" strike="noStrike" cap="none">
                <a:solidFill>
                  <a:srgbClr val="1E4E79"/>
                </a:solidFill>
                <a:latin typeface="Calibri"/>
                <a:ea typeface="Calibri"/>
                <a:cs typeface="Calibri"/>
                <a:sym typeface="Calibri"/>
              </a:rPr>
              <a:t>Additional Information</a:t>
            </a:r>
            <a:endParaRPr sz="1400" b="0" i="0" u="none" strike="noStrike" cap="none">
              <a:solidFill>
                <a:srgbClr val="000000"/>
              </a:solidFill>
              <a:latin typeface="Arial"/>
              <a:ea typeface="Arial"/>
              <a:cs typeface="Arial"/>
              <a:sym typeface="Arial"/>
            </a:endParaRPr>
          </a:p>
        </p:txBody>
      </p:sp>
      <p:cxnSp>
        <p:nvCxnSpPr>
          <p:cNvPr id="116" name="Google Shape;116;p21"/>
          <p:cNvCxnSpPr/>
          <p:nvPr/>
        </p:nvCxnSpPr>
        <p:spPr>
          <a:xfrm>
            <a:off x="221274" y="1191756"/>
            <a:ext cx="7305799" cy="0"/>
          </a:xfrm>
          <a:prstGeom prst="straightConnector1">
            <a:avLst/>
          </a:prstGeom>
          <a:noFill/>
          <a:ln w="28575" cap="flat" cmpd="sng">
            <a:solidFill>
              <a:schemeClr val="accent6"/>
            </a:solidFill>
            <a:prstDash val="solid"/>
            <a:miter lim="0"/>
            <a:headEnd type="none" w="sm" len="sm"/>
            <a:tailEnd type="none" w="sm" len="sm"/>
          </a:ln>
        </p:spPr>
      </p:cxnSp>
      <p:sp>
        <p:nvSpPr>
          <p:cNvPr id="117" name="Google Shape;117;p21"/>
          <p:cNvSpPr txBox="1"/>
          <p:nvPr/>
        </p:nvSpPr>
        <p:spPr>
          <a:xfrm>
            <a:off x="3702103" y="57025"/>
            <a:ext cx="8490000" cy="861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1800"/>
              <a:buFont typeface="Arial"/>
              <a:buNone/>
            </a:pPr>
            <a:r>
              <a:rPr lang="en-US" sz="1800" b="1" i="1" u="none" strike="noStrike" cap="none">
                <a:solidFill>
                  <a:schemeClr val="lt1"/>
                </a:solidFill>
                <a:latin typeface="Calibri"/>
                <a:ea typeface="Calibri"/>
                <a:cs typeface="Calibri"/>
                <a:sym typeface="Calibri"/>
              </a:rPr>
              <a:t>MedTrace AI - Medical Device Complaint Investigation Platform</a:t>
            </a:r>
            <a:endParaRPr sz="1400" b="0" i="0" u="none" strike="noStrike" cap="none">
              <a:solidFill>
                <a:schemeClr val="dk1"/>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1DA9E125-A97E-6792-BE83-7C9D71088150}"/>
            </a:ext>
          </a:extLst>
        </p:cNvPr>
        <p:cNvGrpSpPr/>
        <p:nvPr/>
      </p:nvGrpSpPr>
      <p:grpSpPr>
        <a:xfrm>
          <a:off x="0" y="0"/>
          <a:ext cx="0" cy="0"/>
          <a:chOff x="0" y="0"/>
          <a:chExt cx="0" cy="0"/>
        </a:xfrm>
      </p:grpSpPr>
      <p:sp>
        <p:nvSpPr>
          <p:cNvPr id="115" name="Google Shape;115;p21">
            <a:extLst>
              <a:ext uri="{FF2B5EF4-FFF2-40B4-BE49-F238E27FC236}">
                <a16:creationId xmlns:a16="http://schemas.microsoft.com/office/drawing/2014/main" id="{FD7BD4F8-D355-D8CC-8846-9BAC5FDD837C}"/>
              </a:ext>
            </a:extLst>
          </p:cNvPr>
          <p:cNvSpPr txBox="1"/>
          <p:nvPr/>
        </p:nvSpPr>
        <p:spPr>
          <a:xfrm>
            <a:off x="255996" y="502545"/>
            <a:ext cx="10624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E4E79"/>
              </a:buClr>
              <a:buSzPts val="3600"/>
              <a:buFont typeface="Calibri"/>
              <a:buNone/>
            </a:pPr>
            <a:r>
              <a:rPr lang="en-US" sz="3600" b="1" i="0" u="none" strike="noStrike" cap="none">
                <a:solidFill>
                  <a:srgbClr val="1E4E79"/>
                </a:solidFill>
                <a:latin typeface="Calibri"/>
                <a:ea typeface="Calibri"/>
                <a:cs typeface="Calibri"/>
                <a:sym typeface="Calibri"/>
              </a:rPr>
              <a:t>Additional Information</a:t>
            </a:r>
            <a:endParaRPr sz="1400" b="0" i="0" u="none" strike="noStrike" cap="none">
              <a:solidFill>
                <a:srgbClr val="000000"/>
              </a:solidFill>
              <a:latin typeface="Arial"/>
              <a:ea typeface="Arial"/>
              <a:cs typeface="Arial"/>
              <a:sym typeface="Arial"/>
            </a:endParaRPr>
          </a:p>
        </p:txBody>
      </p:sp>
      <p:cxnSp>
        <p:nvCxnSpPr>
          <p:cNvPr id="116" name="Google Shape;116;p21">
            <a:extLst>
              <a:ext uri="{FF2B5EF4-FFF2-40B4-BE49-F238E27FC236}">
                <a16:creationId xmlns:a16="http://schemas.microsoft.com/office/drawing/2014/main" id="{146C22D2-A228-C065-622D-36C24571B934}"/>
              </a:ext>
            </a:extLst>
          </p:cNvPr>
          <p:cNvCxnSpPr/>
          <p:nvPr/>
        </p:nvCxnSpPr>
        <p:spPr>
          <a:xfrm>
            <a:off x="221274" y="1191756"/>
            <a:ext cx="7305799" cy="0"/>
          </a:xfrm>
          <a:prstGeom prst="straightConnector1">
            <a:avLst/>
          </a:prstGeom>
          <a:noFill/>
          <a:ln w="28575" cap="flat" cmpd="sng">
            <a:solidFill>
              <a:schemeClr val="accent6"/>
            </a:solidFill>
            <a:prstDash val="solid"/>
            <a:miter lim="0"/>
            <a:headEnd type="none" w="sm" len="sm"/>
            <a:tailEnd type="none" w="sm" len="sm"/>
          </a:ln>
        </p:spPr>
      </p:cxnSp>
      <p:sp>
        <p:nvSpPr>
          <p:cNvPr id="117" name="Google Shape;117;p21">
            <a:extLst>
              <a:ext uri="{FF2B5EF4-FFF2-40B4-BE49-F238E27FC236}">
                <a16:creationId xmlns:a16="http://schemas.microsoft.com/office/drawing/2014/main" id="{FCA98A04-D69D-AD44-876E-80E730198D45}"/>
              </a:ext>
            </a:extLst>
          </p:cNvPr>
          <p:cNvSpPr txBox="1"/>
          <p:nvPr/>
        </p:nvSpPr>
        <p:spPr>
          <a:xfrm>
            <a:off x="3702103" y="57025"/>
            <a:ext cx="8490000" cy="861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1800"/>
              <a:buFont typeface="Arial"/>
              <a:buNone/>
            </a:pPr>
            <a:r>
              <a:rPr lang="en-US" sz="1800" b="1" i="1" u="none" strike="noStrike" cap="none">
                <a:solidFill>
                  <a:schemeClr val="lt1"/>
                </a:solidFill>
                <a:latin typeface="Calibri"/>
                <a:ea typeface="Calibri"/>
                <a:cs typeface="Calibri"/>
                <a:sym typeface="Calibri"/>
              </a:rPr>
              <a:t>MedTrace AI - Medical Device Complaint Investigation Platform</a:t>
            </a:r>
            <a:endParaRPr sz="1400" b="0" i="0" u="none" strike="noStrike" cap="none">
              <a:solidFill>
                <a:schemeClr val="dk1"/>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4D57B4BC-909C-917B-6E6F-361AEE389D02}"/>
              </a:ext>
            </a:extLst>
          </p:cNvPr>
          <p:cNvGraphicFramePr>
            <a:graphicFrameLocks noGrp="1"/>
          </p:cNvGraphicFramePr>
          <p:nvPr/>
        </p:nvGraphicFramePr>
        <p:xfrm>
          <a:off x="677863" y="1760538"/>
          <a:ext cx="11004550" cy="3657600"/>
        </p:xfrm>
        <a:graphic>
          <a:graphicData uri="http://schemas.openxmlformats.org/drawingml/2006/table">
            <a:tbl>
              <a:tblPr>
                <a:tableStyleId>{26CAD268-3F10-421D-BA33-64A75AFF0ACE}</a:tableStyleId>
              </a:tblPr>
              <a:tblGrid>
                <a:gridCol w="5502275">
                  <a:extLst>
                    <a:ext uri="{9D8B030D-6E8A-4147-A177-3AD203B41FA5}">
                      <a16:colId xmlns:a16="http://schemas.microsoft.com/office/drawing/2014/main" val="4078046880"/>
                    </a:ext>
                  </a:extLst>
                </a:gridCol>
                <a:gridCol w="5502275">
                  <a:extLst>
                    <a:ext uri="{9D8B030D-6E8A-4147-A177-3AD203B41FA5}">
                      <a16:colId xmlns:a16="http://schemas.microsoft.com/office/drawing/2014/main" val="3641552773"/>
                    </a:ext>
                  </a:extLst>
                </a:gridCol>
              </a:tblGrid>
              <a:tr h="0">
                <a:tc>
                  <a:txBody>
                    <a:bodyPr/>
                    <a:lstStyle/>
                    <a:p>
                      <a:pPr>
                        <a:buNone/>
                      </a:pPr>
                      <a:r>
                        <a:rPr lang="en-IN"/>
                        <a:t>Category</a:t>
                      </a:r>
                    </a:p>
                  </a:txBody>
                  <a:tcPr anchor="ctr"/>
                </a:tc>
                <a:tc>
                  <a:txBody>
                    <a:bodyPr/>
                    <a:lstStyle/>
                    <a:p>
                      <a:pPr>
                        <a:buNone/>
                      </a:pPr>
                      <a:r>
                        <a:rPr lang="en-IN"/>
                        <a:t>Technology</a:t>
                      </a:r>
                    </a:p>
                  </a:txBody>
                  <a:tcPr anchor="ctr"/>
                </a:tc>
                <a:extLst>
                  <a:ext uri="{0D108BD9-81ED-4DB2-BD59-A6C34878D82A}">
                    <a16:rowId xmlns:a16="http://schemas.microsoft.com/office/drawing/2014/main" val="1039128581"/>
                  </a:ext>
                </a:extLst>
              </a:tr>
              <a:tr h="0">
                <a:tc>
                  <a:txBody>
                    <a:bodyPr/>
                    <a:lstStyle/>
                    <a:p>
                      <a:pPr>
                        <a:buNone/>
                      </a:pPr>
                      <a:r>
                        <a:rPr lang="en-IN"/>
                        <a:t>Programming</a:t>
                      </a:r>
                    </a:p>
                  </a:txBody>
                  <a:tcPr anchor="ctr"/>
                </a:tc>
                <a:tc>
                  <a:txBody>
                    <a:bodyPr/>
                    <a:lstStyle/>
                    <a:p>
                      <a:pPr>
                        <a:buNone/>
                      </a:pPr>
                      <a:r>
                        <a:rPr lang="en-IN"/>
                        <a:t>Python</a:t>
                      </a:r>
                    </a:p>
                  </a:txBody>
                  <a:tcPr anchor="ctr"/>
                </a:tc>
                <a:extLst>
                  <a:ext uri="{0D108BD9-81ED-4DB2-BD59-A6C34878D82A}">
                    <a16:rowId xmlns:a16="http://schemas.microsoft.com/office/drawing/2014/main" val="2863359560"/>
                  </a:ext>
                </a:extLst>
              </a:tr>
              <a:tr h="0">
                <a:tc>
                  <a:txBody>
                    <a:bodyPr/>
                    <a:lstStyle/>
                    <a:p>
                      <a:pPr>
                        <a:buNone/>
                      </a:pPr>
                      <a:r>
                        <a:rPr lang="en-IN"/>
                        <a:t>Frontend</a:t>
                      </a:r>
                    </a:p>
                  </a:txBody>
                  <a:tcPr anchor="ctr"/>
                </a:tc>
                <a:tc>
                  <a:txBody>
                    <a:bodyPr/>
                    <a:lstStyle/>
                    <a:p>
                      <a:pPr>
                        <a:buNone/>
                      </a:pPr>
                      <a:r>
                        <a:rPr lang="en-IN"/>
                        <a:t>Streamlit</a:t>
                      </a:r>
                    </a:p>
                  </a:txBody>
                  <a:tcPr anchor="ctr"/>
                </a:tc>
                <a:extLst>
                  <a:ext uri="{0D108BD9-81ED-4DB2-BD59-A6C34878D82A}">
                    <a16:rowId xmlns:a16="http://schemas.microsoft.com/office/drawing/2014/main" val="781913506"/>
                  </a:ext>
                </a:extLst>
              </a:tr>
              <a:tr h="0">
                <a:tc>
                  <a:txBody>
                    <a:bodyPr/>
                    <a:lstStyle/>
                    <a:p>
                      <a:pPr>
                        <a:buNone/>
                      </a:pPr>
                      <a:r>
                        <a:rPr lang="en-IN"/>
                        <a:t>Backend</a:t>
                      </a:r>
                    </a:p>
                  </a:txBody>
                  <a:tcPr anchor="ctr"/>
                </a:tc>
                <a:tc>
                  <a:txBody>
                    <a:bodyPr/>
                    <a:lstStyle/>
                    <a:p>
                      <a:pPr>
                        <a:buNone/>
                      </a:pPr>
                      <a:r>
                        <a:rPr lang="en-IN"/>
                        <a:t>FastAPI</a:t>
                      </a:r>
                    </a:p>
                  </a:txBody>
                  <a:tcPr anchor="ctr"/>
                </a:tc>
                <a:extLst>
                  <a:ext uri="{0D108BD9-81ED-4DB2-BD59-A6C34878D82A}">
                    <a16:rowId xmlns:a16="http://schemas.microsoft.com/office/drawing/2014/main" val="3353779385"/>
                  </a:ext>
                </a:extLst>
              </a:tr>
              <a:tr h="0">
                <a:tc>
                  <a:txBody>
                    <a:bodyPr/>
                    <a:lstStyle/>
                    <a:p>
                      <a:pPr>
                        <a:buNone/>
                      </a:pPr>
                      <a:r>
                        <a:rPr lang="en-IN"/>
                        <a:t>Database</a:t>
                      </a:r>
                    </a:p>
                  </a:txBody>
                  <a:tcPr anchor="ctr"/>
                </a:tc>
                <a:tc>
                  <a:txBody>
                    <a:bodyPr/>
                    <a:lstStyle/>
                    <a:p>
                      <a:pPr>
                        <a:buNone/>
                      </a:pPr>
                      <a:r>
                        <a:rPr lang="en-IN"/>
                        <a:t>PostgreSQL</a:t>
                      </a:r>
                    </a:p>
                  </a:txBody>
                  <a:tcPr anchor="ctr"/>
                </a:tc>
                <a:extLst>
                  <a:ext uri="{0D108BD9-81ED-4DB2-BD59-A6C34878D82A}">
                    <a16:rowId xmlns:a16="http://schemas.microsoft.com/office/drawing/2014/main" val="891098173"/>
                  </a:ext>
                </a:extLst>
              </a:tr>
              <a:tr h="0">
                <a:tc>
                  <a:txBody>
                    <a:bodyPr/>
                    <a:lstStyle/>
                    <a:p>
                      <a:pPr>
                        <a:buNone/>
                      </a:pPr>
                      <a:r>
                        <a:rPr lang="en-IN"/>
                        <a:t>NLP</a:t>
                      </a:r>
                    </a:p>
                  </a:txBody>
                  <a:tcPr anchor="ctr"/>
                </a:tc>
                <a:tc>
                  <a:txBody>
                    <a:bodyPr/>
                    <a:lstStyle/>
                    <a:p>
                      <a:pPr>
                        <a:buNone/>
                      </a:pPr>
                      <a:r>
                        <a:rPr lang="en-IN"/>
                        <a:t>BERT / RoBERTa, spaCy</a:t>
                      </a:r>
                    </a:p>
                  </a:txBody>
                  <a:tcPr anchor="ctr"/>
                </a:tc>
                <a:extLst>
                  <a:ext uri="{0D108BD9-81ED-4DB2-BD59-A6C34878D82A}">
                    <a16:rowId xmlns:a16="http://schemas.microsoft.com/office/drawing/2014/main" val="1161047366"/>
                  </a:ext>
                </a:extLst>
              </a:tr>
              <a:tr h="0">
                <a:tc>
                  <a:txBody>
                    <a:bodyPr/>
                    <a:lstStyle/>
                    <a:p>
                      <a:pPr>
                        <a:buNone/>
                      </a:pPr>
                      <a:r>
                        <a:rPr lang="en-IN"/>
                        <a:t>ML &amp; XAI</a:t>
                      </a:r>
                    </a:p>
                  </a:txBody>
                  <a:tcPr anchor="ctr"/>
                </a:tc>
                <a:tc>
                  <a:txBody>
                    <a:bodyPr/>
                    <a:lstStyle/>
                    <a:p>
                      <a:pPr>
                        <a:buNone/>
                      </a:pPr>
                      <a:r>
                        <a:rPr lang="en-IN"/>
                        <a:t>XGBoost, SHAP</a:t>
                      </a:r>
                    </a:p>
                  </a:txBody>
                  <a:tcPr anchor="ctr"/>
                </a:tc>
                <a:extLst>
                  <a:ext uri="{0D108BD9-81ED-4DB2-BD59-A6C34878D82A}">
                    <a16:rowId xmlns:a16="http://schemas.microsoft.com/office/drawing/2014/main" val="2718484646"/>
                  </a:ext>
                </a:extLst>
              </a:tr>
              <a:tr h="0">
                <a:tc>
                  <a:txBody>
                    <a:bodyPr/>
                    <a:lstStyle/>
                    <a:p>
                      <a:pPr>
                        <a:buNone/>
                      </a:pPr>
                      <a:r>
                        <a:rPr lang="en-IN"/>
                        <a:t>Embeddings &amp; Vector DB</a:t>
                      </a:r>
                    </a:p>
                  </a:txBody>
                  <a:tcPr anchor="ctr"/>
                </a:tc>
                <a:tc>
                  <a:txBody>
                    <a:bodyPr/>
                    <a:lstStyle/>
                    <a:p>
                      <a:pPr>
                        <a:buNone/>
                      </a:pPr>
                      <a:r>
                        <a:rPr lang="en-IN"/>
                        <a:t>Sentence Transformers, FAISS</a:t>
                      </a:r>
                    </a:p>
                  </a:txBody>
                  <a:tcPr anchor="ctr"/>
                </a:tc>
                <a:extLst>
                  <a:ext uri="{0D108BD9-81ED-4DB2-BD59-A6C34878D82A}">
                    <a16:rowId xmlns:a16="http://schemas.microsoft.com/office/drawing/2014/main" val="3176251253"/>
                  </a:ext>
                </a:extLst>
              </a:tr>
              <a:tr h="0">
                <a:tc>
                  <a:txBody>
                    <a:bodyPr/>
                    <a:lstStyle/>
                    <a:p>
                      <a:pPr>
                        <a:buNone/>
                      </a:pPr>
                      <a:r>
                        <a:rPr lang="en-IN"/>
                        <a:t>GenAI &amp; RAG</a:t>
                      </a:r>
                    </a:p>
                  </a:txBody>
                  <a:tcPr anchor="ctr"/>
                </a:tc>
                <a:tc>
                  <a:txBody>
                    <a:bodyPr/>
                    <a:lstStyle/>
                    <a:p>
                      <a:pPr>
                        <a:buNone/>
                      </a:pPr>
                      <a:r>
                        <a:rPr lang="en-IN"/>
                        <a:t>LLM, LangChain</a:t>
                      </a:r>
                    </a:p>
                  </a:txBody>
                  <a:tcPr anchor="ctr"/>
                </a:tc>
                <a:extLst>
                  <a:ext uri="{0D108BD9-81ED-4DB2-BD59-A6C34878D82A}">
                    <a16:rowId xmlns:a16="http://schemas.microsoft.com/office/drawing/2014/main" val="2021507981"/>
                  </a:ext>
                </a:extLst>
              </a:tr>
              <a:tr h="0">
                <a:tc>
                  <a:txBody>
                    <a:bodyPr/>
                    <a:lstStyle/>
                    <a:p>
                      <a:pPr>
                        <a:buNone/>
                      </a:pPr>
                      <a:r>
                        <a:rPr lang="en-IN"/>
                        <a:t>Agentic AI</a:t>
                      </a:r>
                    </a:p>
                  </a:txBody>
                  <a:tcPr anchor="ctr"/>
                </a:tc>
                <a:tc>
                  <a:txBody>
                    <a:bodyPr/>
                    <a:lstStyle/>
                    <a:p>
                      <a:pPr>
                        <a:buNone/>
                      </a:pPr>
                      <a:r>
                        <a:rPr lang="en-IN"/>
                        <a:t>LangGraph</a:t>
                      </a:r>
                    </a:p>
                  </a:txBody>
                  <a:tcPr anchor="ctr"/>
                </a:tc>
                <a:extLst>
                  <a:ext uri="{0D108BD9-81ED-4DB2-BD59-A6C34878D82A}">
                    <a16:rowId xmlns:a16="http://schemas.microsoft.com/office/drawing/2014/main" val="297048879"/>
                  </a:ext>
                </a:extLst>
              </a:tr>
              <a:tr h="0">
                <a:tc>
                  <a:txBody>
                    <a:bodyPr/>
                    <a:lstStyle/>
                    <a:p>
                      <a:pPr>
                        <a:buNone/>
                      </a:pPr>
                      <a:r>
                        <a:rPr lang="en-IN"/>
                        <a:t>Deployment</a:t>
                      </a:r>
                    </a:p>
                  </a:txBody>
                  <a:tcPr anchor="ctr"/>
                </a:tc>
                <a:tc>
                  <a:txBody>
                    <a:bodyPr/>
                    <a:lstStyle/>
                    <a:p>
                      <a:pPr>
                        <a:buNone/>
                      </a:pPr>
                      <a:r>
                        <a:rPr lang="en-IN"/>
                        <a:t>Docker</a:t>
                      </a:r>
                    </a:p>
                  </a:txBody>
                  <a:tcPr anchor="ctr"/>
                </a:tc>
                <a:extLst>
                  <a:ext uri="{0D108BD9-81ED-4DB2-BD59-A6C34878D82A}">
                    <a16:rowId xmlns:a16="http://schemas.microsoft.com/office/drawing/2014/main" val="286619966"/>
                  </a:ext>
                </a:extLst>
              </a:tr>
              <a:tr h="0">
                <a:tc>
                  <a:txBody>
                    <a:bodyPr/>
                    <a:lstStyle/>
                    <a:p>
                      <a:pPr>
                        <a:buNone/>
                      </a:pPr>
                      <a:r>
                        <a:rPr lang="en-IN"/>
                        <a:t>Data Sources</a:t>
                      </a:r>
                    </a:p>
                  </a:txBody>
                  <a:tcPr anchor="ctr"/>
                </a:tc>
                <a:tc>
                  <a:txBody>
                    <a:bodyPr/>
                    <a:lstStyle/>
                    <a:p>
                      <a:pPr>
                        <a:buNone/>
                      </a:pPr>
                      <a:r>
                        <a:rPr lang="en-IN" dirty="0"/>
                        <a:t>FDA MAUDE, </a:t>
                      </a:r>
                      <a:r>
                        <a:rPr lang="en-IN" dirty="0" err="1"/>
                        <a:t>openFDA</a:t>
                      </a:r>
                      <a:r>
                        <a:rPr lang="en-IN" dirty="0"/>
                        <a:t>, 21 CFR</a:t>
                      </a:r>
                    </a:p>
                  </a:txBody>
                  <a:tcPr anchor="ctr"/>
                </a:tc>
                <a:extLst>
                  <a:ext uri="{0D108BD9-81ED-4DB2-BD59-A6C34878D82A}">
                    <a16:rowId xmlns:a16="http://schemas.microsoft.com/office/drawing/2014/main" val="2805976597"/>
                  </a:ext>
                </a:extLst>
              </a:tr>
            </a:tbl>
          </a:graphicData>
        </a:graphic>
      </p:graphicFrame>
    </p:spTree>
    <p:extLst>
      <p:ext uri="{BB962C8B-B14F-4D97-AF65-F5344CB8AC3E}">
        <p14:creationId xmlns:p14="http://schemas.microsoft.com/office/powerpoint/2010/main" val="10768112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2"/>
          <p:cNvSpPr txBox="1">
            <a:spLocks noGrp="1"/>
          </p:cNvSpPr>
          <p:nvPr>
            <p:ph type="body" idx="1"/>
          </p:nvPr>
        </p:nvSpPr>
        <p:spPr>
          <a:xfrm>
            <a:off x="819325" y="1271225"/>
            <a:ext cx="10060800" cy="5040600"/>
          </a:xfrm>
          <a:prstGeom prst="rect">
            <a:avLst/>
          </a:prstGeom>
          <a:noFill/>
          <a:ln>
            <a:noFill/>
          </a:ln>
        </p:spPr>
        <p:txBody>
          <a:bodyPr spcFirstLastPara="1" wrap="square" lIns="91425" tIns="45700" rIns="91425" bIns="45700" anchor="t" anchorCtr="0">
            <a:noAutofit/>
          </a:bodyPr>
          <a:lstStyle/>
          <a:p>
            <a:pPr marL="457200" lvl="0" indent="-406400" algn="l" rtl="0">
              <a:lnSpc>
                <a:spcPct val="150000"/>
              </a:lnSpc>
              <a:spcBef>
                <a:spcPts val="0"/>
              </a:spcBef>
              <a:spcAft>
                <a:spcPts val="0"/>
              </a:spcAft>
              <a:buClr>
                <a:srgbClr val="0070C0"/>
              </a:buClr>
              <a:buSzPts val="2800"/>
              <a:buFont typeface="Calibri"/>
              <a:buChar char="●"/>
            </a:pPr>
            <a:r>
              <a:rPr lang="en-US">
                <a:solidFill>
                  <a:srgbClr val="0070C0"/>
                </a:solidFill>
                <a:latin typeface="Calibri"/>
                <a:ea typeface="Calibri"/>
                <a:cs typeface="Calibri"/>
                <a:sym typeface="Calibri"/>
              </a:rPr>
              <a:t>Module 1 - Complaint NLP:</a:t>
            </a:r>
            <a:r>
              <a:rPr lang="en-US" b="0">
                <a:solidFill>
                  <a:srgbClr val="0070C0"/>
                </a:solidFill>
                <a:latin typeface="Calibri"/>
                <a:ea typeface="Calibri"/>
                <a:cs typeface="Calibri"/>
                <a:sym typeface="Calibri"/>
              </a:rPr>
              <a:t> Clean MAUDE data and extract device problems and patient effects.</a:t>
            </a:r>
            <a:endParaRPr b="0">
              <a:solidFill>
                <a:srgbClr val="0070C0"/>
              </a:solidFill>
              <a:latin typeface="Calibri"/>
              <a:ea typeface="Calibri"/>
              <a:cs typeface="Calibri"/>
              <a:sym typeface="Calibri"/>
            </a:endParaRPr>
          </a:p>
          <a:p>
            <a:pPr marL="457200" lvl="0" indent="-406400" algn="l" rtl="0">
              <a:lnSpc>
                <a:spcPct val="150000"/>
              </a:lnSpc>
              <a:spcBef>
                <a:spcPts val="0"/>
              </a:spcBef>
              <a:spcAft>
                <a:spcPts val="0"/>
              </a:spcAft>
              <a:buClr>
                <a:srgbClr val="0070C0"/>
              </a:buClr>
              <a:buSzPts val="2800"/>
              <a:buFont typeface="Calibri"/>
              <a:buChar char="●"/>
            </a:pPr>
            <a:r>
              <a:rPr lang="en-US">
                <a:solidFill>
                  <a:srgbClr val="0070C0"/>
                </a:solidFill>
                <a:latin typeface="Calibri"/>
                <a:ea typeface="Calibri"/>
                <a:cs typeface="Calibri"/>
                <a:sym typeface="Calibri"/>
              </a:rPr>
              <a:t>Module 2 - Evidence Retrieval:</a:t>
            </a:r>
            <a:r>
              <a:rPr lang="en-US" b="0">
                <a:solidFill>
                  <a:srgbClr val="0070C0"/>
                </a:solidFill>
                <a:latin typeface="Calibri"/>
                <a:ea typeface="Calibri"/>
                <a:cs typeface="Calibri"/>
                <a:sym typeface="Calibri"/>
              </a:rPr>
              <a:t> Find similar cases, device details and possible recall matches.</a:t>
            </a:r>
            <a:endParaRPr b="0">
              <a:solidFill>
                <a:srgbClr val="0070C0"/>
              </a:solidFill>
              <a:latin typeface="Calibri"/>
              <a:ea typeface="Calibri"/>
              <a:cs typeface="Calibri"/>
              <a:sym typeface="Calibri"/>
            </a:endParaRPr>
          </a:p>
          <a:p>
            <a:pPr marL="457200" lvl="0" indent="-406400" algn="l" rtl="0">
              <a:lnSpc>
                <a:spcPct val="150000"/>
              </a:lnSpc>
              <a:spcBef>
                <a:spcPts val="0"/>
              </a:spcBef>
              <a:spcAft>
                <a:spcPts val="0"/>
              </a:spcAft>
              <a:buClr>
                <a:srgbClr val="0070C0"/>
              </a:buClr>
              <a:buSzPts val="2800"/>
              <a:buFont typeface="Calibri"/>
              <a:buChar char="●"/>
            </a:pPr>
            <a:r>
              <a:rPr lang="en-US">
                <a:solidFill>
                  <a:srgbClr val="0070C0"/>
                </a:solidFill>
                <a:latin typeface="Calibri"/>
                <a:ea typeface="Calibri"/>
                <a:cs typeface="Calibri"/>
                <a:sym typeface="Calibri"/>
              </a:rPr>
              <a:t>Module 3 - Investigation:</a:t>
            </a:r>
            <a:r>
              <a:rPr lang="en-US" b="0">
                <a:solidFill>
                  <a:srgbClr val="0070C0"/>
                </a:solidFill>
                <a:latin typeface="Calibri"/>
                <a:ea typeface="Calibri"/>
                <a:cs typeface="Calibri"/>
                <a:sym typeface="Calibri"/>
              </a:rPr>
              <a:t> Combine trends, priority rules and regulatory RAG through agents.</a:t>
            </a:r>
            <a:endParaRPr b="0">
              <a:solidFill>
                <a:srgbClr val="0070C0"/>
              </a:solidFill>
              <a:latin typeface="Calibri"/>
              <a:ea typeface="Calibri"/>
              <a:cs typeface="Calibri"/>
              <a:sym typeface="Calibri"/>
            </a:endParaRPr>
          </a:p>
          <a:p>
            <a:pPr marL="457200" lvl="0" indent="-406400" algn="l" rtl="0">
              <a:lnSpc>
                <a:spcPct val="150000"/>
              </a:lnSpc>
              <a:spcBef>
                <a:spcPts val="0"/>
              </a:spcBef>
              <a:spcAft>
                <a:spcPts val="0"/>
              </a:spcAft>
              <a:buClr>
                <a:srgbClr val="0070C0"/>
              </a:buClr>
              <a:buSzPts val="2800"/>
              <a:buFont typeface="Calibri"/>
              <a:buChar char="●"/>
            </a:pPr>
            <a:r>
              <a:rPr lang="en-US">
                <a:solidFill>
                  <a:srgbClr val="0070C0"/>
                </a:solidFill>
                <a:latin typeface="Calibri"/>
                <a:ea typeface="Calibri"/>
                <a:cs typeface="Calibri"/>
                <a:sym typeface="Calibri"/>
              </a:rPr>
              <a:t>Module 4 - Report &amp; Evaluation:</a:t>
            </a:r>
            <a:r>
              <a:rPr lang="en-US" b="0">
                <a:solidFill>
                  <a:srgbClr val="0070C0"/>
                </a:solidFill>
                <a:latin typeface="Calibri"/>
                <a:ea typeface="Calibri"/>
                <a:cs typeface="Calibri"/>
                <a:sym typeface="Calibri"/>
              </a:rPr>
              <a:t> Check citations and compare retrieval quality and review time.</a:t>
            </a:r>
            <a:endParaRPr b="0">
              <a:solidFill>
                <a:srgbClr val="0070C0"/>
              </a:solidFill>
              <a:latin typeface="Calibri"/>
              <a:ea typeface="Calibri"/>
              <a:cs typeface="Calibri"/>
              <a:sym typeface="Calibri"/>
            </a:endParaRPr>
          </a:p>
          <a:p>
            <a:pPr marL="0" lvl="0" indent="0" algn="l" rtl="0">
              <a:lnSpc>
                <a:spcPct val="150000"/>
              </a:lnSpc>
              <a:spcBef>
                <a:spcPts val="0"/>
              </a:spcBef>
              <a:spcAft>
                <a:spcPts val="0"/>
              </a:spcAft>
              <a:buSzPts val="2800"/>
              <a:buNone/>
            </a:pPr>
            <a:endParaRPr>
              <a:solidFill>
                <a:srgbClr val="5583D1"/>
              </a:solidFill>
            </a:endParaRPr>
          </a:p>
        </p:txBody>
      </p:sp>
      <p:sp>
        <p:nvSpPr>
          <p:cNvPr id="123" name="Google Shape;123;p22"/>
          <p:cNvSpPr txBox="1"/>
          <p:nvPr/>
        </p:nvSpPr>
        <p:spPr>
          <a:xfrm>
            <a:off x="255996" y="502545"/>
            <a:ext cx="10624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E4E79"/>
              </a:buClr>
              <a:buSzPts val="3600"/>
              <a:buFont typeface="Calibri"/>
              <a:buNone/>
            </a:pPr>
            <a:r>
              <a:rPr lang="en-US" sz="3600" b="1" i="0" u="none" strike="noStrike" cap="none">
                <a:solidFill>
                  <a:srgbClr val="1E4E79"/>
                </a:solidFill>
                <a:latin typeface="Calibri"/>
                <a:ea typeface="Calibri"/>
                <a:cs typeface="Calibri"/>
                <a:sym typeface="Calibri"/>
              </a:rPr>
              <a:t>Modules to cover</a:t>
            </a:r>
            <a:endParaRPr sz="1400" b="0" i="0" u="none" strike="noStrike" cap="none">
              <a:solidFill>
                <a:srgbClr val="000000"/>
              </a:solidFill>
              <a:latin typeface="Arial"/>
              <a:ea typeface="Arial"/>
              <a:cs typeface="Arial"/>
              <a:sym typeface="Arial"/>
            </a:endParaRPr>
          </a:p>
        </p:txBody>
      </p:sp>
      <p:cxnSp>
        <p:nvCxnSpPr>
          <p:cNvPr id="124" name="Google Shape;124;p22"/>
          <p:cNvCxnSpPr/>
          <p:nvPr/>
        </p:nvCxnSpPr>
        <p:spPr>
          <a:xfrm>
            <a:off x="221274" y="1191756"/>
            <a:ext cx="7305799" cy="0"/>
          </a:xfrm>
          <a:prstGeom prst="straightConnector1">
            <a:avLst/>
          </a:prstGeom>
          <a:noFill/>
          <a:ln w="28575" cap="flat" cmpd="sng">
            <a:solidFill>
              <a:schemeClr val="accent6"/>
            </a:solidFill>
            <a:prstDash val="solid"/>
            <a:miter lim="0"/>
            <a:headEnd type="none" w="sm" len="sm"/>
            <a:tailEnd type="none" w="sm" len="sm"/>
          </a:ln>
        </p:spPr>
      </p:cxnSp>
      <p:sp>
        <p:nvSpPr>
          <p:cNvPr id="125" name="Google Shape;125;p22"/>
          <p:cNvSpPr txBox="1"/>
          <p:nvPr/>
        </p:nvSpPr>
        <p:spPr>
          <a:xfrm>
            <a:off x="3262103" y="57025"/>
            <a:ext cx="8929800" cy="861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1" i="1" u="none" strike="noStrike" cap="none">
                <a:solidFill>
                  <a:schemeClr val="lt1"/>
                </a:solidFill>
                <a:latin typeface="Calibri"/>
                <a:ea typeface="Calibri"/>
                <a:cs typeface="Calibri"/>
                <a:sym typeface="Calibri"/>
              </a:rPr>
              <a:t>MedTrace AI - Medical Device Complaint Investigation Platform</a:t>
            </a:r>
            <a:endParaRPr sz="1400" b="0" i="0" u="none" strike="noStrike" cap="none">
              <a:solidFill>
                <a:schemeClr val="dk1"/>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3"/>
          <p:cNvSpPr txBox="1">
            <a:spLocks noGrp="1"/>
          </p:cNvSpPr>
          <p:nvPr>
            <p:ph type="body" idx="2"/>
          </p:nvPr>
        </p:nvSpPr>
        <p:spPr>
          <a:xfrm>
            <a:off x="288025" y="629525"/>
            <a:ext cx="10537200" cy="769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2800"/>
              <a:buNone/>
            </a:pPr>
            <a:r>
              <a:rPr lang="en-US" sz="3600">
                <a:solidFill>
                  <a:srgbClr val="1E4E79"/>
                </a:solidFill>
                <a:latin typeface="Calibri"/>
                <a:ea typeface="Calibri"/>
                <a:cs typeface="Calibri"/>
                <a:sym typeface="Calibri"/>
              </a:rPr>
              <a:t>Expected Outcomes</a:t>
            </a:r>
            <a:endParaRPr sz="3600">
              <a:solidFill>
                <a:srgbClr val="1E4E79"/>
              </a:solidFill>
              <a:latin typeface="Calibri"/>
              <a:ea typeface="Calibri"/>
              <a:cs typeface="Calibri"/>
              <a:sym typeface="Calibri"/>
            </a:endParaRPr>
          </a:p>
        </p:txBody>
      </p:sp>
      <p:cxnSp>
        <p:nvCxnSpPr>
          <p:cNvPr id="131" name="Google Shape;131;p23"/>
          <p:cNvCxnSpPr>
            <a:stCxn id="130" idx="1"/>
            <a:endCxn id="130" idx="1"/>
          </p:cNvCxnSpPr>
          <p:nvPr/>
        </p:nvCxnSpPr>
        <p:spPr>
          <a:xfrm>
            <a:off x="288025" y="1014275"/>
            <a:ext cx="0" cy="0"/>
          </a:xfrm>
          <a:prstGeom prst="straightConnector1">
            <a:avLst/>
          </a:prstGeom>
          <a:noFill/>
          <a:ln w="9525" cap="flat" cmpd="sng">
            <a:solidFill>
              <a:schemeClr val="dk2"/>
            </a:solidFill>
            <a:prstDash val="solid"/>
            <a:round/>
            <a:headEnd type="none" w="sm" len="sm"/>
            <a:tailEnd type="none" w="sm" len="sm"/>
          </a:ln>
        </p:spPr>
      </p:cxnSp>
      <p:cxnSp>
        <p:nvCxnSpPr>
          <p:cNvPr id="132" name="Google Shape;132;p23"/>
          <p:cNvCxnSpPr>
            <a:stCxn id="130" idx="1"/>
            <a:endCxn id="130" idx="1"/>
          </p:cNvCxnSpPr>
          <p:nvPr/>
        </p:nvCxnSpPr>
        <p:spPr>
          <a:xfrm>
            <a:off x="288025" y="1014275"/>
            <a:ext cx="0" cy="0"/>
          </a:xfrm>
          <a:prstGeom prst="straightConnector1">
            <a:avLst/>
          </a:prstGeom>
          <a:noFill/>
          <a:ln w="9525" cap="flat" cmpd="sng">
            <a:solidFill>
              <a:schemeClr val="dk2"/>
            </a:solidFill>
            <a:prstDash val="solid"/>
            <a:round/>
            <a:headEnd type="none" w="sm" len="sm"/>
            <a:tailEnd type="none" w="sm" len="sm"/>
          </a:ln>
        </p:spPr>
      </p:cxnSp>
      <p:cxnSp>
        <p:nvCxnSpPr>
          <p:cNvPr id="133" name="Google Shape;133;p23"/>
          <p:cNvCxnSpPr/>
          <p:nvPr/>
        </p:nvCxnSpPr>
        <p:spPr>
          <a:xfrm>
            <a:off x="288025" y="1261875"/>
            <a:ext cx="6556200" cy="41100"/>
          </a:xfrm>
          <a:prstGeom prst="straightConnector1">
            <a:avLst/>
          </a:prstGeom>
          <a:noFill/>
          <a:ln w="19050" cap="flat" cmpd="sng">
            <a:solidFill>
              <a:schemeClr val="accent6"/>
            </a:solidFill>
            <a:prstDash val="solid"/>
            <a:round/>
            <a:headEnd type="none" w="sm" len="sm"/>
            <a:tailEnd type="none" w="sm" len="sm"/>
          </a:ln>
        </p:spPr>
      </p:cxnSp>
      <p:sp>
        <p:nvSpPr>
          <p:cNvPr id="134" name="Google Shape;134;p23"/>
          <p:cNvSpPr txBox="1"/>
          <p:nvPr/>
        </p:nvSpPr>
        <p:spPr>
          <a:xfrm>
            <a:off x="410025" y="1302975"/>
            <a:ext cx="11060400" cy="5787600"/>
          </a:xfrm>
          <a:prstGeom prst="rect">
            <a:avLst/>
          </a:prstGeom>
          <a:noFill/>
          <a:ln>
            <a:noFill/>
          </a:ln>
        </p:spPr>
        <p:txBody>
          <a:bodyPr spcFirstLastPara="1" wrap="square" lIns="91425" tIns="91425" rIns="91425" bIns="91425" anchor="t" anchorCtr="0">
            <a:spAutoFit/>
          </a:bodyPr>
          <a:lstStyle/>
          <a:p>
            <a:pPr marL="457200" marR="0" lvl="0" indent="-406400" algn="just" rtl="0">
              <a:lnSpc>
                <a:spcPct val="150000"/>
              </a:lnSpc>
              <a:spcBef>
                <a:spcPts val="0"/>
              </a:spcBef>
              <a:spcAft>
                <a:spcPts val="0"/>
              </a:spcAft>
              <a:buClr>
                <a:srgbClr val="0070C0"/>
              </a:buClr>
              <a:buSzPts val="2800"/>
              <a:buFont typeface="Calibri"/>
              <a:buChar char="●"/>
            </a:pPr>
            <a:r>
              <a:rPr lang="en-US" sz="2800" b="1" i="0" u="none" strike="noStrike" cap="none">
                <a:solidFill>
                  <a:srgbClr val="0070C0"/>
                </a:solidFill>
                <a:latin typeface="Calibri"/>
                <a:ea typeface="Calibri"/>
                <a:cs typeface="Calibri"/>
                <a:sym typeface="Calibri"/>
              </a:rPr>
              <a:t>Structured Complaints:</a:t>
            </a:r>
            <a:r>
              <a:rPr lang="en-US" sz="2800" b="0" i="0" u="none" strike="noStrike" cap="none">
                <a:solidFill>
                  <a:srgbClr val="0070C0"/>
                </a:solidFill>
                <a:latin typeface="Calibri"/>
                <a:ea typeface="Calibri"/>
                <a:cs typeface="Calibri"/>
                <a:sym typeface="Calibri"/>
              </a:rPr>
              <a:t> Extract device failures and reported patient consequences.</a:t>
            </a:r>
            <a:endParaRPr sz="2800" b="0" i="0" u="none" strike="noStrike" cap="none">
              <a:solidFill>
                <a:srgbClr val="0070C0"/>
              </a:solidFill>
              <a:latin typeface="Calibri"/>
              <a:ea typeface="Calibri"/>
              <a:cs typeface="Calibri"/>
              <a:sym typeface="Calibri"/>
            </a:endParaRPr>
          </a:p>
          <a:p>
            <a:pPr marL="457200" marR="0" lvl="0" indent="-406400" algn="just" rtl="0">
              <a:lnSpc>
                <a:spcPct val="150000"/>
              </a:lnSpc>
              <a:spcBef>
                <a:spcPts val="0"/>
              </a:spcBef>
              <a:spcAft>
                <a:spcPts val="0"/>
              </a:spcAft>
              <a:buClr>
                <a:srgbClr val="0070C0"/>
              </a:buClr>
              <a:buSzPts val="2800"/>
              <a:buFont typeface="Calibri"/>
              <a:buChar char="●"/>
            </a:pPr>
            <a:r>
              <a:rPr lang="en-US" sz="2800" b="1" i="0" u="none" strike="noStrike" cap="none">
                <a:solidFill>
                  <a:srgbClr val="0070C0"/>
                </a:solidFill>
                <a:latin typeface="Calibri"/>
                <a:ea typeface="Calibri"/>
                <a:cs typeface="Calibri"/>
                <a:sym typeface="Calibri"/>
              </a:rPr>
              <a:t>Traceable Evidence:</a:t>
            </a:r>
            <a:r>
              <a:rPr lang="en-US" sz="2800" b="0" i="0" u="none" strike="noStrike" cap="none">
                <a:solidFill>
                  <a:srgbClr val="0070C0"/>
                </a:solidFill>
                <a:latin typeface="Calibri"/>
                <a:ea typeface="Calibri"/>
                <a:cs typeface="Calibri"/>
                <a:sym typeface="Calibri"/>
              </a:rPr>
              <a:t> Connect findings to similar reports and regulatory sources.</a:t>
            </a:r>
            <a:endParaRPr sz="2800" b="0" i="0" u="none" strike="noStrike" cap="none">
              <a:solidFill>
                <a:srgbClr val="0070C0"/>
              </a:solidFill>
              <a:latin typeface="Calibri"/>
              <a:ea typeface="Calibri"/>
              <a:cs typeface="Calibri"/>
              <a:sym typeface="Calibri"/>
            </a:endParaRPr>
          </a:p>
          <a:p>
            <a:pPr marL="457200" marR="0" lvl="0" indent="-406400" algn="just" rtl="0">
              <a:lnSpc>
                <a:spcPct val="150000"/>
              </a:lnSpc>
              <a:spcBef>
                <a:spcPts val="0"/>
              </a:spcBef>
              <a:spcAft>
                <a:spcPts val="0"/>
              </a:spcAft>
              <a:buClr>
                <a:srgbClr val="0070C0"/>
              </a:buClr>
              <a:buSzPts val="2800"/>
              <a:buFont typeface="Calibri"/>
              <a:buChar char="●"/>
            </a:pPr>
            <a:r>
              <a:rPr lang="en-US" sz="2800" b="1" i="0" u="none" strike="noStrike" cap="none">
                <a:solidFill>
                  <a:srgbClr val="0070C0"/>
                </a:solidFill>
                <a:latin typeface="Calibri"/>
                <a:ea typeface="Calibri"/>
                <a:cs typeface="Calibri"/>
                <a:sym typeface="Calibri"/>
              </a:rPr>
              <a:t>Better Retrieval:</a:t>
            </a:r>
            <a:r>
              <a:rPr lang="en-US" sz="2800" b="0" i="0" u="none" strike="noStrike" cap="none">
                <a:solidFill>
                  <a:srgbClr val="0070C0"/>
                </a:solidFill>
                <a:latin typeface="Calibri"/>
                <a:ea typeface="Calibri"/>
                <a:cs typeface="Calibri"/>
                <a:sym typeface="Calibri"/>
              </a:rPr>
              <a:t> Aim to improve relevant evidence coverage over basic search.</a:t>
            </a:r>
            <a:endParaRPr sz="2800" b="0" i="0" u="none" strike="noStrike" cap="none">
              <a:solidFill>
                <a:srgbClr val="0070C0"/>
              </a:solidFill>
              <a:latin typeface="Calibri"/>
              <a:ea typeface="Calibri"/>
              <a:cs typeface="Calibri"/>
              <a:sym typeface="Calibri"/>
            </a:endParaRPr>
          </a:p>
          <a:p>
            <a:pPr marL="457200" marR="0" lvl="0" indent="-406400" algn="just" rtl="0">
              <a:lnSpc>
                <a:spcPct val="150000"/>
              </a:lnSpc>
              <a:spcBef>
                <a:spcPts val="0"/>
              </a:spcBef>
              <a:spcAft>
                <a:spcPts val="0"/>
              </a:spcAft>
              <a:buClr>
                <a:srgbClr val="0070C0"/>
              </a:buClr>
              <a:buSzPts val="2800"/>
              <a:buFont typeface="Calibri"/>
              <a:buChar char="●"/>
            </a:pPr>
            <a:r>
              <a:rPr lang="en-US" sz="2800" b="1" i="0" u="none" strike="noStrike" cap="none">
                <a:solidFill>
                  <a:srgbClr val="0070C0"/>
                </a:solidFill>
                <a:latin typeface="Calibri"/>
                <a:ea typeface="Calibri"/>
                <a:cs typeface="Calibri"/>
                <a:sym typeface="Calibri"/>
              </a:rPr>
              <a:t>Investigator Support:</a:t>
            </a:r>
            <a:r>
              <a:rPr lang="en-US" sz="2800" b="0" i="0" u="none" strike="noStrike" cap="none">
                <a:solidFill>
                  <a:srgbClr val="0070C0"/>
                </a:solidFill>
                <a:latin typeface="Calibri"/>
                <a:ea typeface="Calibri"/>
                <a:cs typeface="Calibri"/>
                <a:sym typeface="Calibri"/>
              </a:rPr>
              <a:t> Highlight missing evidence and recommend next steps for review.</a:t>
            </a:r>
            <a:endParaRPr sz="2800" b="0" i="0" u="none" strike="noStrike" cap="none">
              <a:solidFill>
                <a:srgbClr val="0070C0"/>
              </a:solidFill>
              <a:latin typeface="Calibri"/>
              <a:ea typeface="Calibri"/>
              <a:cs typeface="Calibri"/>
              <a:sym typeface="Calibri"/>
            </a:endParaRPr>
          </a:p>
          <a:p>
            <a:pPr marL="0" marR="0" lvl="0" indent="0" algn="just" rtl="0">
              <a:lnSpc>
                <a:spcPct val="150000"/>
              </a:lnSpc>
              <a:spcBef>
                <a:spcPts val="0"/>
              </a:spcBef>
              <a:spcAft>
                <a:spcPts val="0"/>
              </a:spcAft>
              <a:buClr>
                <a:srgbClr val="000000"/>
              </a:buClr>
              <a:buSzPts val="2800"/>
              <a:buFont typeface="Arial"/>
              <a:buNone/>
            </a:pPr>
            <a:endParaRPr sz="2800" b="0" i="0" u="none" strike="noStrike" cap="none">
              <a:solidFill>
                <a:srgbClr val="0070C0"/>
              </a:solidFill>
              <a:latin typeface="Calibri"/>
              <a:ea typeface="Calibri"/>
              <a:cs typeface="Calibri"/>
              <a:sym typeface="Calibri"/>
            </a:endParaRPr>
          </a:p>
        </p:txBody>
      </p:sp>
      <p:sp>
        <p:nvSpPr>
          <p:cNvPr id="135" name="Google Shape;135;p23"/>
          <p:cNvSpPr txBox="1"/>
          <p:nvPr/>
        </p:nvSpPr>
        <p:spPr>
          <a:xfrm>
            <a:off x="3535200" y="-75875"/>
            <a:ext cx="8693700" cy="1231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chemeClr val="lt1"/>
                </a:solidFill>
                <a:latin typeface="Calibri"/>
                <a:ea typeface="Calibri"/>
                <a:cs typeface="Calibri"/>
                <a:sym typeface="Calibri"/>
              </a:rPr>
              <a:t>MedTrace AI - Medical Device Complaint Investigation Platform</a:t>
            </a:r>
            <a:endParaRPr sz="1400" b="0" i="0" u="none" strike="noStrike" cap="none">
              <a:solidFill>
                <a:schemeClr val="dk1"/>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endParaRPr sz="1800" b="1" i="1" u="none" strike="noStrike" cap="none">
              <a:solidFill>
                <a:schemeClr val="lt1"/>
              </a:solidFill>
              <a:latin typeface="Calibri"/>
              <a:ea typeface="Calibri"/>
              <a:cs typeface="Calibri"/>
              <a:sym typeface="Calibri"/>
            </a:endParaRPr>
          </a:p>
          <a:p>
            <a:pPr marL="0" marR="0" lvl="0" indent="0" algn="r" rtl="0">
              <a:lnSpc>
                <a:spcPct val="100000"/>
              </a:lnSpc>
              <a:spcBef>
                <a:spcPts val="0"/>
              </a:spcBef>
              <a:spcAft>
                <a:spcPts val="0"/>
              </a:spcAft>
              <a:buClr>
                <a:schemeClr val="dk1"/>
              </a:buClr>
              <a:buSzPts val="18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1" u="none" strike="noStrike" cap="none">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TotalTime>
  <Words>1672</Words>
  <Application>Microsoft Office PowerPoint</Application>
  <PresentationFormat>Widescreen</PresentationFormat>
  <Paragraphs>125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Khavin C</cp:lastModifiedBy>
  <cp:revision>6</cp:revision>
  <dcterms:modified xsi:type="dcterms:W3CDTF">2026-09-11T05:35:45Z</dcterms:modified>
</cp:coreProperties>
</file>