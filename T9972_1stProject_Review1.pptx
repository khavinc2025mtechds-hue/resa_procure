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6AE9A8-6298-4076-9231-B7FAEA5409DA}">
  <a:tblStyle styleId="{7A6AE9A8-6298-4076-9231-B7FAEA5409D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0C8B7E1-8674-4730-B2C8-AEA6B080A4AC}"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4957" autoAdjust="0"/>
  </p:normalViewPr>
  <p:slideViewPr>
    <p:cSldViewPr snapToGrid="0">
      <p:cViewPr varScale="1">
        <p:scale>
          <a:sx n="50" d="100"/>
          <a:sy n="50" d="100"/>
        </p:scale>
        <p:origin x="109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p:txBody>
      </p:sp>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a:p>
            <a:r>
              <a:t>The problem is evidence reliability in automotive component procurement. Supplier scores alone may omit contractual requirements, evidence freshness or missing documentation. RESA means Requirement–Evidence–Supplier Alignment. It structures the query, retrieves supplier-specific sources, assesses each requirement, ranks eligible candidates and checks the generated explanation. All capabilities describe proposed research.</a:t>
            </a:r>
          </a:p>
        </p:txBody>
      </p:sp>
      <p:sp>
        <p:nvSpPr>
          <p:cNvPr id="71" name="Google Shape;7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a:p>
            <a:r>
              <a:t>Objectives: (1) Extract component, quantity, quality and delivery requirements and distinguish mandatory constraints from preferences. (2) Retrieve matching records using keyword and vector search plus supplier metadata. (3) Annotate satisfied, violated and insufficient-evidence states. (4) Rank eligible suppliers using normalized metrics and temporally weighted risk without allowing price to offset a mandatory violation. (5) Measure retrieval, ranking, evidence coverage and claim faithfulness, with component ablations.</a:t>
            </a:r>
          </a:p>
        </p:txBody>
      </p:sp>
      <p:sp>
        <p:nvSpPr>
          <p:cNvPr id="79" name="Google Shape;7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a:p>
            <a:r>
              <a:t>The study concerns business procurement of automotive components, not consumer vehicle recommendations. Candidate public sources from the prior plan require provenance and licensing checks before use. Keep unrelated supplier identities separate. Use a held-out, human-annotated evaluation set where feasible. Evaluate vector RAG, hybrid RAG, structured ranking, combined RAG-plus-ranking and full RESA on comparable tasks. The framework provides recommendations for analyst review, rather than autonomous purchasing.</a:t>
            </a:r>
          </a:p>
        </p:txBody>
      </p:sp>
      <p:sp>
        <p:nvSpPr>
          <p:cNvPr id="87" name="Google Shape;8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Selected papers from the supplied ProcureBot Dataset Plan conversation. Short paper labels appear in the table.</a:t>
            </a:r>
          </a:p>
          <a:p>
            <a:r>
              <a:t>[1] Abdulla &amp; Baryannis (2024). A Hybrid Multi-Criteria Decision-Making and Machine Learning Approach for Explainable Supplier Selection. https://www.sciencedirect.com/science/article/pii/S2949863524000177</a:t>
            </a:r>
          </a:p>
          <a:p>
            <a:r>
              <a:t>[2] Ma &amp; Li (2024). A Decision Support System for Supplier Quality Evaluation Based on MCDM-Aggregation and Machine Learning. https://www.sciencedirect.com/science/article/pii/S0957417423032487</a:t>
            </a:r>
          </a:p>
          <a:p>
            <a:r>
              <a:t>[3] Lindholm et al. (2025). Enabling a Data-Driven Assessment of Operational Supply Risks in Automotive Supply Chains. https://www.sciencedirect.com/science/article/pii/S2405896325011371</a:t>
            </a:r>
          </a:p>
          <a:p>
            <a:r>
              <a:t>[4] Jackson, Saénz, Ivanov &amp; Ma (2025). Supply Chain Mapping Through Retrieval-Augmented Generation: Applications to the Electronics Industry. https://doi.org/10.1080/01605682.2025.2608868</a:t>
            </a:r>
          </a:p>
          <a:p>
            <a:r>
              <a:t>[5] Joshi, Singh, Parashar &amp; Singh (2026). A Multi-Agent Large Language Model Framework for Intelligent Vendor Evaluation and Risk-Aware Procurement Decisions. https://doi.org/10.1038/s41598-026-50952-x</a:t>
            </a:r>
          </a:p>
          <a:p>
            <a:r>
              <a:t>[6] Rodríguez Montequín et al. (2026). A Dual-Mode Retrieval-Augmented Generation System for Interactive Question Answering of Public Tender Documents. https://www.sciencedirect.com/science/article/pii/S1877050926007295</a:t>
            </a:r>
          </a:p>
          <a:p>
            <a:r>
              <a:t>Gaps are comparative research interpretations based on the reported focus of these studies and the supplied survey. They are not proof that each paper lacks every related mechanism. The proposed RESA extensions and improvements require experimental validation. Full-text access was limited for several publisher pages.</a:t>
            </a:r>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Selected papers from the supplied ProcureBot Dataset Plan conversation. Short paper labels appear in the table.</a:t>
            </a:r>
          </a:p>
          <a:p>
            <a:r>
              <a:t>[1] Abdulla &amp; Baryannis (2024). A Hybrid Multi-Criteria Decision-Making and Machine Learning Approach for Explainable Supplier Selection. https://www.sciencedirect.com/science/article/pii/S2949863524000177</a:t>
            </a:r>
          </a:p>
          <a:p>
            <a:r>
              <a:t>[2] Ma &amp; Li (2024). A Decision Support System for Supplier Quality Evaluation Based on MCDM-Aggregation and Machine Learning. https://www.sciencedirect.com/science/article/pii/S0957417423032487</a:t>
            </a:r>
          </a:p>
          <a:p>
            <a:r>
              <a:t>[3] Lindholm et al. (2025). Enabling a Data-Driven Assessment of Operational Supply Risks in Automotive Supply Chains. https://www.sciencedirect.com/science/article/pii/S2405896325011371</a:t>
            </a:r>
          </a:p>
          <a:p>
            <a:r>
              <a:t>[4] Jackson, Saénz, Ivanov &amp; Ma (2025). Supply Chain Mapping Through Retrieval-Augmented Generation: Applications to the Electronics Industry. https://doi.org/10.1080/01605682.2025.2608868</a:t>
            </a:r>
          </a:p>
          <a:p>
            <a:r>
              <a:t>[5] Joshi, Singh, Parashar &amp; Singh (2026). A Multi-Agent Large Language Model Framework for Intelligent Vendor Evaluation and Risk-Aware Procurement Decisions. https://doi.org/10.1038/s41598-026-50952-x</a:t>
            </a:r>
          </a:p>
          <a:p>
            <a:r>
              <a:t>[6] Rodríguez Montequín et al. (2026). A Dual-Mode Retrieval-Augmented Generation System for Interactive Question Answering of Public Tender Documents. https://www.sciencedirect.com/science/article/pii/S1877050926007295</a:t>
            </a:r>
          </a:p>
          <a:p>
            <a:r>
              <a:t>Gaps are comparative research interpretations based on the reported focus of these studies and the supplied survey. They are not proof that each paper lacks every related mechanism. The proposed RESA extensions and improvements require experimental validation. Full-text access was limited for several publisher pages.</a:t>
            </a:r>
          </a:p>
          <a:p>
            <a:r>
              <a:t>The selected studies cover three complementary streams: structured supplier evaluation, automotive risk analysis, and RAG/LLM procurement intelligence. Joshi et al. already combine multiple vendor-data signals, so combining structured and unstructured data is not claimed as a new contribution. The research opportunity is to operationalize and test requirement-level evidence alignment and explanation verification. Paper-specific distinctions are comparative interpretations, not exhaustive proof of absence.</a:t>
            </a:r>
          </a:p>
        </p:txBody>
      </p:sp>
      <p:sp>
        <p:nvSpPr>
          <p:cNvPr id="105" name="Google Shape;10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Selected papers from the supplied ProcureBot Dataset Plan conversation. Short paper labels appear in the table.</a:t>
            </a:r>
          </a:p>
          <a:p>
            <a:r>
              <a:t>[1] Abdulla &amp; Baryannis (2024). A Hybrid Multi-Criteria Decision-Making and Machine Learning Approach for Explainable Supplier Selection. https://www.sciencedirect.com/science/article/pii/S2949863524000177</a:t>
            </a:r>
          </a:p>
          <a:p>
            <a:r>
              <a:t>[2] Ma &amp; Li (2024). A Decision Support System for Supplier Quality Evaluation Based on MCDM-Aggregation and Machine Learning. https://www.sciencedirect.com/science/article/pii/S0957417423032487</a:t>
            </a:r>
          </a:p>
          <a:p>
            <a:r>
              <a:t>[3] Lindholm et al. (2025). Enabling a Data-Driven Assessment of Operational Supply Risks in Automotive Supply Chains. https://www.sciencedirect.com/science/article/pii/S2405896325011371</a:t>
            </a:r>
          </a:p>
          <a:p>
            <a:r>
              <a:t>[4] Jackson, Saénz, Ivanov &amp; Ma (2025). Supply Chain Mapping Through Retrieval-Augmented Generation: Applications to the Electronics Industry. https://doi.org/10.1080/01605682.2025.2608868</a:t>
            </a:r>
          </a:p>
          <a:p>
            <a:r>
              <a:t>[5] Joshi, Singh, Parashar &amp; Singh (2026). A Multi-Agent Large Language Model Framework for Intelligent Vendor Evaluation and Risk-Aware Procurement Decisions. https://doi.org/10.1038/s41598-026-50952-x</a:t>
            </a:r>
          </a:p>
          <a:p>
            <a:r>
              <a:t>[6] Rodríguez Montequín et al. (2026). A Dual-Mode Retrieval-Augmented Generation System for Interactive Question Answering of Public Tender Documents. https://www.sciencedirect.com/science/article/pii/S1877050926007295</a:t>
            </a:r>
          </a:p>
          <a:p>
            <a:r>
              <a:t>Gaps are comparative research interpretations based on the reported focus of these studies and the supplied survey. They are not proof that each paper lacks every related mechanism. The proposed RESA extensions and improvements require experimental validation. Full-text access was limited for several publisher pages.</a:t>
            </a:r>
          </a:p>
          <a:p>
            <a:endParaRPr/>
          </a:p>
          <a:p>
            <a:r>
              <a:t>Proposed response: associate evidence with supplier and requirement IDs, classify satisfied/violated/insufficient evidence, apply mandatory constraints before scoring, weight recent observations, and verify numeric and textual claims against sources. Compare full RESA against RAG, hybrid RAG, structured ranking, and RAG plus ranking. Do not treat past delivery as a guarantee of future delivery.</a:t>
            </a:r>
          </a:p>
          <a:p>
            <a:r>
              <a:t>Research gap and proposed response: Papers [1,2] focus on supplier criteria and quality evaluation. RESA adds a traceable mapping from each procurement requirement to supplier-specific records and documents. Paper [3] focuses on operational risk. RESA combines dated risk observations with the evidence for a particular procurement query. Papers [4,6] focus on relationship mapping and document questions. RESA adds mandatory constraint checks and candidate ranking. Paper [5] is closely related vendor intelligence. RESA proposes explicit evidence states and independently testable claim-support checks. These contributions remain hypotheses for experimental validation. Missing evidence triggers uncertainty or review, not automatic satisfaction. Historical delivery is evidence of past performance, not a promise of future delivery.</a:t>
            </a:r>
          </a:p>
        </p:txBody>
      </p:sp>
      <p:sp>
        <p:nvSpPr>
          <p:cNvPr id="113" name="Google Shape;11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C00D8E0-D5D3-07F0-7E8B-F311A9B03D05}"/>
            </a:ext>
          </a:extLst>
        </p:cNvPr>
        <p:cNvGrpSpPr/>
        <p:nvPr/>
      </p:nvGrpSpPr>
      <p:grpSpPr>
        <a:xfrm>
          <a:off x="0" y="0"/>
          <a:ext cx="0" cy="0"/>
          <a:chOff x="0" y="0"/>
          <a:chExt cx="0" cy="0"/>
        </a:xfrm>
      </p:grpSpPr>
      <p:sp>
        <p:nvSpPr>
          <p:cNvPr id="112" name="Google Shape;112;p7:notes">
            <a:extLst>
              <a:ext uri="{FF2B5EF4-FFF2-40B4-BE49-F238E27FC236}">
                <a16:creationId xmlns:a16="http://schemas.microsoft.com/office/drawing/2014/main" id="{C036FBDD-A920-55D6-4EBC-5BF293A5EE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Selected papers from the supplied ProcureBot Dataset Plan conversation. Short paper labels appear in the table.</a:t>
            </a:r>
          </a:p>
          <a:p>
            <a:r>
              <a:t>[1] Abdulla &amp; Baryannis (2024). A Hybrid Multi-Criteria Decision-Making and Machine Learning Approach for Explainable Supplier Selection. https://www.sciencedirect.com/science/article/pii/S2949863524000177</a:t>
            </a:r>
          </a:p>
          <a:p>
            <a:r>
              <a:t>[2] Ma &amp; Li (2024). A Decision Support System for Supplier Quality Evaluation Based on MCDM-Aggregation and Machine Learning. https://www.sciencedirect.com/science/article/pii/S0957417423032487</a:t>
            </a:r>
          </a:p>
          <a:p>
            <a:r>
              <a:t>[3] Lindholm et al. (2025). Enabling a Data-Driven Assessment of Operational Supply Risks in Automotive Supply Chains. https://www.sciencedirect.com/science/article/pii/S2405896325011371</a:t>
            </a:r>
          </a:p>
          <a:p>
            <a:r>
              <a:t>[4] Jackson, Saénz, Ivanov &amp; Ma (2025). Supply Chain Mapping Through Retrieval-Augmented Generation: Applications to the Electronics Industry. https://doi.org/10.1080/01605682.2025.2608868</a:t>
            </a:r>
          </a:p>
          <a:p>
            <a:r>
              <a:t>[5] Joshi, Singh, Parashar &amp; Singh (2026). A Multi-Agent Large Language Model Framework for Intelligent Vendor Evaluation and Risk-Aware Procurement Decisions. https://doi.org/10.1038/s41598-026-50952-x</a:t>
            </a:r>
          </a:p>
          <a:p>
            <a:r>
              <a:t>[6] Rodríguez Montequín et al. (2026). A Dual-Mode Retrieval-Augmented Generation System for Interactive Question Answering of Public Tender Documents. https://www.sciencedirect.com/science/article/pii/S1877050926007295</a:t>
            </a:r>
          </a:p>
          <a:p>
            <a:r>
              <a:t>Gaps are comparative research interpretations based on the reported focus of these studies and the supplied survey. They are not proof that each paper lacks every related mechanism. The proposed RESA extensions and improvements require experimental validation. Full-text access was limited for several publisher pages.</a:t>
            </a:r>
          </a:p>
          <a:p>
            <a:endParaRPr/>
          </a:p>
          <a:p>
            <a:r>
              <a:t>Proposed response: associate evidence with supplier and requirement IDs, classify satisfied/violated/insufficient evidence, apply mandatory constraints before scoring, weight recent observations, and verify numeric and textual claims against sources. Compare full RESA against RAG, hybrid RAG, structured ranking, and RAG plus ranking. Do not treat past delivery as a guarantee of future delivery.</a:t>
            </a:r>
          </a:p>
          <a:p>
            <a:r>
              <a:t>Research gap and proposed response: Papers [1,2] focus on supplier criteria and quality evaluation. RESA adds a traceable mapping from each procurement requirement to supplier-specific records and documents. Paper [3] focuses on operational risk. RESA combines dated risk observations with the evidence for a particular procurement query. Papers [4,6] focus on relationship mapping and document questions. RESA adds mandatory constraint checks and candidate ranking. Paper [5] is closely related vendor intelligence. RESA proposes explicit evidence states and independently testable claim-support checks. These contributions remain hypotheses for experimental validation. Missing evidence triggers uncertainty or review, not automatic satisfaction. Historical delivery is evidence of past performance, not a promise of future delivery.</a:t>
            </a:r>
          </a:p>
        </p:txBody>
      </p:sp>
      <p:sp>
        <p:nvSpPr>
          <p:cNvPr id="113" name="Google Shape;113;p7:notes">
            <a:extLst>
              <a:ext uri="{FF2B5EF4-FFF2-40B4-BE49-F238E27FC236}">
                <a16:creationId xmlns:a16="http://schemas.microsoft.com/office/drawing/2014/main" id="{7F88B864-EAAD-2433-935E-1202FFB01D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3253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a:p>
            <a:r>
              <a:t>Implementation baseline: Unstructured OSS + Camelot; nomic-embed-text/Ollama; LlamaIndex hybrid retrieval; Qdrant; Llama 3.1 8B/Ollama; FastAPI + Pydantic; React; PostgreSQL; MinIO; Redis; inotifywait; Microsoft Bot Framework SDK; Docker Compose + Nginx.</a:t>
            </a:r>
          </a:p>
          <a:p>
            <a:r>
              <a:t>Module 1 ingests heterogeneous documents and tables, normalizes supplier identifiers and preserves source dates and locations. Module 2 extracts hard and soft requirements and retrieves candidate-specific evidence with LlamaIndex hybrid retrieval and Qdrant. Module 3 assigns satisfied, violated or insufficient evidence to each supplier-requirement pair. Module 4 screens mandatory constraints and ranks eligible candidates using normalized performance, time-sensitive risk and evidence support. Module 5 uses the LLM to explain rankings, verifies claims against records, and evaluates baseline and ablation results. The agreed implementation stack remains unchanged.</a:t>
            </a:r>
          </a:p>
        </p:txBody>
      </p:sp>
      <p:sp>
        <p:nvSpPr>
          <p:cNvPr id="121" name="Google Shape;12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Research proposal. All outcomes and RESA capabilities are proposed and will be evaluated experimentally.</a:t>
            </a:r>
          </a:p>
        </p:txBody>
      </p:sp>
      <p:sp>
        <p:nvSpPr>
          <p:cNvPr id="129" name="Google Shape;12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
        <p:cNvGrpSpPr/>
        <p:nvPr/>
      </p:nvGrpSpPr>
      <p:grpSpPr>
        <a:xfrm>
          <a:off x="0" y="0"/>
          <a:ext cx="0" cy="0"/>
          <a:chOff x="0" y="0"/>
          <a:chExt cx="0" cy="0"/>
        </a:xfrm>
      </p:grpSpPr>
      <p:sp>
        <p:nvSpPr>
          <p:cNvPr id="15" name="Google Shape;15;p2"/>
          <p:cNvSpPr txBox="1">
            <a:spLocks noGrp="1"/>
          </p:cNvSpPr>
          <p:nvPr>
            <p:ph type="body" idx="1"/>
          </p:nvPr>
        </p:nvSpPr>
        <p:spPr>
          <a:xfrm>
            <a:off x="255996" y="1271219"/>
            <a:ext cx="10624338" cy="44456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0070C0"/>
              </a:buClr>
              <a:buSzPts val="2800"/>
              <a:buChar char="•"/>
              <a:defRPr sz="2800" b="1">
                <a:solidFill>
                  <a:srgbClr val="0070C0"/>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2"/>
          <p:cNvSpPr txBox="1">
            <a:spLocks noGrp="1"/>
          </p:cNvSpPr>
          <p:nvPr>
            <p:ph type="body" idx="2"/>
          </p:nvPr>
        </p:nvSpPr>
        <p:spPr>
          <a:xfrm>
            <a:off x="255996" y="629525"/>
            <a:ext cx="10624338" cy="44456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0070C0"/>
              </a:buClr>
              <a:buSzPts val="2800"/>
              <a:buChar char="•"/>
              <a:defRPr sz="2800" b="1">
                <a:solidFill>
                  <a:srgbClr val="0070C0"/>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Google Shape;19;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4"/>
          <p:cNvSpPr txBox="1">
            <a:spLocks noGrp="1"/>
          </p:cNvSpPr>
          <p:nvPr>
            <p:ph type="body" idx="1"/>
          </p:nvPr>
        </p:nvSpPr>
        <p:spPr>
          <a:xfrm>
            <a:off x="677271" y="1191757"/>
            <a:ext cx="11004446" cy="47950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2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 name="Google Shape;2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 name="Google Shape;30;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4" name="Google Shape;4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11"/>
          <p:cNvSpPr>
            <a:spLocks noGrp="1"/>
          </p:cNvSpPr>
          <p:nvPr>
            <p:ph type="pic" idx="2"/>
          </p:nvPr>
        </p:nvSpPr>
        <p:spPr>
          <a:xfrm>
            <a:off x="5183188" y="987425"/>
            <a:ext cx="6172200" cy="4873625"/>
          </a:xfrm>
          <a:prstGeom prst="rect">
            <a:avLst/>
          </a:prstGeom>
          <a:noFill/>
          <a:ln>
            <a:noFill/>
          </a:ln>
        </p:spPr>
      </p:sp>
      <p:sp>
        <p:nvSpPr>
          <p:cNvPr id="48" name="Google Shape;48;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12"/>
          <p:cNvSpPr txBox="1">
            <a:spLocks noGrp="1"/>
          </p:cNvSpPr>
          <p:nvPr>
            <p:ph type="body" idx="1"/>
          </p:nvPr>
        </p:nvSpPr>
        <p:spPr>
          <a:xfrm rot="5400000">
            <a:off x="3781990" y="-1912962"/>
            <a:ext cx="4795008" cy="1100444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Picture with Caption">
  <p:cSld name="2_Picture with Caption">
    <p:spTree>
      <p:nvGrpSpPr>
        <p:cNvPr id="1" name="Shape 55"/>
        <p:cNvGrpSpPr/>
        <p:nvPr/>
      </p:nvGrpSpPr>
      <p:grpSpPr>
        <a:xfrm>
          <a:off x="0" y="0"/>
          <a:ext cx="0" cy="0"/>
          <a:chOff x="0" y="0"/>
          <a:chExt cx="0" cy="0"/>
        </a:xfrm>
      </p:grpSpPr>
      <p:sp>
        <p:nvSpPr>
          <p:cNvPr id="56" name="Google Shape;56;p14"/>
          <p:cNvSpPr txBox="1">
            <a:spLocks noGrp="1"/>
          </p:cNvSpPr>
          <p:nvPr>
            <p:ph type="body" idx="1"/>
          </p:nvPr>
        </p:nvSpPr>
        <p:spPr>
          <a:xfrm>
            <a:off x="173803" y="469835"/>
            <a:ext cx="11672300" cy="650048"/>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rgbClr val="595959"/>
              </a:buClr>
              <a:buSzPts val="3200"/>
              <a:buChar char="•"/>
              <a:defRPr sz="3200" b="1">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15">
            <a:alphaModFix/>
          </a:blip>
          <a:srcRect/>
          <a:stretch/>
        </p:blipFill>
        <p:spPr>
          <a:xfrm>
            <a:off x="1" y="5215644"/>
            <a:ext cx="12191995" cy="1548307"/>
          </a:xfrm>
          <a:prstGeom prst="rect">
            <a:avLst/>
          </a:prstGeom>
          <a:noFill/>
          <a:ln>
            <a:noFill/>
          </a:ln>
        </p:spPr>
      </p:pic>
      <p:sp>
        <p:nvSpPr>
          <p:cNvPr id="7" name="Google Shape;7;p1"/>
          <p:cNvSpPr/>
          <p:nvPr/>
        </p:nvSpPr>
        <p:spPr>
          <a:xfrm>
            <a:off x="0" y="0"/>
            <a:ext cx="12192000" cy="365125"/>
          </a:xfrm>
          <a:prstGeom prst="rect">
            <a:avLst/>
          </a:prstGeom>
          <a:gradFill>
            <a:gsLst>
              <a:gs pos="0">
                <a:srgbClr val="47BDAE"/>
              </a:gs>
              <a:gs pos="5000">
                <a:srgbClr val="47BDAE"/>
              </a:gs>
              <a:gs pos="59000">
                <a:srgbClr val="25B9ED"/>
              </a:gs>
              <a:gs pos="100000">
                <a:srgbClr val="FFFFFF"/>
              </a:gs>
            </a:gsLst>
            <a:lin ang="10800000" scaled="0"/>
          </a:gra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000"/>
              <a:buFont typeface="Arial"/>
              <a:buNone/>
            </a:pPr>
            <a:endParaRPr sz="2000" b="1" i="1" u="none" strike="noStrike" cap="none">
              <a:solidFill>
                <a:srgbClr val="BFBFBF"/>
              </a:solidFill>
              <a:latin typeface="Calibri"/>
              <a:ea typeface="Calibri"/>
              <a:cs typeface="Calibri"/>
              <a:sym typeface="Calibri"/>
            </a:endParaRPr>
          </a:p>
        </p:txBody>
      </p:sp>
      <p:sp>
        <p:nvSpPr>
          <p:cNvPr id="8" name="Google Shape;8;p1"/>
          <p:cNvSpPr txBox="1">
            <a:spLocks noGrp="1"/>
          </p:cNvSpPr>
          <p:nvPr>
            <p:ph type="body" idx="1"/>
          </p:nvPr>
        </p:nvSpPr>
        <p:spPr>
          <a:xfrm>
            <a:off x="677271" y="1191757"/>
            <a:ext cx="11004446" cy="479500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p:nvPr/>
        </p:nvSpPr>
        <p:spPr>
          <a:xfrm>
            <a:off x="221274" y="88514"/>
            <a:ext cx="8176583" cy="1103242"/>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sp>
        <p:nvSpPr>
          <p:cNvPr id="10" name="Google Shape;10;p1"/>
          <p:cNvSpPr txBox="1"/>
          <p:nvPr/>
        </p:nvSpPr>
        <p:spPr>
          <a:xfrm>
            <a:off x="391411" y="640135"/>
            <a:ext cx="11290305" cy="52377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1" name="Google Shape;11;p1"/>
          <p:cNvSpPr txBox="1"/>
          <p:nvPr/>
        </p:nvSpPr>
        <p:spPr>
          <a:xfrm>
            <a:off x="158720" y="413891"/>
            <a:ext cx="10025576" cy="68594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2" name="Google Shape;12;p1"/>
          <p:cNvPicPr preferRelativeResize="0"/>
          <p:nvPr/>
        </p:nvPicPr>
        <p:blipFill rotWithShape="1">
          <a:blip r:embed="rId16">
            <a:alphaModFix/>
          </a:blip>
          <a:srcRect/>
          <a:stretch/>
        </p:blipFill>
        <p:spPr>
          <a:xfrm>
            <a:off x="105554" y="6358271"/>
            <a:ext cx="964436" cy="411216"/>
          </a:xfrm>
          <a:prstGeom prst="rect">
            <a:avLst/>
          </a:prstGeom>
          <a:noFill/>
          <a:ln>
            <a:noFill/>
          </a:ln>
        </p:spPr>
      </p:pic>
      <p:pic>
        <p:nvPicPr>
          <p:cNvPr id="13" name="Google Shape;13;p1" descr="LTM Limited (Formerly LTIMindtree Limited)"/>
          <p:cNvPicPr preferRelativeResize="0"/>
          <p:nvPr/>
        </p:nvPicPr>
        <p:blipFill rotWithShape="1">
          <a:blip r:embed="rId17">
            <a:alphaModFix/>
          </a:blip>
          <a:srcRect/>
          <a:stretch/>
        </p:blipFill>
        <p:spPr>
          <a:xfrm>
            <a:off x="11233000" y="6472900"/>
            <a:ext cx="800375" cy="2965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5"/>
          <p:cNvSpPr/>
          <p:nvPr/>
        </p:nvSpPr>
        <p:spPr>
          <a:xfrm>
            <a:off x="-31269" y="29737"/>
            <a:ext cx="12254538" cy="6868389"/>
          </a:xfrm>
          <a:prstGeom prst="rect">
            <a:avLst/>
          </a:prstGeom>
          <a:gradFill>
            <a:gsLst>
              <a:gs pos="0">
                <a:srgbClr val="47BDAF"/>
              </a:gs>
              <a:gs pos="39000">
                <a:srgbClr val="1C4D98"/>
              </a:gs>
              <a:gs pos="100000">
                <a:srgbClr val="3793A6"/>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62" name="Google Shape;62;p15"/>
          <p:cNvSpPr txBox="1">
            <a:spLocks noGrp="1"/>
          </p:cNvSpPr>
          <p:nvPr>
            <p:ph type="body" idx="1"/>
          </p:nvPr>
        </p:nvSpPr>
        <p:spPr>
          <a:xfrm>
            <a:off x="2289635" y="17705"/>
            <a:ext cx="6910121" cy="105812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None/>
            </a:pPr>
            <a:r>
              <a:rPr lang="en-US" sz="4400">
                <a:solidFill>
                  <a:schemeClr val="lt1"/>
                </a:solidFill>
              </a:rPr>
              <a:t>M.Tech Program </a:t>
            </a:r>
            <a:endParaRPr/>
          </a:p>
          <a:p>
            <a:pPr marL="0" lvl="0" indent="0" algn="ctr" rtl="0">
              <a:lnSpc>
                <a:spcPct val="90000"/>
              </a:lnSpc>
              <a:spcBef>
                <a:spcPts val="1000"/>
              </a:spcBef>
              <a:spcAft>
                <a:spcPts val="0"/>
              </a:spcAft>
              <a:buClr>
                <a:schemeClr val="lt1"/>
              </a:buClr>
              <a:buSzPts val="2000"/>
              <a:buNone/>
            </a:pPr>
            <a:r>
              <a:rPr lang="en-US" sz="2000">
                <a:solidFill>
                  <a:schemeClr val="lt1"/>
                </a:solidFill>
              </a:rPr>
              <a:t>Advanced Industry Integrated Programs</a:t>
            </a:r>
            <a:endParaRPr/>
          </a:p>
        </p:txBody>
      </p:sp>
      <p:cxnSp>
        <p:nvCxnSpPr>
          <p:cNvPr id="63" name="Google Shape;63;p15"/>
          <p:cNvCxnSpPr/>
          <p:nvPr/>
        </p:nvCxnSpPr>
        <p:spPr>
          <a:xfrm>
            <a:off x="2977350" y="1120307"/>
            <a:ext cx="5866228" cy="0"/>
          </a:xfrm>
          <a:prstGeom prst="straightConnector1">
            <a:avLst/>
          </a:prstGeom>
          <a:noFill/>
          <a:ln w="9525" cap="flat" cmpd="sng">
            <a:solidFill>
              <a:schemeClr val="lt1"/>
            </a:solidFill>
            <a:prstDash val="solid"/>
            <a:miter lim="0"/>
            <a:headEnd type="none" w="sm" len="sm"/>
            <a:tailEnd type="none" w="sm" len="sm"/>
          </a:ln>
        </p:spPr>
      </p:cxnSp>
      <p:sp>
        <p:nvSpPr>
          <p:cNvPr id="64" name="Google Shape;64;p15"/>
          <p:cNvSpPr/>
          <p:nvPr/>
        </p:nvSpPr>
        <p:spPr>
          <a:xfrm>
            <a:off x="4125950" y="1177574"/>
            <a:ext cx="3033000" cy="405000"/>
          </a:xfrm>
          <a:prstGeom prst="roundRect">
            <a:avLst>
              <a:gd name="adj" fmla="val 16667"/>
            </a:avLst>
          </a:prstGeom>
          <a:solidFill>
            <a:srgbClr val="E1EFD8"/>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595959"/>
              </a:buClr>
              <a:buSzPts val="1200"/>
              <a:buFont typeface="Arial"/>
              <a:buNone/>
            </a:pPr>
            <a:r>
              <a:rPr lang="en-US" sz="1200" b="0" i="0" u="none" strike="noStrike" cap="none">
                <a:solidFill>
                  <a:srgbClr val="595959"/>
                </a:solidFill>
                <a:latin typeface="Arial"/>
                <a:ea typeface="Arial"/>
                <a:cs typeface="Arial"/>
                <a:sym typeface="Arial"/>
              </a:rPr>
              <a:t>Jointly offered by University and LTIMindTree</a:t>
            </a:r>
            <a:endParaRPr sz="1400" b="0" i="0" u="none" strike="noStrike" cap="none">
              <a:solidFill>
                <a:srgbClr val="000000"/>
              </a:solidFill>
              <a:latin typeface="Arial"/>
              <a:ea typeface="Arial"/>
              <a:cs typeface="Arial"/>
              <a:sym typeface="Arial"/>
            </a:endParaRPr>
          </a:p>
        </p:txBody>
      </p:sp>
      <p:sp>
        <p:nvSpPr>
          <p:cNvPr id="65" name="Google Shape;65;p15"/>
          <p:cNvSpPr txBox="1"/>
          <p:nvPr/>
        </p:nvSpPr>
        <p:spPr>
          <a:xfrm>
            <a:off x="180236" y="1659822"/>
            <a:ext cx="11428200" cy="572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600"/>
              <a:buFont typeface="Calibri"/>
              <a:buNone/>
            </a:pPr>
            <a:r>
              <a:rPr lang="en-US" sz="3600" b="1" i="0" u="none" strike="noStrike" cap="none" dirty="0">
                <a:solidFill>
                  <a:srgbClr val="FFFFFF"/>
                </a:solidFill>
                <a:latin typeface="Calibri"/>
                <a:ea typeface="Calibri"/>
                <a:cs typeface="Calibri"/>
                <a:sym typeface="Calibri"/>
              </a:rPr>
              <a:t>Project Title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FFFFFF"/>
                </a:solidFill>
                <a:latin typeface="Calibri"/>
                <a:ea typeface="Calibri"/>
                <a:cs typeface="Calibri"/>
                <a:sym typeface="Calibri"/>
              </a:rPr>
              <a:t>Evidence-Grounded Supplier Intelligence for Automotive Procurement</a:t>
            </a:r>
            <a:endParaRPr sz="36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a:p>
            <a:pPr lvl="0" algn="ctr">
              <a:buSzPts val="2400"/>
            </a:pPr>
            <a:r>
              <a:rPr lang="en-US" sz="2400" b="1" dirty="0">
                <a:solidFill>
                  <a:srgbClr val="FFFFFF"/>
                </a:solidFill>
                <a:latin typeface="Calibri"/>
                <a:ea typeface="Calibri"/>
                <a:cs typeface="Calibri"/>
                <a:sym typeface="Calibri"/>
              </a:rPr>
              <a:t>T9972</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FFFF"/>
                </a:solidFill>
                <a:latin typeface="Calibri"/>
                <a:ea typeface="Calibri"/>
                <a:cs typeface="Calibri"/>
                <a:sym typeface="Calibri"/>
              </a:rPr>
              <a:t>Khavin C [251011010]</a:t>
            </a:r>
            <a:endParaRPr sz="24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US" sz="2400" b="1" dirty="0">
                <a:solidFill>
                  <a:srgbClr val="FFFFFF"/>
                </a:solidFill>
                <a:latin typeface="Calibri"/>
                <a:ea typeface="Calibri"/>
                <a:cs typeface="Calibri"/>
                <a:sym typeface="Calibri"/>
              </a:rPr>
              <a:t>RAJALAKSHMI ENGINEERING COLLEGE</a:t>
            </a:r>
            <a:endParaRPr sz="2400" b="1"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p:txBody>
      </p:sp>
      <p:graphicFrame>
        <p:nvGraphicFramePr>
          <p:cNvPr id="66" name="Google Shape;66;p15"/>
          <p:cNvGraphicFramePr/>
          <p:nvPr/>
        </p:nvGraphicFramePr>
        <p:xfrm>
          <a:off x="-47290" y="5501244"/>
          <a:ext cx="12239200" cy="3264845"/>
        </p:xfrm>
        <a:graphic>
          <a:graphicData uri="http://schemas.openxmlformats.org/drawingml/2006/table">
            <a:tbl>
              <a:tblPr firstRow="1" bandRow="1">
                <a:noFill/>
                <a:tableStyleId>{7A6AE9A8-6298-4076-9231-B7FAEA5409DA}</a:tableStyleId>
              </a:tblPr>
              <a:tblGrid>
                <a:gridCol w="6119600">
                  <a:extLst>
                    <a:ext uri="{9D8B030D-6E8A-4147-A177-3AD203B41FA5}">
                      <a16:colId xmlns:a16="http://schemas.microsoft.com/office/drawing/2014/main" val="20000"/>
                    </a:ext>
                  </a:extLst>
                </a:gridCol>
                <a:gridCol w="6119600">
                  <a:extLst>
                    <a:ext uri="{9D8B030D-6E8A-4147-A177-3AD203B41FA5}">
                      <a16:colId xmlns:a16="http://schemas.microsoft.com/office/drawing/2014/main" val="20001"/>
                    </a:ext>
                  </a:extLst>
                </a:gridCol>
              </a:tblGrid>
              <a:tr h="1527475">
                <a:tc>
                  <a:txBody>
                    <a:bodyPr/>
                    <a:lstStyle/>
                    <a:p>
                      <a:pPr marL="0" marR="0" lvl="0" indent="0" algn="l" rtl="0">
                        <a:lnSpc>
                          <a:spcPct val="100000"/>
                        </a:lnSpc>
                        <a:spcBef>
                          <a:spcPts val="0"/>
                        </a:spcBef>
                        <a:spcAft>
                          <a:spcPts val="0"/>
                        </a:spcAft>
                        <a:buClr>
                          <a:schemeClr val="lt1"/>
                        </a:buClr>
                        <a:buSzPts val="1800"/>
                        <a:buFont typeface="Arial"/>
                        <a:buNone/>
                      </a:pPr>
                      <a:r>
                        <a:rPr lang="en-US" sz="1800" u="none" strike="noStrike" cap="none">
                          <a:solidFill>
                            <a:schemeClr val="lt1"/>
                          </a:solidFill>
                          <a:latin typeface="Arial"/>
                          <a:ea typeface="Arial"/>
                          <a:cs typeface="Arial"/>
                          <a:sym typeface="Arial"/>
                        </a:rPr>
                        <a:t>Knowledge partner</a:t>
                      </a:r>
                      <a:endParaRPr sz="1800" u="none" strike="noStrike" cap="none">
                        <a:solidFill>
                          <a:schemeClr val="lt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lt1"/>
                        </a:buClr>
                        <a:buSzPts val="1800"/>
                        <a:buFont typeface="Arial"/>
                        <a:buNone/>
                      </a:pPr>
                      <a:r>
                        <a:rPr lang="en-US" sz="1800" u="none" strike="noStrike" cap="none">
                          <a:solidFill>
                            <a:schemeClr val="lt1"/>
                          </a:solidFill>
                          <a:latin typeface="Arial"/>
                          <a:ea typeface="Arial"/>
                          <a:cs typeface="Arial"/>
                          <a:sym typeface="Arial"/>
                        </a:rPr>
                        <a:t>                                                                     Implementation partner</a:t>
                      </a:r>
                      <a:endParaRPr sz="1800" u="none" strike="noStrike" cap="none">
                        <a:solidFill>
                          <a:schemeClr val="lt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842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67" name="Google Shape;67;p15"/>
          <p:cNvPicPr preferRelativeResize="0"/>
          <p:nvPr/>
        </p:nvPicPr>
        <p:blipFill rotWithShape="1">
          <a:blip r:embed="rId3">
            <a:alphaModFix/>
          </a:blip>
          <a:srcRect/>
          <a:stretch/>
        </p:blipFill>
        <p:spPr>
          <a:xfrm>
            <a:off x="9775332" y="5852667"/>
            <a:ext cx="1987468" cy="847417"/>
          </a:xfrm>
          <a:prstGeom prst="rect">
            <a:avLst/>
          </a:prstGeom>
          <a:noFill/>
          <a:ln>
            <a:noFill/>
          </a:ln>
        </p:spPr>
      </p:pic>
      <p:pic>
        <p:nvPicPr>
          <p:cNvPr id="68" name="Google Shape;68;p15"/>
          <p:cNvPicPr preferRelativeResize="0"/>
          <p:nvPr/>
        </p:nvPicPr>
        <p:blipFill rotWithShape="1">
          <a:blip r:embed="rId4">
            <a:alphaModFix/>
          </a:blip>
          <a:srcRect/>
          <a:stretch/>
        </p:blipFill>
        <p:spPr>
          <a:xfrm>
            <a:off x="-1223793" y="5226092"/>
            <a:ext cx="4201139" cy="21005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body" idx="1"/>
          </p:nvPr>
        </p:nvSpPr>
        <p:spPr>
          <a:xfrm>
            <a:off x="256000" y="1271225"/>
            <a:ext cx="11851800" cy="43731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Supplier selection</a:t>
            </a:r>
            <a:r>
              <a:rPr lang="en-US" b="0" dirty="0">
                <a:solidFill>
                  <a:srgbClr val="0070C0"/>
                </a:solidFill>
                <a:latin typeface="Calibri"/>
                <a:ea typeface="Calibri"/>
                <a:cs typeface="Calibri"/>
                <a:sym typeface="Calibri"/>
              </a:rPr>
              <a:t> requires evidence of quality, cost and delivery.</a:t>
            </a:r>
          </a:p>
          <a:p>
            <a:pPr marL="457200" lvl="0" indent="-406400" algn="l"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Procurement evidence</a:t>
            </a:r>
            <a:r>
              <a:rPr lang="en-US" b="0" dirty="0">
                <a:solidFill>
                  <a:srgbClr val="0070C0"/>
                </a:solidFill>
                <a:latin typeface="Calibri"/>
                <a:ea typeface="Calibri"/>
                <a:cs typeface="Calibri"/>
                <a:sym typeface="Calibri"/>
              </a:rPr>
              <a:t> is scattered across contracts and supplier records.</a:t>
            </a:r>
          </a:p>
          <a:p>
            <a:pPr marL="457200" lvl="0" indent="-406400" algn="l"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Missing or outdated evidence</a:t>
            </a:r>
            <a:r>
              <a:rPr lang="en-US" b="0" dirty="0">
                <a:solidFill>
                  <a:srgbClr val="0070C0"/>
                </a:solidFill>
                <a:latin typeface="Calibri"/>
                <a:ea typeface="Calibri"/>
                <a:cs typeface="Calibri"/>
                <a:sym typeface="Calibri"/>
              </a:rPr>
              <a:t> can lead to unsupported recommendations.</a:t>
            </a:r>
          </a:p>
          <a:p>
            <a:pPr marL="457200" lvl="0" indent="-406400" algn="l"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RESA(Requirement-Evidence</a:t>
            </a:r>
            <a:r>
              <a:rPr lang="en-US" dirty="0">
                <a:latin typeface="Calibri"/>
                <a:ea typeface="Calibri"/>
                <a:cs typeface="Calibri"/>
                <a:sym typeface="Calibri"/>
              </a:rPr>
              <a:t>-Supplier Alignment)</a:t>
            </a:r>
            <a:r>
              <a:rPr lang="en-US" b="0" dirty="0">
                <a:solidFill>
                  <a:srgbClr val="0070C0"/>
                </a:solidFill>
                <a:latin typeface="Calibri"/>
                <a:ea typeface="Calibri"/>
                <a:cs typeface="Calibri"/>
                <a:sym typeface="Calibri"/>
              </a:rPr>
              <a:t> checks each requirement against retrieved evidence and supplier metrics, then ranks suppliers and verifies the explanation.</a:t>
            </a:r>
          </a:p>
        </p:txBody>
      </p:sp>
      <p:sp>
        <p:nvSpPr>
          <p:cNvPr id="74" name="Google Shape;74;p16"/>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p:txBody>
      </p:sp>
      <p:cxnSp>
        <p:nvCxnSpPr>
          <p:cNvPr id="75" name="Google Shape;75;p16"/>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76" name="Google Shape;76;p16"/>
          <p:cNvSpPr txBox="1"/>
          <p:nvPr/>
        </p:nvSpPr>
        <p:spPr>
          <a:xfrm>
            <a:off x="4354525" y="0"/>
            <a:ext cx="7837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1"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body" idx="1"/>
          </p:nvPr>
        </p:nvSpPr>
        <p:spPr>
          <a:xfrm>
            <a:off x="255996" y="1271219"/>
            <a:ext cx="10624338" cy="4142989"/>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Extract hard and soft requirements</a:t>
            </a:r>
            <a:r>
              <a:rPr lang="en-US" b="0">
                <a:solidFill>
                  <a:srgbClr val="0070C0"/>
                </a:solidFill>
                <a:latin typeface="Calibri"/>
                <a:ea typeface="Calibri"/>
                <a:cs typeface="Calibri"/>
                <a:sym typeface="Calibri"/>
              </a:rPr>
              <a:t> from procurement queries.</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Combine supplier metrics</a:t>
            </a:r>
            <a:r>
              <a:rPr lang="en-US" b="0">
                <a:solidFill>
                  <a:srgbClr val="0070C0"/>
                </a:solidFill>
                <a:latin typeface="Calibri"/>
                <a:ea typeface="Calibri"/>
                <a:cs typeface="Calibri"/>
                <a:sym typeface="Calibri"/>
              </a:rPr>
              <a:t> with hybrid-RAG evidence.</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Assign evidence states:</a:t>
            </a:r>
            <a:r>
              <a:rPr lang="en-US" b="0">
                <a:solidFill>
                  <a:srgbClr val="0070C0"/>
                </a:solidFill>
                <a:latin typeface="Calibri"/>
                <a:ea typeface="Calibri"/>
                <a:cs typeface="Calibri"/>
                <a:sym typeface="Calibri"/>
              </a:rPr>
              <a:t> satisfied, violated or insufficient.</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Rank suppliers</a:t>
            </a:r>
            <a:r>
              <a:rPr lang="en-US" b="0">
                <a:solidFill>
                  <a:srgbClr val="0070C0"/>
                </a:solidFill>
                <a:latin typeface="Calibri"/>
                <a:ea typeface="Calibri"/>
                <a:cs typeface="Calibri"/>
                <a:sym typeface="Calibri"/>
              </a:rPr>
              <a:t> using performance, risk and evidence support.</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Evaluate explanations</a:t>
            </a:r>
            <a:r>
              <a:rPr lang="en-US" b="0">
                <a:solidFill>
                  <a:srgbClr val="0070C0"/>
                </a:solidFill>
                <a:latin typeface="Calibri"/>
                <a:ea typeface="Calibri"/>
                <a:cs typeface="Calibri"/>
                <a:sym typeface="Calibri"/>
              </a:rPr>
              <a:t> with faithfulness tests and ablations.</a:t>
            </a:r>
          </a:p>
        </p:txBody>
      </p:sp>
      <p:sp>
        <p:nvSpPr>
          <p:cNvPr id="82" name="Google Shape;82;p17"/>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Objective</a:t>
            </a:r>
            <a:endParaRPr sz="1400" b="0" i="0" u="none" strike="noStrike" cap="none">
              <a:solidFill>
                <a:srgbClr val="000000"/>
              </a:solidFill>
              <a:latin typeface="Arial"/>
              <a:ea typeface="Arial"/>
              <a:cs typeface="Arial"/>
              <a:sym typeface="Arial"/>
            </a:endParaRPr>
          </a:p>
        </p:txBody>
      </p:sp>
      <p:cxnSp>
        <p:nvCxnSpPr>
          <p:cNvPr id="83" name="Google Shape;83;p17"/>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84" name="Google Shape;84;p17"/>
          <p:cNvSpPr txBox="1"/>
          <p:nvPr/>
        </p:nvSpPr>
        <p:spPr>
          <a:xfrm>
            <a:off x="1001399" y="57025"/>
            <a:ext cx="11190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body" idx="1"/>
          </p:nvPr>
        </p:nvSpPr>
        <p:spPr>
          <a:xfrm>
            <a:off x="255996" y="1271219"/>
            <a:ext cx="10624338" cy="4142989"/>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1200"/>
              </a:spcBef>
              <a:spcAft>
                <a:spcPts val="0"/>
              </a:spcAft>
              <a:buClr>
                <a:srgbClr val="0070C0"/>
              </a:buClr>
              <a:buSzPts val="2800"/>
              <a:buChar char="●"/>
            </a:pPr>
            <a:r>
              <a:rPr lang="en-US" b="1">
                <a:solidFill>
                  <a:srgbClr val="0070C0"/>
                </a:solidFill>
                <a:latin typeface="Calibri"/>
                <a:ea typeface="Calibri"/>
                <a:cs typeface="Calibri"/>
                <a:sym typeface="Calibri"/>
              </a:rPr>
              <a:t>Study component procurement</a:t>
            </a:r>
            <a:r>
              <a:rPr lang="en-US" b="0">
                <a:solidFill>
                  <a:srgbClr val="0070C0"/>
                </a:solidFill>
                <a:latin typeface="Calibri"/>
                <a:ea typeface="Calibri"/>
                <a:cs typeface="Calibri"/>
                <a:sym typeface="Calibri"/>
              </a:rPr>
              <a:t> in OEM and Tier-1/Tier-2 firms.</a:t>
            </a:r>
          </a:p>
          <a:p>
            <a:pPr marL="457200" lvl="0" indent="-406400" algn="l" rtl="0">
              <a:lnSpc>
                <a:spcPct val="150000"/>
              </a:lnSpc>
              <a:spcBef>
                <a:spcPts val="1200"/>
              </a:spcBef>
              <a:spcAft>
                <a:spcPts val="0"/>
              </a:spcAft>
              <a:buClr>
                <a:srgbClr val="0070C0"/>
              </a:buClr>
              <a:buSzPts val="2800"/>
              <a:buChar char="●"/>
            </a:pPr>
            <a:r>
              <a:rPr lang="en-US" b="1">
                <a:solidFill>
                  <a:srgbClr val="0070C0"/>
                </a:solidFill>
                <a:latin typeface="Calibri"/>
                <a:ea typeface="Calibri"/>
                <a:cs typeface="Calibri"/>
                <a:sym typeface="Calibri"/>
              </a:rPr>
              <a:t>Link supplier metrics</a:t>
            </a:r>
            <a:r>
              <a:rPr lang="en-US" b="0">
                <a:solidFill>
                  <a:srgbClr val="0070C0"/>
                </a:solidFill>
                <a:latin typeface="Calibri"/>
                <a:ea typeface="Calibri"/>
                <a:cs typeface="Calibri"/>
                <a:sym typeface="Calibri"/>
              </a:rPr>
              <a:t> to contracts and quality documents.</a:t>
            </a:r>
          </a:p>
          <a:p>
            <a:pPr marL="457200" lvl="0" indent="-406400" algn="l" rtl="0">
              <a:lnSpc>
                <a:spcPct val="150000"/>
              </a:lnSpc>
              <a:spcBef>
                <a:spcPts val="1200"/>
              </a:spcBef>
              <a:spcAft>
                <a:spcPts val="0"/>
              </a:spcAft>
              <a:buClr>
                <a:srgbClr val="0070C0"/>
              </a:buClr>
              <a:buSzPts val="2800"/>
              <a:buChar char="●"/>
            </a:pPr>
            <a:r>
              <a:rPr lang="en-US" b="1">
                <a:solidFill>
                  <a:srgbClr val="0070C0"/>
                </a:solidFill>
                <a:latin typeface="Calibri"/>
                <a:ea typeface="Calibri"/>
                <a:cs typeface="Calibri"/>
                <a:sym typeface="Calibri"/>
              </a:rPr>
              <a:t>Prioritize public data</a:t>
            </a:r>
            <a:r>
              <a:rPr lang="en-US" b="0">
                <a:solidFill>
                  <a:srgbClr val="0070C0"/>
                </a:solidFill>
                <a:latin typeface="Calibri"/>
                <a:ea typeface="Calibri"/>
                <a:cs typeface="Calibri"/>
                <a:sym typeface="Calibri"/>
              </a:rPr>
              <a:t> and preserve source-specific identities.</a:t>
            </a:r>
          </a:p>
          <a:p>
            <a:pPr marL="457200" lvl="0" indent="-406400" algn="l" rtl="0">
              <a:lnSpc>
                <a:spcPct val="150000"/>
              </a:lnSpc>
              <a:spcBef>
                <a:spcPts val="1200"/>
              </a:spcBef>
              <a:spcAft>
                <a:spcPts val="0"/>
              </a:spcAft>
              <a:buClr>
                <a:srgbClr val="0070C0"/>
              </a:buClr>
              <a:buSzPts val="2800"/>
              <a:buChar char="●"/>
            </a:pPr>
            <a:r>
              <a:rPr lang="en-US" b="1">
                <a:solidFill>
                  <a:srgbClr val="0070C0"/>
                </a:solidFill>
                <a:latin typeface="Calibri"/>
                <a:ea typeface="Calibri"/>
                <a:cs typeface="Calibri"/>
                <a:sym typeface="Calibri"/>
              </a:rPr>
              <a:t>Compare RESA</a:t>
            </a:r>
            <a:r>
              <a:rPr lang="en-US" b="0">
                <a:solidFill>
                  <a:srgbClr val="0070C0"/>
                </a:solidFill>
                <a:latin typeface="Calibri"/>
                <a:ea typeface="Calibri"/>
                <a:cs typeface="Calibri"/>
                <a:sym typeface="Calibri"/>
              </a:rPr>
              <a:t> with RAG and structured ranking baselines.</a:t>
            </a:r>
          </a:p>
          <a:p>
            <a:pPr marL="457200" lvl="0" indent="-406400" algn="l" rtl="0">
              <a:lnSpc>
                <a:spcPct val="150000"/>
              </a:lnSpc>
              <a:spcBef>
                <a:spcPts val="1200"/>
              </a:spcBef>
              <a:spcAft>
                <a:spcPts val="0"/>
              </a:spcAft>
              <a:buClr>
                <a:srgbClr val="0070C0"/>
              </a:buClr>
              <a:buSzPts val="2800"/>
              <a:buChar char="●"/>
            </a:pPr>
            <a:r>
              <a:rPr lang="en-US" b="1">
                <a:solidFill>
                  <a:srgbClr val="0070C0"/>
                </a:solidFill>
                <a:latin typeface="Calibri"/>
                <a:ea typeface="Calibri"/>
                <a:cs typeface="Calibri"/>
                <a:sym typeface="Calibri"/>
              </a:rPr>
              <a:t>Support human review</a:t>
            </a:r>
            <a:r>
              <a:rPr lang="en-US" b="0">
                <a:solidFill>
                  <a:srgbClr val="0070C0"/>
                </a:solidFill>
                <a:latin typeface="Calibri"/>
                <a:ea typeface="Calibri"/>
                <a:cs typeface="Calibri"/>
                <a:sym typeface="Calibri"/>
              </a:rPr>
              <a:t> with traceable evidence.</a:t>
            </a:r>
          </a:p>
        </p:txBody>
      </p:sp>
      <p:sp>
        <p:nvSpPr>
          <p:cNvPr id="90" name="Google Shape;90;p18"/>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Scope</a:t>
            </a:r>
            <a:endParaRPr sz="1400" b="0" i="0" u="none" strike="noStrike" cap="none">
              <a:solidFill>
                <a:srgbClr val="000000"/>
              </a:solidFill>
              <a:latin typeface="Arial"/>
              <a:ea typeface="Arial"/>
              <a:cs typeface="Arial"/>
              <a:sym typeface="Arial"/>
            </a:endParaRPr>
          </a:p>
        </p:txBody>
      </p:sp>
      <p:cxnSp>
        <p:nvCxnSpPr>
          <p:cNvPr id="91" name="Google Shape;91;p18"/>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92" name="Google Shape;92;p18"/>
          <p:cNvSpPr txBox="1"/>
          <p:nvPr/>
        </p:nvSpPr>
        <p:spPr>
          <a:xfrm>
            <a:off x="3110378" y="57025"/>
            <a:ext cx="9081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Literature Review</a:t>
            </a:r>
            <a:endParaRPr sz="1400" b="0" i="0" u="none" strike="noStrike" cap="none">
              <a:solidFill>
                <a:srgbClr val="000000"/>
              </a:solidFill>
              <a:latin typeface="Arial"/>
              <a:ea typeface="Arial"/>
              <a:cs typeface="Arial"/>
              <a:sym typeface="Arial"/>
            </a:endParaRPr>
          </a:p>
        </p:txBody>
      </p:sp>
      <p:cxnSp>
        <p:nvCxnSpPr>
          <p:cNvPr id="98" name="Google Shape;98;p19"/>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99" name="Google Shape;99;p19"/>
          <p:cNvSpPr txBox="1"/>
          <p:nvPr/>
        </p:nvSpPr>
        <p:spPr>
          <a:xfrm>
            <a:off x="4237477" y="0"/>
            <a:ext cx="7731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0" name="Google Shape;100;p19"/>
          <p:cNvSpPr txBox="1"/>
          <p:nvPr/>
        </p:nvSpPr>
        <p:spPr>
          <a:xfrm>
            <a:off x="2412450" y="2594500"/>
            <a:ext cx="8739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01" name="Google Shape;101;p19"/>
          <p:cNvSpPr txBox="1"/>
          <p:nvPr/>
        </p:nvSpPr>
        <p:spPr>
          <a:xfrm>
            <a:off x="-1668975" y="3717275"/>
            <a:ext cx="8739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graphicFrame>
        <p:nvGraphicFramePr>
          <p:cNvPr id="102" name="Table 7">
            <a:extLst>
              <a:ext uri="{FF2B5EF4-FFF2-40B4-BE49-F238E27FC236}">
                <a16:creationId xmlns:a16="http://schemas.microsoft.com/office/drawing/2014/main" id="{02BC7707-B7BF-E07B-7FBB-0B6EDBBFBF4C}"/>
              </a:ext>
            </a:extLst>
          </p:cNvPr>
          <p:cNvGraphicFramePr>
            <a:graphicFrameLocks noGrp="1"/>
          </p:cNvGraphicFramePr>
          <p:nvPr>
            <p:extLst>
              <p:ext uri="{D42A27DB-BD31-4B8C-83A1-F6EECF244321}">
                <p14:modId xmlns:p14="http://schemas.microsoft.com/office/powerpoint/2010/main" val="2315542214"/>
              </p:ext>
            </p:extLst>
          </p:nvPr>
        </p:nvGraphicFramePr>
        <p:xfrm>
          <a:off x="944772" y="1403281"/>
          <a:ext cx="10298242" cy="4420000"/>
        </p:xfrm>
        <a:graphic>
          <a:graphicData uri="http://schemas.openxmlformats.org/drawingml/2006/table">
            <a:tbl>
              <a:tblPr>
                <a:tableStyleId>{616DA210-FB5B-4158-B5E0-FEB733F419BA}</a:tableStyleId>
              </a:tblPr>
              <a:tblGrid>
                <a:gridCol w="1944973">
                  <a:extLst>
                    <a:ext uri="{9D8B030D-6E8A-4147-A177-3AD203B41FA5}">
                      <a16:colId xmlns:a16="http://schemas.microsoft.com/office/drawing/2014/main" val="2175413709"/>
                    </a:ext>
                  </a:extLst>
                </a:gridCol>
                <a:gridCol w="2784423">
                  <a:extLst>
                    <a:ext uri="{9D8B030D-6E8A-4147-A177-3AD203B41FA5}">
                      <a16:colId xmlns:a16="http://schemas.microsoft.com/office/drawing/2014/main" val="133118053"/>
                    </a:ext>
                  </a:extLst>
                </a:gridCol>
                <a:gridCol w="2784423">
                  <a:extLst>
                    <a:ext uri="{9D8B030D-6E8A-4147-A177-3AD203B41FA5}">
                      <a16:colId xmlns:a16="http://schemas.microsoft.com/office/drawing/2014/main" val="3425178481"/>
                    </a:ext>
                  </a:extLst>
                </a:gridCol>
                <a:gridCol w="2784423">
                  <a:extLst>
                    <a:ext uri="{9D8B030D-6E8A-4147-A177-3AD203B41FA5}">
                      <a16:colId xmlns:a16="http://schemas.microsoft.com/office/drawing/2014/main" val="3785080536"/>
                    </a:ext>
                  </a:extLst>
                </a:gridCol>
              </a:tblGrid>
              <a:tr h="370000">
                <a:tc>
                  <a:txBody>
                    <a:bodyPr/>
                    <a:lstStyle/>
                    <a:p>
                      <a:pPr>
                        <a:buNone/>
                      </a:pPr>
                      <a:r>
                        <a:rPr lang="en-IN" sz="1600" b="1" dirty="0">
                          <a:solidFill>
                            <a:srgbClr val="0070C0"/>
                          </a:solidFill>
                          <a:latin typeface="Calibri"/>
                        </a:rPr>
                        <a:t>Author(s)</a:t>
                      </a:r>
                    </a:p>
                  </a:txBody>
                  <a:tcPr marL="60687" marR="60687" marT="30343" marB="30343" anchor="ctr"/>
                </a:tc>
                <a:tc>
                  <a:txBody>
                    <a:bodyPr/>
                    <a:lstStyle/>
                    <a:p>
                      <a:pPr>
                        <a:buNone/>
                      </a:pPr>
                      <a:r>
                        <a:rPr lang="en-IN" sz="1600" b="1" dirty="0">
                          <a:solidFill>
                            <a:srgbClr val="0070C0"/>
                          </a:solidFill>
                          <a:latin typeface="Calibri"/>
                        </a:rPr>
                        <a:t>Paper</a:t>
                      </a:r>
                    </a:p>
                  </a:txBody>
                  <a:tcPr marL="60687" marR="60687" marT="30343" marB="30343" anchor="ctr"/>
                </a:tc>
                <a:tc>
                  <a:txBody>
                    <a:bodyPr/>
                    <a:lstStyle/>
                    <a:p>
                      <a:pPr>
                        <a:buNone/>
                      </a:pPr>
                      <a:r>
                        <a:rPr lang="en-IN" sz="1600" b="1" dirty="0">
                          <a:solidFill>
                            <a:srgbClr val="0070C0"/>
                          </a:solidFill>
                          <a:latin typeface="Calibri"/>
                        </a:rPr>
                        <a:t>What it does</a:t>
                      </a:r>
                    </a:p>
                  </a:txBody>
                  <a:tcPr marL="60687" marR="60687" marT="30343" marB="30343" anchor="ctr"/>
                </a:tc>
                <a:tc>
                  <a:txBody>
                    <a:bodyPr/>
                    <a:lstStyle/>
                    <a:p>
                      <a:pPr>
                        <a:buNone/>
                      </a:pPr>
                      <a:r>
                        <a:rPr lang="en-IN" sz="1600" b="1" dirty="0">
                          <a:solidFill>
                            <a:srgbClr val="0070C0"/>
                          </a:solidFill>
                          <a:latin typeface="Calibri"/>
                        </a:rPr>
                        <a:t>Limitations</a:t>
                      </a:r>
                    </a:p>
                  </a:txBody>
                  <a:tcPr marL="60687" marR="60687" marT="30343" marB="30343" anchor="ctr"/>
                </a:tc>
                <a:extLst>
                  <a:ext uri="{0D108BD9-81ED-4DB2-BD59-A6C34878D82A}">
                    <a16:rowId xmlns:a16="http://schemas.microsoft.com/office/drawing/2014/main" val="2254107630"/>
                  </a:ext>
                </a:extLst>
              </a:tr>
              <a:tr h="675000">
                <a:tc>
                  <a:txBody>
                    <a:bodyPr/>
                    <a:lstStyle/>
                    <a:p>
                      <a:pPr>
                        <a:buNone/>
                      </a:pPr>
                      <a:r>
                        <a:rPr lang="en-IN" sz="1600" b="1" dirty="0" err="1">
                          <a:solidFill>
                            <a:srgbClr val="0070C0"/>
                          </a:solidFill>
                          <a:latin typeface="Calibri"/>
                        </a:rPr>
                        <a:t>[1] Abdulla &amp; Baryannis</a:t>
                      </a:r>
                    </a:p>
                  </a:txBody>
                  <a:tcPr marL="60687" marR="60687" marT="30343" marB="30343" anchor="ctr"/>
                </a:tc>
                <a:tc>
                  <a:txBody>
                    <a:bodyPr/>
                    <a:lstStyle/>
                    <a:p>
                      <a:pPr>
                        <a:buNone/>
                      </a:pPr>
                      <a:r>
                        <a:rPr lang="en-IN" sz="1600" dirty="0">
                          <a:solidFill>
                            <a:srgbClr val="0070C0"/>
                          </a:solidFill>
                          <a:latin typeface="Calibri"/>
                        </a:rPr>
                        <a:t>Explainable supplier selection (2024)</a:t>
                      </a:r>
                    </a:p>
                  </a:txBody>
                  <a:tcPr marL="60687" marR="60687" marT="30343" marB="30343" anchor="ctr"/>
                </a:tc>
                <a:tc>
                  <a:txBody>
                    <a:bodyPr/>
                    <a:lstStyle/>
                    <a:p>
                      <a:pPr>
                        <a:buNone/>
                      </a:pPr>
                      <a:r>
                        <a:rPr lang="en-IN" sz="1600">
                          <a:solidFill>
                            <a:srgbClr val="0070C0"/>
                          </a:solidFill>
                          <a:latin typeface="Calibri"/>
                        </a:rPr>
                        <a:t>Combines MCDM and ML for supplier ranking.</a:t>
                      </a:r>
                    </a:p>
                  </a:txBody>
                  <a:tcPr marL="60687" marR="60687" marT="30343" marB="30343" anchor="ctr"/>
                </a:tc>
                <a:tc>
                  <a:txBody>
                    <a:bodyPr/>
                    <a:lstStyle/>
                    <a:p>
                      <a:pPr>
                        <a:buNone/>
                      </a:pPr>
                      <a:r>
                        <a:rPr lang="en-IN" sz="1600" dirty="0">
                          <a:solidFill>
                            <a:srgbClr val="0070C0"/>
                          </a:solidFill>
                          <a:latin typeface="Calibri"/>
                        </a:rPr>
                        <a:t>Criteria ranking, without a document evidence chain.</a:t>
                      </a:r>
                    </a:p>
                  </a:txBody>
                  <a:tcPr marL="60687" marR="60687" marT="30343" marB="30343" anchor="ctr"/>
                </a:tc>
                <a:extLst>
                  <a:ext uri="{0D108BD9-81ED-4DB2-BD59-A6C34878D82A}">
                    <a16:rowId xmlns:a16="http://schemas.microsoft.com/office/drawing/2014/main" val="1649047318"/>
                  </a:ext>
                </a:extLst>
              </a:tr>
              <a:tr h="675000">
                <a:tc>
                  <a:txBody>
                    <a:bodyPr/>
                    <a:lstStyle/>
                    <a:p>
                      <a:pPr>
                        <a:buNone/>
                      </a:pPr>
                      <a:r>
                        <a:rPr lang="en-IN" sz="1600" b="1" dirty="0">
                          <a:solidFill>
                            <a:srgbClr val="0070C0"/>
                          </a:solidFill>
                          <a:latin typeface="Calibri"/>
                        </a:rPr>
                        <a:t>[2] Ma &amp; Li</a:t>
                      </a:r>
                    </a:p>
                  </a:txBody>
                  <a:tcPr marL="60687" marR="60687" marT="30343" marB="30343" anchor="ctr"/>
                </a:tc>
                <a:tc>
                  <a:txBody>
                    <a:bodyPr/>
                    <a:lstStyle/>
                    <a:p>
                      <a:pPr>
                        <a:buNone/>
                      </a:pPr>
                      <a:r>
                        <a:rPr lang="en-IN" sz="1600" dirty="0">
                          <a:solidFill>
                            <a:srgbClr val="0070C0"/>
                          </a:solidFill>
                          <a:latin typeface="Calibri"/>
                        </a:rPr>
                        <a:t>Supplier quality evaluation (2024)</a:t>
                      </a:r>
                    </a:p>
                  </a:txBody>
                  <a:tcPr marL="60687" marR="60687" marT="30343" marB="30343" anchor="ctr"/>
                </a:tc>
                <a:tc>
                  <a:txBody>
                    <a:bodyPr/>
                    <a:lstStyle/>
                    <a:p>
                      <a:pPr>
                        <a:buNone/>
                      </a:pPr>
                      <a:r>
                        <a:rPr lang="en-IN" sz="1600">
                          <a:solidFill>
                            <a:srgbClr val="0070C0"/>
                          </a:solidFill>
                          <a:latin typeface="Calibri"/>
                        </a:rPr>
                        <a:t>Uses MCDM and ML to evaluate supplier quality.</a:t>
                      </a:r>
                    </a:p>
                  </a:txBody>
                  <a:tcPr marL="60687" marR="60687" marT="30343" marB="30343" anchor="ctr"/>
                </a:tc>
                <a:tc>
                  <a:txBody>
                    <a:bodyPr/>
                    <a:lstStyle/>
                    <a:p>
                      <a:pPr>
                        <a:buNone/>
                      </a:pPr>
                      <a:r>
                        <a:rPr lang="en-IN" sz="1600" dirty="0">
                          <a:solidFill>
                            <a:srgbClr val="0070C0"/>
                          </a:solidFill>
                          <a:latin typeface="Calibri"/>
                        </a:rPr>
                        <a:t>Quality scores need requirement-specific support.</a:t>
                      </a:r>
                    </a:p>
                  </a:txBody>
                  <a:tcPr marL="60687" marR="60687" marT="30343" marB="30343" anchor="ctr"/>
                </a:tc>
                <a:extLst>
                  <a:ext uri="{0D108BD9-81ED-4DB2-BD59-A6C34878D82A}">
                    <a16:rowId xmlns:a16="http://schemas.microsoft.com/office/drawing/2014/main" val="405025129"/>
                  </a:ext>
                </a:extLst>
              </a:tr>
              <a:tr h="675000">
                <a:tc>
                  <a:txBody>
                    <a:bodyPr/>
                    <a:lstStyle/>
                    <a:p>
                      <a:pPr>
                        <a:buNone/>
                      </a:pPr>
                      <a:r>
                        <a:rPr lang="en-IN" sz="1600" b="1" dirty="0">
                          <a:solidFill>
                            <a:srgbClr val="0070C0"/>
                          </a:solidFill>
                          <a:latin typeface="Calibri"/>
                        </a:rPr>
                        <a:t>[3] Lindholm et al.</a:t>
                      </a:r>
                    </a:p>
                  </a:txBody>
                  <a:tcPr marL="60687" marR="60687" marT="30343" marB="30343" anchor="ctr"/>
                </a:tc>
                <a:tc>
                  <a:txBody>
                    <a:bodyPr/>
                    <a:lstStyle/>
                    <a:p>
                      <a:pPr>
                        <a:buNone/>
                      </a:pPr>
                      <a:r>
                        <a:rPr lang="en-IN" sz="1600" dirty="0">
                          <a:solidFill>
                            <a:srgbClr val="0070C0"/>
                          </a:solidFill>
                          <a:latin typeface="Calibri"/>
                        </a:rPr>
                        <a:t>Operational supply risks in automotive (2025)</a:t>
                      </a:r>
                    </a:p>
                  </a:txBody>
                  <a:tcPr marL="60687" marR="60687" marT="30343" marB="30343" anchor="ctr"/>
                </a:tc>
                <a:tc>
                  <a:txBody>
                    <a:bodyPr/>
                    <a:lstStyle/>
                    <a:p>
                      <a:pPr>
                        <a:buNone/>
                      </a:pPr>
                      <a:r>
                        <a:rPr lang="en-IN" sz="1600" dirty="0">
                          <a:solidFill>
                            <a:srgbClr val="0070C0"/>
                          </a:solidFill>
                          <a:latin typeface="Calibri"/>
                        </a:rPr>
                        <a:t>Assesses risk using OEM and supplier data.</a:t>
                      </a:r>
                    </a:p>
                  </a:txBody>
                  <a:tcPr marL="60687" marR="60687" marT="30343" marB="30343" anchor="ctr"/>
                </a:tc>
                <a:tc>
                  <a:txBody>
                    <a:bodyPr/>
                    <a:lstStyle/>
                    <a:p>
                      <a:pPr>
                        <a:buNone/>
                      </a:pPr>
                      <a:r>
                        <a:rPr lang="en-IN" sz="1600" dirty="0">
                          <a:solidFill>
                            <a:srgbClr val="0070C0"/>
                          </a:solidFill>
                          <a:latin typeface="Calibri"/>
                        </a:rPr>
                        <a:t>Risk signals need links to order requirements.</a:t>
                      </a:r>
                    </a:p>
                  </a:txBody>
                  <a:tcPr marL="60687" marR="60687" marT="30343" marB="30343" anchor="ctr"/>
                </a:tc>
                <a:extLst>
                  <a:ext uri="{0D108BD9-81ED-4DB2-BD59-A6C34878D82A}">
                    <a16:rowId xmlns:a16="http://schemas.microsoft.com/office/drawing/2014/main" val="1929636224"/>
                  </a:ext>
                </a:extLst>
              </a:tr>
              <a:tr h="675000">
                <a:tc>
                  <a:txBody>
                    <a:bodyPr/>
                    <a:lstStyle/>
                    <a:p>
                      <a:pPr>
                        <a:buNone/>
                      </a:pPr>
                      <a:r>
                        <a:rPr lang="en-IN" sz="1600" b="1" dirty="0">
                          <a:solidFill>
                            <a:srgbClr val="0070C0"/>
                          </a:solidFill>
                          <a:latin typeface="Calibri"/>
                        </a:rPr>
                        <a:t>[4] Jackson et al.</a:t>
                      </a:r>
                    </a:p>
                  </a:txBody>
                  <a:tcPr marL="60687" marR="60687" marT="30343" marB="30343" anchor="ctr"/>
                </a:tc>
                <a:tc>
                  <a:txBody>
                    <a:bodyPr/>
                    <a:lstStyle/>
                    <a:p>
                      <a:pPr>
                        <a:buNone/>
                      </a:pPr>
                      <a:r>
                        <a:rPr lang="en-IN" sz="1600">
                          <a:solidFill>
                            <a:srgbClr val="0070C0"/>
                          </a:solidFill>
                          <a:latin typeface="Calibri"/>
                        </a:rPr>
                        <a:t>Supply chain mapping through RAG (2025)</a:t>
                      </a:r>
                    </a:p>
                  </a:txBody>
                  <a:tcPr marL="60687" marR="60687" marT="30343" marB="30343" anchor="ctr"/>
                </a:tc>
                <a:tc>
                  <a:txBody>
                    <a:bodyPr/>
                    <a:lstStyle/>
                    <a:p>
                      <a:pPr>
                        <a:buNone/>
                      </a:pPr>
                      <a:r>
                        <a:rPr lang="en-IN" sz="1600">
                          <a:solidFill>
                            <a:srgbClr val="0070C0"/>
                          </a:solidFill>
                          <a:latin typeface="Calibri"/>
                        </a:rPr>
                        <a:t>Maps supplier relationships in electronics.</a:t>
                      </a:r>
                    </a:p>
                  </a:txBody>
                  <a:tcPr marL="60687" marR="60687" marT="30343" marB="30343" anchor="ctr"/>
                </a:tc>
                <a:tc>
                  <a:txBody>
                    <a:bodyPr/>
                    <a:lstStyle/>
                    <a:p>
                      <a:pPr>
                        <a:buNone/>
                      </a:pPr>
                      <a:r>
                        <a:rPr lang="en-IN" sz="1600" dirty="0">
                          <a:solidFill>
                            <a:srgbClr val="0070C0"/>
                          </a:solidFill>
                          <a:latin typeface="Calibri"/>
                        </a:rPr>
                        <a:t>Maps networks rather than ranking suppliers.</a:t>
                      </a:r>
                    </a:p>
                  </a:txBody>
                  <a:tcPr marL="60687" marR="60687" marT="30343" marB="30343" anchor="ctr"/>
                </a:tc>
                <a:extLst>
                  <a:ext uri="{0D108BD9-81ED-4DB2-BD59-A6C34878D82A}">
                    <a16:rowId xmlns:a16="http://schemas.microsoft.com/office/drawing/2014/main" val="263008193"/>
                  </a:ext>
                </a:extLst>
              </a:tr>
              <a:tr h="675000">
                <a:tc>
                  <a:txBody>
                    <a:bodyPr/>
                    <a:lstStyle/>
                    <a:p>
                      <a:pPr>
                        <a:buNone/>
                      </a:pPr>
                      <a:r>
                        <a:rPr lang="en-IN" sz="1600" b="1" dirty="0" err="1">
                          <a:solidFill>
                            <a:srgbClr val="0070C0"/>
                          </a:solidFill>
                          <a:latin typeface="Calibri"/>
                        </a:rPr>
                        <a:t>[5] Joshi et al.</a:t>
                      </a:r>
                    </a:p>
                  </a:txBody>
                  <a:tcPr marL="60687" marR="60687" marT="30343" marB="30343" anchor="ctr"/>
                </a:tc>
                <a:tc>
                  <a:txBody>
                    <a:bodyPr/>
                    <a:lstStyle/>
                    <a:p>
                      <a:pPr>
                        <a:buNone/>
                      </a:pPr>
                      <a:r>
                        <a:rPr lang="en-IN" sz="1600" dirty="0">
                          <a:solidFill>
                            <a:srgbClr val="0070C0"/>
                          </a:solidFill>
                          <a:latin typeface="Calibri"/>
                        </a:rPr>
                        <a:t>Multi-agent LLM vendor evaluation (2026)</a:t>
                      </a:r>
                    </a:p>
                  </a:txBody>
                  <a:tcPr marL="60687" marR="60687" marT="30343" marB="30343" anchor="ctr"/>
                </a:tc>
                <a:tc>
                  <a:txBody>
                    <a:bodyPr/>
                    <a:lstStyle/>
                    <a:p>
                      <a:pPr>
                        <a:buNone/>
                      </a:pPr>
                      <a:r>
                        <a:rPr lang="en-IN" sz="1600">
                          <a:solidFill>
                            <a:srgbClr val="0070C0"/>
                          </a:solidFill>
                          <a:latin typeface="Calibri"/>
                        </a:rPr>
                        <a:t>Combines financial, risk and market signals.</a:t>
                      </a:r>
                    </a:p>
                  </a:txBody>
                  <a:tcPr marL="60687" marR="60687" marT="30343" marB="30343" anchor="ctr"/>
                </a:tc>
                <a:tc>
                  <a:txBody>
                    <a:bodyPr/>
                    <a:lstStyle/>
                    <a:p>
                      <a:pPr>
                        <a:buNone/>
                      </a:pPr>
                      <a:r>
                        <a:rPr lang="en-IN" sz="1600" dirty="0">
                          <a:solidFill>
                            <a:srgbClr val="0070C0"/>
                          </a:solidFill>
                          <a:latin typeface="Calibri"/>
                        </a:rPr>
                        <a:t>Adds evidence states but no claim-level tests.</a:t>
                      </a:r>
                    </a:p>
                  </a:txBody>
                  <a:tcPr marL="60687" marR="60687" marT="30343" marB="30343" anchor="ctr"/>
                </a:tc>
                <a:extLst>
                  <a:ext uri="{0D108BD9-81ED-4DB2-BD59-A6C34878D82A}">
                    <a16:rowId xmlns:a16="http://schemas.microsoft.com/office/drawing/2014/main" val="3380789271"/>
                  </a:ext>
                </a:extLst>
              </a:tr>
              <a:tr h="675000">
                <a:tc>
                  <a:txBody>
                    <a:bodyPr/>
                    <a:lstStyle/>
                    <a:p>
                      <a:pPr>
                        <a:buNone/>
                      </a:pPr>
                      <a:r>
                        <a:rPr lang="en-IN" sz="1600" b="1" dirty="0">
                          <a:solidFill>
                            <a:srgbClr val="0070C0"/>
                          </a:solidFill>
                          <a:latin typeface="Calibri"/>
                        </a:rPr>
                        <a:t>[6] Rodríguez Montequín et al.</a:t>
                      </a:r>
                      <a:endParaRPr lang="en-IN" sz="1600" b="1" dirty="0"/>
                    </a:p>
                  </a:txBody>
                  <a:tcPr marL="60687" marR="60687" marT="30343" marB="30343" anchor="ctr"/>
                </a:tc>
                <a:tc>
                  <a:txBody>
                    <a:bodyPr/>
                    <a:lstStyle/>
                    <a:p>
                      <a:pPr>
                        <a:buNone/>
                      </a:pPr>
                      <a:r>
                        <a:rPr lang="en-IN" sz="1600">
                          <a:solidFill>
                            <a:srgbClr val="0070C0"/>
                          </a:solidFill>
                          <a:latin typeface="Calibri"/>
                        </a:rPr>
                        <a:t>Dual-mode RAG for public tenders (2026)</a:t>
                      </a:r>
                    </a:p>
                  </a:txBody>
                  <a:tcPr marL="60687" marR="60687" marT="30343" marB="30343" anchor="ctr"/>
                </a:tc>
                <a:tc>
                  <a:txBody>
                    <a:bodyPr/>
                    <a:lstStyle/>
                    <a:p>
                      <a:pPr>
                        <a:buNone/>
                      </a:pPr>
                      <a:r>
                        <a:rPr lang="en-IN" sz="1600">
                          <a:solidFill>
                            <a:srgbClr val="0070C0"/>
                          </a:solidFill>
                          <a:latin typeface="Calibri"/>
                        </a:rPr>
                        <a:t>Answers questions over tender documents.</a:t>
                      </a:r>
                    </a:p>
                  </a:txBody>
                  <a:tcPr marL="60687" marR="60687" marT="30343" marB="30343" anchor="ctr"/>
                </a:tc>
                <a:tc>
                  <a:txBody>
                    <a:bodyPr/>
                    <a:lstStyle/>
                    <a:p>
                      <a:pPr>
                        <a:buNone/>
                      </a:pPr>
                      <a:r>
                        <a:rPr lang="en-IN" sz="1600" dirty="0">
                          <a:solidFill>
                            <a:srgbClr val="0070C0"/>
                          </a:solidFill>
                          <a:latin typeface="Calibri"/>
                        </a:rPr>
                        <a:t>Tender Q&amp;A does not establish supplier rankings.</a:t>
                      </a:r>
                    </a:p>
                  </a:txBody>
                  <a:tcPr marL="60687" marR="60687" marT="30343" marB="30343" anchor="ctr"/>
                </a:tc>
                <a:extLst>
                  <a:ext uri="{0D108BD9-81ED-4DB2-BD59-A6C34878D82A}">
                    <a16:rowId xmlns:a16="http://schemas.microsoft.com/office/drawing/2014/main" val="221193069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body" idx="1"/>
          </p:nvPr>
        </p:nvSpPr>
        <p:spPr>
          <a:xfrm>
            <a:off x="256000" y="1271225"/>
            <a:ext cx="11539800" cy="4143000"/>
          </a:xfrm>
          <a:prstGeom prst="rect">
            <a:avLst/>
          </a:prstGeom>
          <a:noFill/>
          <a:ln>
            <a:noFill/>
          </a:ln>
        </p:spPr>
        <p:txBody>
          <a:bodyPr spcFirstLastPara="1" wrap="square" lIns="91425" tIns="45700" rIns="91425" bIns="45700" anchor="t" anchorCtr="0">
            <a:noAutofit/>
          </a:bodyPr>
          <a:lstStyle/>
          <a:p>
            <a:pPr marL="457200" lvl="0" indent="-406400" algn="just"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Abdulla &amp; </a:t>
            </a:r>
            <a:r>
              <a:rPr lang="en-US" b="1" dirty="0" err="1">
                <a:solidFill>
                  <a:srgbClr val="0070C0"/>
                </a:solidFill>
                <a:latin typeface="Calibri"/>
                <a:ea typeface="Calibri"/>
                <a:cs typeface="Calibri"/>
                <a:sym typeface="Calibri"/>
              </a:rPr>
              <a:t>Baryannis</a:t>
            </a:r>
            <a:r>
              <a:rPr lang="en-US" b="1" dirty="0">
                <a:solidFill>
                  <a:srgbClr val="0070C0"/>
                </a:solidFill>
                <a:latin typeface="Calibri"/>
                <a:ea typeface="Calibri"/>
                <a:cs typeface="Calibri"/>
                <a:sym typeface="Calibri"/>
              </a:rPr>
              <a:t> (2024), Ma &amp; Li (2024):</a:t>
            </a:r>
            <a:r>
              <a:rPr lang="en-US" b="0" dirty="0">
                <a:solidFill>
                  <a:srgbClr val="0070C0"/>
                </a:solidFill>
                <a:latin typeface="Calibri"/>
                <a:ea typeface="Calibri"/>
                <a:cs typeface="Calibri"/>
                <a:sym typeface="Calibri"/>
              </a:rPr>
              <a:t> supplier ranking and quality evaluation with MCDM and ML.</a:t>
            </a:r>
          </a:p>
          <a:p>
            <a:pPr marL="457200" lvl="0" indent="-406400" algn="just"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Lindholm et al. (2025):</a:t>
            </a:r>
            <a:r>
              <a:rPr lang="en-US" b="0" dirty="0">
                <a:solidFill>
                  <a:srgbClr val="0070C0"/>
                </a:solidFill>
                <a:latin typeface="Calibri"/>
                <a:ea typeface="Calibri"/>
                <a:cs typeface="Calibri"/>
                <a:sym typeface="Calibri"/>
              </a:rPr>
              <a:t> automotive operational risk assessment.</a:t>
            </a:r>
          </a:p>
          <a:p>
            <a:pPr marL="457200" lvl="0" indent="-406400" algn="just"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Jackson et al. (2025):</a:t>
            </a:r>
            <a:r>
              <a:rPr lang="en-US" b="0" dirty="0">
                <a:solidFill>
                  <a:srgbClr val="0070C0"/>
                </a:solidFill>
                <a:latin typeface="Calibri"/>
                <a:ea typeface="Calibri"/>
                <a:cs typeface="Calibri"/>
                <a:sym typeface="Calibri"/>
              </a:rPr>
              <a:t> RAG for supplier relationship mapping.</a:t>
            </a:r>
          </a:p>
          <a:p>
            <a:pPr marL="457200" lvl="0" indent="-406400" algn="just"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Joshi et al. (2026):</a:t>
            </a:r>
            <a:r>
              <a:rPr lang="en-US" b="0" dirty="0">
                <a:solidFill>
                  <a:srgbClr val="0070C0"/>
                </a:solidFill>
                <a:latin typeface="Calibri"/>
                <a:ea typeface="Calibri"/>
                <a:cs typeface="Calibri"/>
                <a:sym typeface="Calibri"/>
              </a:rPr>
              <a:t> closely related LLM vendor intelligence.</a:t>
            </a:r>
          </a:p>
          <a:p>
            <a:pPr marL="457200" lvl="0" indent="-406400" algn="just" rtl="0">
              <a:lnSpc>
                <a:spcPct val="150000"/>
              </a:lnSpc>
              <a:spcBef>
                <a:spcPts val="0"/>
              </a:spcBef>
              <a:spcAft>
                <a:spcPts val="0"/>
              </a:spcAft>
              <a:buClr>
                <a:srgbClr val="0070C0"/>
              </a:buClr>
              <a:buSzPts val="2800"/>
              <a:buFont typeface="Calibri"/>
              <a:buChar char="●"/>
            </a:pPr>
            <a:r>
              <a:rPr lang="en-US" b="1" dirty="0">
                <a:solidFill>
                  <a:srgbClr val="0070C0"/>
                </a:solidFill>
                <a:latin typeface="Calibri"/>
                <a:ea typeface="Calibri"/>
                <a:cs typeface="Calibri"/>
                <a:sym typeface="Calibri"/>
              </a:rPr>
              <a:t>Rodríguez </a:t>
            </a:r>
            <a:r>
              <a:rPr lang="en-US" b="1" dirty="0" err="1">
                <a:solidFill>
                  <a:srgbClr val="0070C0"/>
                </a:solidFill>
                <a:latin typeface="Calibri"/>
                <a:ea typeface="Calibri"/>
                <a:cs typeface="Calibri"/>
                <a:sym typeface="Calibri"/>
              </a:rPr>
              <a:t>Montequín</a:t>
            </a:r>
            <a:r>
              <a:rPr lang="en-US" b="1" dirty="0">
                <a:solidFill>
                  <a:srgbClr val="0070C0"/>
                </a:solidFill>
                <a:latin typeface="Calibri"/>
                <a:ea typeface="Calibri"/>
                <a:cs typeface="Calibri"/>
                <a:sym typeface="Calibri"/>
              </a:rPr>
              <a:t> et al. (2026):</a:t>
            </a:r>
            <a:r>
              <a:rPr lang="en-US" b="0" dirty="0">
                <a:solidFill>
                  <a:srgbClr val="0070C0"/>
                </a:solidFill>
                <a:latin typeface="Calibri"/>
                <a:ea typeface="Calibri"/>
                <a:cs typeface="Calibri"/>
                <a:sym typeface="Calibri"/>
              </a:rPr>
              <a:t> tender-document Q&amp;A.</a:t>
            </a:r>
          </a:p>
        </p:txBody>
      </p:sp>
      <p:sp>
        <p:nvSpPr>
          <p:cNvPr id="108" name="Google Shape;108;p20"/>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Summary of Literature</a:t>
            </a:r>
            <a:endParaRPr sz="1400" b="0" i="0" u="none" strike="noStrike" cap="none">
              <a:solidFill>
                <a:srgbClr val="000000"/>
              </a:solidFill>
              <a:latin typeface="Arial"/>
              <a:ea typeface="Arial"/>
              <a:cs typeface="Arial"/>
              <a:sym typeface="Arial"/>
            </a:endParaRPr>
          </a:p>
        </p:txBody>
      </p:sp>
      <p:cxnSp>
        <p:nvCxnSpPr>
          <p:cNvPr id="109" name="Google Shape;109;p20"/>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10" name="Google Shape;110;p20"/>
          <p:cNvSpPr txBox="1"/>
          <p:nvPr/>
        </p:nvSpPr>
        <p:spPr>
          <a:xfrm>
            <a:off x="4111775" y="57025"/>
            <a:ext cx="8080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body" idx="1"/>
          </p:nvPr>
        </p:nvSpPr>
        <p:spPr>
          <a:xfrm>
            <a:off x="256000" y="1271225"/>
            <a:ext cx="11609100" cy="4706700"/>
          </a:xfrm>
          <a:prstGeom prst="rect">
            <a:avLst/>
          </a:prstGeom>
          <a:noFill/>
          <a:ln>
            <a:noFill/>
          </a:ln>
        </p:spPr>
        <p:txBody>
          <a:bodyPr spcFirstLastPara="1" wrap="square" lIns="91425" tIns="45700" rIns="91425" bIns="45700" anchor="t" anchorCtr="0">
            <a:noAutofit/>
          </a:bodyPr>
          <a:lstStyle/>
          <a:p>
            <a:pPr marL="457200" lvl="0" indent="-406400" algn="just"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Limited document grounding [1, 2]:</a:t>
            </a:r>
            <a:r>
              <a:rPr lang="en-US" b="0">
                <a:solidFill>
                  <a:srgbClr val="0070C0"/>
                </a:solidFill>
                <a:latin typeface="Calibri"/>
                <a:ea typeface="Calibri"/>
                <a:cs typeface="Calibri"/>
                <a:sym typeface="Calibri"/>
              </a:rPr>
              <a:t> RESA links supplier metrics to requirement-specific evidence.</a:t>
            </a:r>
          </a:p>
          <a:p>
            <a:pPr marL="457200" lvl="0" indent="-406400" algn="just"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Risk focus [3]:</a:t>
            </a:r>
            <a:r>
              <a:rPr lang="en-US" b="0">
                <a:solidFill>
                  <a:srgbClr val="0070C0"/>
                </a:solidFill>
                <a:latin typeface="Calibri"/>
                <a:ea typeface="Calibri"/>
                <a:cs typeface="Calibri"/>
                <a:sym typeface="Calibri"/>
              </a:rPr>
              <a:t> RESA connects recent risk to supplier ranking.</a:t>
            </a:r>
          </a:p>
          <a:p>
            <a:pPr marL="457200" lvl="0" indent="-406400" algn="just"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Mapping / Q&amp;A [4, 6]:</a:t>
            </a:r>
            <a:r>
              <a:rPr lang="en-US" b="0">
                <a:solidFill>
                  <a:srgbClr val="0070C0"/>
                </a:solidFill>
                <a:latin typeface="Calibri"/>
                <a:ea typeface="Calibri"/>
                <a:cs typeface="Calibri"/>
                <a:sym typeface="Calibri"/>
              </a:rPr>
              <a:t> RESA adds supplier constraint checks.</a:t>
            </a:r>
          </a:p>
          <a:p>
            <a:pPr marL="457200" lvl="0" indent="-406400" algn="just"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Verification gap [5]:</a:t>
            </a:r>
            <a:r>
              <a:rPr lang="en-US" b="0">
                <a:solidFill>
                  <a:srgbClr val="0070C0"/>
                </a:solidFill>
                <a:latin typeface="Calibri"/>
                <a:ea typeface="Calibri"/>
                <a:cs typeface="Calibri"/>
                <a:sym typeface="Calibri"/>
              </a:rPr>
              <a:t> RESA flags missing evidence and checks whether each recommendation claim has support.</a:t>
            </a:r>
          </a:p>
        </p:txBody>
      </p:sp>
      <p:sp>
        <p:nvSpPr>
          <p:cNvPr id="116" name="Google Shape;116;p21"/>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Additional Information</a:t>
            </a:r>
            <a:endParaRPr sz="1400" b="0" i="0" u="none" strike="noStrike" cap="none">
              <a:solidFill>
                <a:srgbClr val="000000"/>
              </a:solidFill>
              <a:latin typeface="Arial"/>
              <a:ea typeface="Arial"/>
              <a:cs typeface="Arial"/>
              <a:sym typeface="Arial"/>
            </a:endParaRPr>
          </a:p>
        </p:txBody>
      </p:sp>
      <p:cxnSp>
        <p:nvCxnSpPr>
          <p:cNvPr id="117" name="Google Shape;117;p21"/>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18" name="Google Shape;118;p21"/>
          <p:cNvSpPr txBox="1"/>
          <p:nvPr/>
        </p:nvSpPr>
        <p:spPr>
          <a:xfrm>
            <a:off x="3666303" y="0"/>
            <a:ext cx="8525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3A3B503-A4EC-E1FF-2464-A013BC339D36}"/>
            </a:ext>
          </a:extLst>
        </p:cNvPr>
        <p:cNvGrpSpPr/>
        <p:nvPr/>
      </p:nvGrpSpPr>
      <p:grpSpPr>
        <a:xfrm>
          <a:off x="0" y="0"/>
          <a:ext cx="0" cy="0"/>
          <a:chOff x="0" y="0"/>
          <a:chExt cx="0" cy="0"/>
        </a:xfrm>
      </p:grpSpPr>
      <p:sp>
        <p:nvSpPr>
          <p:cNvPr id="116" name="Google Shape;116;p21">
            <a:extLst>
              <a:ext uri="{FF2B5EF4-FFF2-40B4-BE49-F238E27FC236}">
                <a16:creationId xmlns:a16="http://schemas.microsoft.com/office/drawing/2014/main" id="{5A44A192-BE59-16D2-CB41-B21B8B893416}"/>
              </a:ext>
            </a:extLst>
          </p:cNvPr>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Additional Information</a:t>
            </a:r>
            <a:endParaRPr sz="1400" b="0" i="0" u="none" strike="noStrike" cap="none">
              <a:solidFill>
                <a:srgbClr val="000000"/>
              </a:solidFill>
              <a:latin typeface="Arial"/>
              <a:ea typeface="Arial"/>
              <a:cs typeface="Arial"/>
              <a:sym typeface="Arial"/>
            </a:endParaRPr>
          </a:p>
        </p:txBody>
      </p:sp>
      <p:cxnSp>
        <p:nvCxnSpPr>
          <p:cNvPr id="117" name="Google Shape;117;p21">
            <a:extLst>
              <a:ext uri="{FF2B5EF4-FFF2-40B4-BE49-F238E27FC236}">
                <a16:creationId xmlns:a16="http://schemas.microsoft.com/office/drawing/2014/main" id="{BDD50E60-3003-7485-10A4-202F4961AAD3}"/>
              </a:ext>
            </a:extLst>
          </p:cNvPr>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18" name="Google Shape;118;p21">
            <a:extLst>
              <a:ext uri="{FF2B5EF4-FFF2-40B4-BE49-F238E27FC236}">
                <a16:creationId xmlns:a16="http://schemas.microsoft.com/office/drawing/2014/main" id="{CDE6ED4B-8118-70CF-A1E3-188BCCE533B9}"/>
              </a:ext>
            </a:extLst>
          </p:cNvPr>
          <p:cNvSpPr txBox="1"/>
          <p:nvPr/>
        </p:nvSpPr>
        <p:spPr>
          <a:xfrm>
            <a:off x="3666303" y="0"/>
            <a:ext cx="8525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00BBE25E-A953-725E-FA7D-6CD54A5C48E3}"/>
              </a:ext>
            </a:extLst>
          </p:cNvPr>
          <p:cNvGraphicFramePr>
            <a:graphicFrameLocks noGrp="1"/>
          </p:cNvGraphicFramePr>
          <p:nvPr/>
        </p:nvGraphicFramePr>
        <p:xfrm>
          <a:off x="677863" y="1455738"/>
          <a:ext cx="11004550" cy="4267200"/>
        </p:xfrm>
        <a:graphic>
          <a:graphicData uri="http://schemas.openxmlformats.org/drawingml/2006/table">
            <a:tbl>
              <a:tblPr>
                <a:tableStyleId>{7A6AE9A8-6298-4076-9231-B7FAEA5409DA}</a:tableStyleId>
              </a:tblPr>
              <a:tblGrid>
                <a:gridCol w="5502275">
                  <a:extLst>
                    <a:ext uri="{9D8B030D-6E8A-4147-A177-3AD203B41FA5}">
                      <a16:colId xmlns:a16="http://schemas.microsoft.com/office/drawing/2014/main" val="2505499269"/>
                    </a:ext>
                  </a:extLst>
                </a:gridCol>
                <a:gridCol w="5502275">
                  <a:extLst>
                    <a:ext uri="{9D8B030D-6E8A-4147-A177-3AD203B41FA5}">
                      <a16:colId xmlns:a16="http://schemas.microsoft.com/office/drawing/2014/main" val="985073511"/>
                    </a:ext>
                  </a:extLst>
                </a:gridCol>
              </a:tblGrid>
              <a:tr h="0">
                <a:tc>
                  <a:txBody>
                    <a:bodyPr/>
                    <a:lstStyle/>
                    <a:p>
                      <a:pPr>
                        <a:buNone/>
                      </a:pPr>
                      <a:r>
                        <a:rPr lang="en-IN"/>
                        <a:t>Layer</a:t>
                      </a:r>
                    </a:p>
                  </a:txBody>
                  <a:tcPr anchor="ctr"/>
                </a:tc>
                <a:tc>
                  <a:txBody>
                    <a:bodyPr/>
                    <a:lstStyle/>
                    <a:p>
                      <a:pPr>
                        <a:buNone/>
                      </a:pPr>
                      <a:r>
                        <a:rPr lang="en-IN"/>
                        <a:t>Technology Stack</a:t>
                      </a:r>
                    </a:p>
                  </a:txBody>
                  <a:tcPr anchor="ctr"/>
                </a:tc>
                <a:extLst>
                  <a:ext uri="{0D108BD9-81ED-4DB2-BD59-A6C34878D82A}">
                    <a16:rowId xmlns:a16="http://schemas.microsoft.com/office/drawing/2014/main" val="99960448"/>
                  </a:ext>
                </a:extLst>
              </a:tr>
              <a:tr h="0">
                <a:tc>
                  <a:txBody>
                    <a:bodyPr/>
                    <a:lstStyle/>
                    <a:p>
                      <a:pPr>
                        <a:buNone/>
                      </a:pPr>
                      <a:r>
                        <a:rPr lang="en-IN"/>
                        <a:t>Frontend</a:t>
                      </a:r>
                    </a:p>
                  </a:txBody>
                  <a:tcPr anchor="ctr"/>
                </a:tc>
                <a:tc>
                  <a:txBody>
                    <a:bodyPr/>
                    <a:lstStyle/>
                    <a:p>
                      <a:pPr>
                        <a:buNone/>
                      </a:pPr>
                      <a:r>
                        <a:rPr lang="en-IN"/>
                        <a:t>React</a:t>
                      </a:r>
                    </a:p>
                  </a:txBody>
                  <a:tcPr anchor="ctr"/>
                </a:tc>
                <a:extLst>
                  <a:ext uri="{0D108BD9-81ED-4DB2-BD59-A6C34878D82A}">
                    <a16:rowId xmlns:a16="http://schemas.microsoft.com/office/drawing/2014/main" val="2049803013"/>
                  </a:ext>
                </a:extLst>
              </a:tr>
              <a:tr h="0">
                <a:tc>
                  <a:txBody>
                    <a:bodyPr/>
                    <a:lstStyle/>
                    <a:p>
                      <a:pPr>
                        <a:buNone/>
                      </a:pPr>
                      <a:r>
                        <a:rPr lang="en-IN"/>
                        <a:t>Backend</a:t>
                      </a:r>
                    </a:p>
                  </a:txBody>
                  <a:tcPr anchor="ctr"/>
                </a:tc>
                <a:tc>
                  <a:txBody>
                    <a:bodyPr/>
                    <a:lstStyle/>
                    <a:p>
                      <a:pPr>
                        <a:buNone/>
                      </a:pPr>
                      <a:r>
                        <a:rPr lang="en-IN"/>
                        <a:t>FastAPI, Pydantic</a:t>
                      </a:r>
                    </a:p>
                  </a:txBody>
                  <a:tcPr anchor="ctr"/>
                </a:tc>
                <a:extLst>
                  <a:ext uri="{0D108BD9-81ED-4DB2-BD59-A6C34878D82A}">
                    <a16:rowId xmlns:a16="http://schemas.microsoft.com/office/drawing/2014/main" val="1532728041"/>
                  </a:ext>
                </a:extLst>
              </a:tr>
              <a:tr h="0">
                <a:tc>
                  <a:txBody>
                    <a:bodyPr/>
                    <a:lstStyle/>
                    <a:p>
                      <a:pPr>
                        <a:buNone/>
                      </a:pPr>
                      <a:r>
                        <a:rPr lang="en-IN"/>
                        <a:t>LLM</a:t>
                      </a:r>
                    </a:p>
                  </a:txBody>
                  <a:tcPr anchor="ctr"/>
                </a:tc>
                <a:tc>
                  <a:txBody>
                    <a:bodyPr/>
                    <a:lstStyle/>
                    <a:p>
                      <a:pPr>
                        <a:buNone/>
                      </a:pPr>
                      <a:r>
                        <a:rPr lang="en-IN"/>
                        <a:t>Llama 3.1 8B, Ollama</a:t>
                      </a:r>
                    </a:p>
                  </a:txBody>
                  <a:tcPr anchor="ctr"/>
                </a:tc>
                <a:extLst>
                  <a:ext uri="{0D108BD9-81ED-4DB2-BD59-A6C34878D82A}">
                    <a16:rowId xmlns:a16="http://schemas.microsoft.com/office/drawing/2014/main" val="1145183680"/>
                  </a:ext>
                </a:extLst>
              </a:tr>
              <a:tr h="0">
                <a:tc>
                  <a:txBody>
                    <a:bodyPr/>
                    <a:lstStyle/>
                    <a:p>
                      <a:pPr>
                        <a:buNone/>
                      </a:pPr>
                      <a:r>
                        <a:rPr lang="en-IN"/>
                        <a:t>RAG</a:t>
                      </a:r>
                    </a:p>
                  </a:txBody>
                  <a:tcPr anchor="ctr"/>
                </a:tc>
                <a:tc>
                  <a:txBody>
                    <a:bodyPr/>
                    <a:lstStyle/>
                    <a:p>
                      <a:pPr>
                        <a:buNone/>
                      </a:pPr>
                      <a:r>
                        <a:rPr lang="en-IN"/>
                        <a:t>LlamaIndex, Hybrid Retrieval (BM25 + Vector)</a:t>
                      </a:r>
                    </a:p>
                  </a:txBody>
                  <a:tcPr anchor="ctr"/>
                </a:tc>
                <a:extLst>
                  <a:ext uri="{0D108BD9-81ED-4DB2-BD59-A6C34878D82A}">
                    <a16:rowId xmlns:a16="http://schemas.microsoft.com/office/drawing/2014/main" val="835734202"/>
                  </a:ext>
                </a:extLst>
              </a:tr>
              <a:tr h="0">
                <a:tc>
                  <a:txBody>
                    <a:bodyPr/>
                    <a:lstStyle/>
                    <a:p>
                      <a:pPr>
                        <a:buNone/>
                      </a:pPr>
                      <a:r>
                        <a:rPr lang="en-IN"/>
                        <a:t>Embeddings</a:t>
                      </a:r>
                    </a:p>
                  </a:txBody>
                  <a:tcPr anchor="ctr"/>
                </a:tc>
                <a:tc>
                  <a:txBody>
                    <a:bodyPr/>
                    <a:lstStyle/>
                    <a:p>
                      <a:pPr>
                        <a:buNone/>
                      </a:pPr>
                      <a:r>
                        <a:rPr lang="en-IN"/>
                        <a:t>nomic-embed-text</a:t>
                      </a:r>
                    </a:p>
                  </a:txBody>
                  <a:tcPr anchor="ctr"/>
                </a:tc>
                <a:extLst>
                  <a:ext uri="{0D108BD9-81ED-4DB2-BD59-A6C34878D82A}">
                    <a16:rowId xmlns:a16="http://schemas.microsoft.com/office/drawing/2014/main" val="2414698581"/>
                  </a:ext>
                </a:extLst>
              </a:tr>
              <a:tr h="0">
                <a:tc>
                  <a:txBody>
                    <a:bodyPr/>
                    <a:lstStyle/>
                    <a:p>
                      <a:pPr>
                        <a:buNone/>
                      </a:pPr>
                      <a:r>
                        <a:rPr lang="en-IN"/>
                        <a:t>Vector DB</a:t>
                      </a:r>
                    </a:p>
                  </a:txBody>
                  <a:tcPr anchor="ctr"/>
                </a:tc>
                <a:tc>
                  <a:txBody>
                    <a:bodyPr/>
                    <a:lstStyle/>
                    <a:p>
                      <a:pPr>
                        <a:buNone/>
                      </a:pPr>
                      <a:r>
                        <a:rPr lang="en-IN"/>
                        <a:t>Qdrant</a:t>
                      </a:r>
                    </a:p>
                  </a:txBody>
                  <a:tcPr anchor="ctr"/>
                </a:tc>
                <a:extLst>
                  <a:ext uri="{0D108BD9-81ED-4DB2-BD59-A6C34878D82A}">
                    <a16:rowId xmlns:a16="http://schemas.microsoft.com/office/drawing/2014/main" val="298721987"/>
                  </a:ext>
                </a:extLst>
              </a:tr>
              <a:tr h="0">
                <a:tc>
                  <a:txBody>
                    <a:bodyPr/>
                    <a:lstStyle/>
                    <a:p>
                      <a:pPr>
                        <a:buNone/>
                      </a:pPr>
                      <a:r>
                        <a:rPr lang="en-IN"/>
                        <a:t>Document Processing</a:t>
                      </a:r>
                    </a:p>
                  </a:txBody>
                  <a:tcPr anchor="ctr"/>
                </a:tc>
                <a:tc>
                  <a:txBody>
                    <a:bodyPr/>
                    <a:lstStyle/>
                    <a:p>
                      <a:pPr>
                        <a:buNone/>
                      </a:pPr>
                      <a:r>
                        <a:rPr lang="en-IN"/>
                        <a:t>Unstructured.io OSS, Camelot</a:t>
                      </a:r>
                    </a:p>
                  </a:txBody>
                  <a:tcPr anchor="ctr"/>
                </a:tc>
                <a:extLst>
                  <a:ext uri="{0D108BD9-81ED-4DB2-BD59-A6C34878D82A}">
                    <a16:rowId xmlns:a16="http://schemas.microsoft.com/office/drawing/2014/main" val="1309268259"/>
                  </a:ext>
                </a:extLst>
              </a:tr>
              <a:tr h="0">
                <a:tc>
                  <a:txBody>
                    <a:bodyPr/>
                    <a:lstStyle/>
                    <a:p>
                      <a:pPr>
                        <a:buNone/>
                      </a:pPr>
                      <a:r>
                        <a:rPr lang="en-IN"/>
                        <a:t>Database &amp; Storage</a:t>
                      </a:r>
                    </a:p>
                  </a:txBody>
                  <a:tcPr anchor="ctr"/>
                </a:tc>
                <a:tc>
                  <a:txBody>
                    <a:bodyPr/>
                    <a:lstStyle/>
                    <a:p>
                      <a:pPr>
                        <a:buNone/>
                      </a:pPr>
                      <a:r>
                        <a:rPr lang="en-IN"/>
                        <a:t>PostgreSQL, MinIO</a:t>
                      </a:r>
                    </a:p>
                  </a:txBody>
                  <a:tcPr anchor="ctr"/>
                </a:tc>
                <a:extLst>
                  <a:ext uri="{0D108BD9-81ED-4DB2-BD59-A6C34878D82A}">
                    <a16:rowId xmlns:a16="http://schemas.microsoft.com/office/drawing/2014/main" val="119858437"/>
                  </a:ext>
                </a:extLst>
              </a:tr>
              <a:tr h="0">
                <a:tc>
                  <a:txBody>
                    <a:bodyPr/>
                    <a:lstStyle/>
                    <a:p>
                      <a:pPr>
                        <a:buNone/>
                      </a:pPr>
                      <a:r>
                        <a:rPr lang="en-IN"/>
                        <a:t>AI/ML</a:t>
                      </a:r>
                    </a:p>
                  </a:txBody>
                  <a:tcPr anchor="ctr"/>
                </a:tc>
                <a:tc>
                  <a:txBody>
                    <a:bodyPr/>
                    <a:lstStyle/>
                    <a:p>
                      <a:pPr>
                        <a:buNone/>
                      </a:pPr>
                      <a:r>
                        <a:rPr lang="en-IN"/>
                        <a:t>Python, Pandas, NumPy, Scikit-learn</a:t>
                      </a:r>
                    </a:p>
                  </a:txBody>
                  <a:tcPr anchor="ctr"/>
                </a:tc>
                <a:extLst>
                  <a:ext uri="{0D108BD9-81ED-4DB2-BD59-A6C34878D82A}">
                    <a16:rowId xmlns:a16="http://schemas.microsoft.com/office/drawing/2014/main" val="1970248887"/>
                  </a:ext>
                </a:extLst>
              </a:tr>
              <a:tr h="0">
                <a:tc>
                  <a:txBody>
                    <a:bodyPr/>
                    <a:lstStyle/>
                    <a:p>
                      <a:pPr>
                        <a:buNone/>
                      </a:pPr>
                      <a:r>
                        <a:rPr lang="en-IN"/>
                        <a:t>Cache &amp; Sync</a:t>
                      </a:r>
                    </a:p>
                  </a:txBody>
                  <a:tcPr anchor="ctr"/>
                </a:tc>
                <a:tc>
                  <a:txBody>
                    <a:bodyPr/>
                    <a:lstStyle/>
                    <a:p>
                      <a:pPr>
                        <a:buNone/>
                      </a:pPr>
                      <a:r>
                        <a:rPr lang="en-IN"/>
                        <a:t>Redis, inotifywait</a:t>
                      </a:r>
                    </a:p>
                  </a:txBody>
                  <a:tcPr anchor="ctr"/>
                </a:tc>
                <a:extLst>
                  <a:ext uri="{0D108BD9-81ED-4DB2-BD59-A6C34878D82A}">
                    <a16:rowId xmlns:a16="http://schemas.microsoft.com/office/drawing/2014/main" val="2032644409"/>
                  </a:ext>
                </a:extLst>
              </a:tr>
              <a:tr h="0">
                <a:tc>
                  <a:txBody>
                    <a:bodyPr/>
                    <a:lstStyle/>
                    <a:p>
                      <a:pPr>
                        <a:buNone/>
                      </a:pPr>
                      <a:r>
                        <a:rPr lang="en-IN"/>
                        <a:t>Research Method</a:t>
                      </a:r>
                    </a:p>
                  </a:txBody>
                  <a:tcPr anchor="ctr"/>
                </a:tc>
                <a:tc>
                  <a:txBody>
                    <a:bodyPr/>
                    <a:lstStyle/>
                    <a:p>
                      <a:pPr>
                        <a:buNone/>
                      </a:pPr>
                      <a:r>
                        <a:rPr lang="en-IN"/>
                        <a:t>RESA</a:t>
                      </a:r>
                    </a:p>
                  </a:txBody>
                  <a:tcPr anchor="ctr"/>
                </a:tc>
                <a:extLst>
                  <a:ext uri="{0D108BD9-81ED-4DB2-BD59-A6C34878D82A}">
                    <a16:rowId xmlns:a16="http://schemas.microsoft.com/office/drawing/2014/main" val="1478913102"/>
                  </a:ext>
                </a:extLst>
              </a:tr>
              <a:tr h="0">
                <a:tc>
                  <a:txBody>
                    <a:bodyPr/>
                    <a:lstStyle/>
                    <a:p>
                      <a:pPr>
                        <a:buNone/>
                      </a:pPr>
                      <a:r>
                        <a:rPr lang="en-IN"/>
                        <a:t>Enterprise Interface</a:t>
                      </a:r>
                    </a:p>
                  </a:txBody>
                  <a:tcPr anchor="ctr"/>
                </a:tc>
                <a:tc>
                  <a:txBody>
                    <a:bodyPr/>
                    <a:lstStyle/>
                    <a:p>
                      <a:pPr>
                        <a:buNone/>
                      </a:pPr>
                      <a:r>
                        <a:rPr lang="en-IN"/>
                        <a:t>Microsoft Bot Framework SDK</a:t>
                      </a:r>
                    </a:p>
                  </a:txBody>
                  <a:tcPr anchor="ctr"/>
                </a:tc>
                <a:extLst>
                  <a:ext uri="{0D108BD9-81ED-4DB2-BD59-A6C34878D82A}">
                    <a16:rowId xmlns:a16="http://schemas.microsoft.com/office/drawing/2014/main" val="1544727260"/>
                  </a:ext>
                </a:extLst>
              </a:tr>
              <a:tr h="0">
                <a:tc>
                  <a:txBody>
                    <a:bodyPr/>
                    <a:lstStyle/>
                    <a:p>
                      <a:pPr>
                        <a:buNone/>
                      </a:pPr>
                      <a:r>
                        <a:rPr lang="en-IN"/>
                        <a:t>Deployment</a:t>
                      </a:r>
                    </a:p>
                  </a:txBody>
                  <a:tcPr anchor="ctr"/>
                </a:tc>
                <a:tc>
                  <a:txBody>
                    <a:bodyPr/>
                    <a:lstStyle/>
                    <a:p>
                      <a:pPr>
                        <a:buNone/>
                      </a:pPr>
                      <a:r>
                        <a:rPr lang="en-IN" dirty="0"/>
                        <a:t>Docker, Docker Compose, Nginx</a:t>
                      </a:r>
                    </a:p>
                  </a:txBody>
                  <a:tcPr anchor="ctr"/>
                </a:tc>
                <a:extLst>
                  <a:ext uri="{0D108BD9-81ED-4DB2-BD59-A6C34878D82A}">
                    <a16:rowId xmlns:a16="http://schemas.microsoft.com/office/drawing/2014/main" val="1832006579"/>
                  </a:ext>
                </a:extLst>
              </a:tr>
            </a:tbl>
          </a:graphicData>
        </a:graphic>
      </p:graphicFrame>
    </p:spTree>
    <p:extLst>
      <p:ext uri="{BB962C8B-B14F-4D97-AF65-F5344CB8AC3E}">
        <p14:creationId xmlns:p14="http://schemas.microsoft.com/office/powerpoint/2010/main" val="19673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body" idx="1"/>
          </p:nvPr>
        </p:nvSpPr>
        <p:spPr>
          <a:xfrm>
            <a:off x="255996" y="1271219"/>
            <a:ext cx="10624338" cy="4142989"/>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Module 1 – Ingestion:</a:t>
            </a:r>
            <a:r>
              <a:rPr lang="en-US" b="0">
                <a:solidFill>
                  <a:srgbClr val="0070C0"/>
                </a:solidFill>
                <a:latin typeface="Calibri"/>
                <a:ea typeface="Calibri"/>
                <a:cs typeface="Calibri"/>
                <a:sym typeface="Calibri"/>
              </a:rPr>
              <a:t> Parse records and retain sources.</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Module 2 – Retrieval:</a:t>
            </a:r>
            <a:r>
              <a:rPr lang="en-US" b="0">
                <a:solidFill>
                  <a:srgbClr val="0070C0"/>
                </a:solidFill>
                <a:latin typeface="Calibri"/>
                <a:ea typeface="Calibri"/>
                <a:cs typeface="Calibri"/>
                <a:sym typeface="Calibri"/>
              </a:rPr>
              <a:t> Extract needs and retrieve evidence.</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Module 3 – RESA:</a:t>
            </a:r>
            <a:r>
              <a:rPr lang="en-US" b="0">
                <a:solidFill>
                  <a:srgbClr val="0070C0"/>
                </a:solidFill>
                <a:latin typeface="Calibri"/>
                <a:ea typeface="Calibri"/>
                <a:cs typeface="Calibri"/>
                <a:sym typeface="Calibri"/>
              </a:rPr>
              <a:t> Check whether evidence supports, violates or cannot establish each requirement.</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Module 4 – Ranking:</a:t>
            </a:r>
            <a:r>
              <a:rPr lang="en-US" b="0">
                <a:solidFill>
                  <a:srgbClr val="0070C0"/>
                </a:solidFill>
                <a:latin typeface="Calibri"/>
                <a:ea typeface="Calibri"/>
                <a:cs typeface="Calibri"/>
                <a:sym typeface="Calibri"/>
              </a:rPr>
              <a:t> Score performance, risk and evidence.</a:t>
            </a:r>
          </a:p>
          <a:p>
            <a:pPr marL="457200" lvl="0" indent="-406400" algn="l" rtl="0">
              <a:lnSpc>
                <a:spcPct val="150000"/>
              </a:lnSpc>
              <a:spcBef>
                <a:spcPts val="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Module 5 – Verification:</a:t>
            </a:r>
            <a:r>
              <a:rPr lang="en-US" b="0">
                <a:solidFill>
                  <a:srgbClr val="0070C0"/>
                </a:solidFill>
                <a:latin typeface="Calibri"/>
                <a:ea typeface="Calibri"/>
                <a:cs typeface="Calibri"/>
                <a:sym typeface="Calibri"/>
              </a:rPr>
              <a:t> Check claims and evaluate results.</a:t>
            </a:r>
          </a:p>
        </p:txBody>
      </p:sp>
      <p:sp>
        <p:nvSpPr>
          <p:cNvPr id="124" name="Google Shape;124;p22"/>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Modules to cover</a:t>
            </a:r>
            <a:endParaRPr sz="1400" b="0" i="0" u="none" strike="noStrike" cap="none">
              <a:solidFill>
                <a:srgbClr val="000000"/>
              </a:solidFill>
              <a:latin typeface="Arial"/>
              <a:ea typeface="Arial"/>
              <a:cs typeface="Arial"/>
              <a:sym typeface="Arial"/>
            </a:endParaRPr>
          </a:p>
        </p:txBody>
      </p:sp>
      <p:cxnSp>
        <p:nvCxnSpPr>
          <p:cNvPr id="125" name="Google Shape;125;p22"/>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26" name="Google Shape;126;p22"/>
          <p:cNvSpPr txBox="1"/>
          <p:nvPr/>
        </p:nvSpPr>
        <p:spPr>
          <a:xfrm>
            <a:off x="4263500" y="57025"/>
            <a:ext cx="7928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body" idx="1"/>
          </p:nvPr>
        </p:nvSpPr>
        <p:spPr>
          <a:xfrm>
            <a:off x="256000" y="1271275"/>
            <a:ext cx="11430000" cy="41466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100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Traceable recommendations</a:t>
            </a:r>
            <a:r>
              <a:rPr lang="en-US" b="0">
                <a:solidFill>
                  <a:srgbClr val="0070C0"/>
                </a:solidFill>
                <a:latin typeface="Calibri"/>
                <a:ea typeface="Calibri"/>
                <a:cs typeface="Calibri"/>
                <a:sym typeface="Calibri"/>
              </a:rPr>
              <a:t> linked to supplier-specific evidence.</a:t>
            </a:r>
          </a:p>
          <a:p>
            <a:pPr marL="457200" lvl="0" indent="-406400" algn="l" rtl="0">
              <a:lnSpc>
                <a:spcPct val="150000"/>
              </a:lnSpc>
              <a:spcBef>
                <a:spcPts val="100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Explicit evidence status:</a:t>
            </a:r>
            <a:r>
              <a:rPr lang="en-US" b="0">
                <a:solidFill>
                  <a:srgbClr val="0070C0"/>
                </a:solidFill>
                <a:latin typeface="Calibri"/>
                <a:ea typeface="Calibri"/>
                <a:cs typeface="Calibri"/>
                <a:sym typeface="Calibri"/>
              </a:rPr>
              <a:t> satisfied, violated or insufficient.</a:t>
            </a:r>
          </a:p>
          <a:p>
            <a:pPr marL="457200" lvl="0" indent="-406400" algn="l" rtl="0">
              <a:lnSpc>
                <a:spcPct val="150000"/>
              </a:lnSpc>
              <a:spcBef>
                <a:spcPts val="100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Fewer unsupported claims</a:t>
            </a:r>
            <a:r>
              <a:rPr lang="en-US" b="0">
                <a:solidFill>
                  <a:srgbClr val="0070C0"/>
                </a:solidFill>
                <a:latin typeface="Calibri"/>
                <a:ea typeface="Calibri"/>
                <a:cs typeface="Calibri"/>
                <a:sym typeface="Calibri"/>
              </a:rPr>
              <a:t> is the main hypothesis to test.</a:t>
            </a:r>
          </a:p>
          <a:p>
            <a:pPr marL="457200" lvl="0" indent="-406400" algn="l" rtl="0">
              <a:lnSpc>
                <a:spcPct val="150000"/>
              </a:lnSpc>
              <a:spcBef>
                <a:spcPts val="100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Baseline comparisons</a:t>
            </a:r>
            <a:r>
              <a:rPr lang="en-US" b="0">
                <a:solidFill>
                  <a:srgbClr val="0070C0"/>
                </a:solidFill>
                <a:latin typeface="Calibri"/>
                <a:ea typeface="Calibri"/>
                <a:cs typeface="Calibri"/>
                <a:sym typeface="Calibri"/>
              </a:rPr>
              <a:t> measure retrieval, ranking and faithfulness.</a:t>
            </a:r>
          </a:p>
          <a:p>
            <a:pPr marL="457200" lvl="0" indent="-406400" algn="l" rtl="0">
              <a:lnSpc>
                <a:spcPct val="150000"/>
              </a:lnSpc>
              <a:spcBef>
                <a:spcPts val="1000"/>
              </a:spcBef>
              <a:spcAft>
                <a:spcPts val="0"/>
              </a:spcAft>
              <a:buClr>
                <a:srgbClr val="0070C0"/>
              </a:buClr>
              <a:buSzPts val="2800"/>
              <a:buFont typeface="Calibri"/>
              <a:buChar char="●"/>
            </a:pPr>
            <a:r>
              <a:rPr lang="en-US" b="1">
                <a:solidFill>
                  <a:srgbClr val="0070C0"/>
                </a:solidFill>
                <a:latin typeface="Calibri"/>
                <a:ea typeface="Calibri"/>
                <a:cs typeface="Calibri"/>
                <a:sym typeface="Calibri"/>
              </a:rPr>
              <a:t>A reproducible RESA framework</a:t>
            </a:r>
            <a:r>
              <a:rPr lang="en-US" b="0">
                <a:solidFill>
                  <a:srgbClr val="0070C0"/>
                </a:solidFill>
                <a:latin typeface="Calibri"/>
                <a:ea typeface="Calibri"/>
                <a:cs typeface="Calibri"/>
                <a:sym typeface="Calibri"/>
              </a:rPr>
              <a:t> for automotive procurement research.</a:t>
            </a:r>
          </a:p>
        </p:txBody>
      </p:sp>
      <p:sp>
        <p:nvSpPr>
          <p:cNvPr id="132" name="Google Shape;132;p23"/>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1E4E79"/>
                </a:solidFill>
                <a:latin typeface="Calibri"/>
                <a:ea typeface="Calibri"/>
                <a:cs typeface="Calibri"/>
                <a:sym typeface="Calibri"/>
              </a:rPr>
              <a:t>Expected Outcomes</a:t>
            </a:r>
            <a:endParaRPr sz="3600" b="1" i="0" u="none" strike="noStrike" cap="none">
              <a:solidFill>
                <a:srgbClr val="1E4E79"/>
              </a:solidFill>
              <a:latin typeface="Calibri"/>
              <a:ea typeface="Calibri"/>
              <a:cs typeface="Calibri"/>
              <a:sym typeface="Calibri"/>
            </a:endParaRPr>
          </a:p>
        </p:txBody>
      </p:sp>
      <p:cxnSp>
        <p:nvCxnSpPr>
          <p:cNvPr id="133" name="Google Shape;133;p23"/>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34" name="Google Shape;134;p23"/>
          <p:cNvSpPr txBox="1"/>
          <p:nvPr/>
        </p:nvSpPr>
        <p:spPr>
          <a:xfrm>
            <a:off x="2685554" y="57025"/>
            <a:ext cx="9506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Evidence-Grounded Supplier Intelligence for Automotive Procurement</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2855</Words>
  <Application>Microsoft Office PowerPoint</Application>
  <PresentationFormat>Widescreen</PresentationFormat>
  <Paragraphs>173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Khavin C</dc:creator>
  <cp:lastModifiedBy>Khavin C</cp:lastModifiedBy>
  <cp:revision>5</cp:revision>
  <dcterms:modified xsi:type="dcterms:W3CDTF">2026-09-17T06:24:29Z</dcterms:modified>
</cp:coreProperties>
</file>