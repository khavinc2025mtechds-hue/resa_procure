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147470501" r:id="rId2"/>
    <p:sldId id="2147470492" r:id="rId3"/>
    <p:sldId id="2147470493" r:id="rId4"/>
    <p:sldId id="2147470487" r:id="rId5"/>
    <p:sldId id="2147470494" r:id="rId6"/>
    <p:sldId id="2147470497" r:id="rId7"/>
    <p:sldId id="2147470498" r:id="rId8"/>
    <p:sldId id="2147470500" r:id="rId9"/>
    <p:sldId id="214747049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–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C88B8-681F-1A45-B834-8F4AAEEE56D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BBD25-B486-D24C-9A95-A2719D916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9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Review 2. Review date omitted because the reference date belongs to another student. Reference: T9964_Premkumar_MemPoisonGuard_Review 2.pptx, slide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RESA is a proposed methodology. Numeric checks and supplier-linked structured evidence are implemented in the demonstration. General document alignment remains planned.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Proposed full system. The current frontend uses form input, exact record lookup and deterministic explanations. Llama 3.1 extraction, hybrid retrieval and claim verification are planned.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Public sources: https://www.kaggle.com/datasets/shahriarkabir/procurement-kpi-analysis-dataset ; https://graph-hub.siwei.io/en/stable/datasets/supply_chain/ ; https://huggingface.co/datasets/ManmohanBuildsProducts/auto-parts-search-benchmark . Counts reflect the downloaded first-review snapshot. The KPI source is generic procurement, the graph is sample data, and the benchmark supplies retrieval queries, not supplier-ranking labels. Demo records are synthetic.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Optional future NLI experiment: cross-encoder/nli-deberta-v3-base for claim support, subject to domain validation. The main planned stack remains unchanged. Model sources: https://ollama.com/library/llama3.1:8b ; https://ollama.com/library/nomic-embed-text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Status reflects the dashboard created in this conversation, not an independently verified later implementation. Four scenario tests are functional tests and do not establish research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Target pipeline. Documents require parsing and metadata before indexing; nomic-embed-text generates embeddings, Qdrant stores retrieval indexes, and BM25 supplies keyword matches. RESA applies exact supplier and component filters. Excluded and review cases remain visible in the dashboard. A supplier with a known hard violation is excluded even if another requirement lacks evidence. Claims that cannot pass verification require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cxnSp>
        <p:nvCxnSpPr>
          <p:cNvPr id="3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88B9BE-EE05-FF03-5680-B8B3F5D90A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94" y="5871177"/>
            <a:ext cx="2931892" cy="861074"/>
          </a:xfrm>
          <a:prstGeom prst="rect">
            <a:avLst/>
          </a:prstGeom>
        </p:spPr>
      </p:pic>
      <p:sp>
        <p:nvSpPr>
          <p:cNvPr id="6" name="Rectangle 11">
            <a:extLst>
              <a:ext uri="{FF2B5EF4-FFF2-40B4-BE49-F238E27FC236}">
                <a16:creationId xmlns:a16="http://schemas.microsoft.com/office/drawing/2014/main" id="{183AD2F2-FDD2-414C-93E0-834CA41335D3}"/>
              </a:ext>
            </a:extLst>
          </p:cNvPr>
          <p:cNvSpPr>
            <a:spLocks noGrp="1"/>
          </p:cNvSpPr>
          <p:nvPr/>
        </p:nvSpPr>
        <p:spPr>
          <a:xfrm>
            <a:off x="2286000" y="18288"/>
            <a:ext cx="6912864" cy="621792"/>
          </a:xfrm>
          <a:prstGeom prst="rect">
            <a:avLst/>
          </a:prstGeom>
          <a:noFill/>
          <a:ln w="0">
            <a:noFill/>
          </a:ln>
        </p:spPr>
        <p:txBody>
          <a:bodyPr lIns="0" rIns="0">
            <a:noAutofit/>
          </a:bodyPr>
          <a:lstStyle/>
          <a:p>
            <a:pPr algn="ctr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M.Tech Program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B294E2C-5BA7-4D8A-83BA-CC33C4B8664C}"/>
              </a:ext>
            </a:extLst>
          </p:cNvPr>
          <p:cNvSpPr>
            <a:spLocks noGrp="1"/>
          </p:cNvSpPr>
          <p:nvPr/>
        </p:nvSpPr>
        <p:spPr>
          <a:xfrm>
            <a:off x="2286000" y="640080"/>
            <a:ext cx="6912864" cy="438912"/>
          </a:xfrm>
          <a:prstGeom prst="rect">
            <a:avLst/>
          </a:prstGeom>
          <a:noFill/>
          <a:ln w="0">
            <a:noFill/>
          </a:ln>
        </p:spPr>
        <p:txBody>
          <a:bodyPr lIns="0" rIns="0">
            <a:no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Advanced Industry Integrated Programs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37449F1-3E67-4B54-80E9-F234968A55D8}"/>
              </a:ext>
            </a:extLst>
          </p:cNvPr>
          <p:cNvSpPr>
            <a:spLocks noGrp="1"/>
          </p:cNvSpPr>
          <p:nvPr/>
        </p:nvSpPr>
        <p:spPr>
          <a:xfrm>
            <a:off x="3108960" y="1188720"/>
            <a:ext cx="5943600" cy="310896"/>
          </a:xfrm>
          <a:prstGeom prst="rect">
            <a:avLst/>
          </a:prstGeom>
          <a:noFill/>
          <a:ln w="0">
            <a:noFill/>
          </a:ln>
        </p:spPr>
        <p:txBody>
          <a:bodyPr lIns="0" rIns="0">
            <a:noAutofit/>
          </a:bodyPr>
          <a:lstStyle/>
          <a:p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Arial"/>
                <a:cs typeface="Arial"/>
              </a:rPr>
              <a:t>Jointly offered by University and LTIMindTree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5B2DBB0-6C2A-41B5-809B-DFDC37BD8639}"/>
              </a:ext>
            </a:extLst>
          </p:cNvPr>
          <p:cNvSpPr>
            <a:spLocks noGrp="1"/>
          </p:cNvSpPr>
          <p:nvPr/>
        </p:nvSpPr>
        <p:spPr>
          <a:xfrm>
            <a:off x="182880" y="1737360"/>
            <a:ext cx="11430000" cy="594360"/>
          </a:xfrm>
          <a:prstGeom prst="rect">
            <a:avLst/>
          </a:prstGeom>
          <a:noFill/>
          <a:ln w="0">
            <a:noFill/>
          </a:ln>
        </p:spPr>
        <p:txBody>
          <a:bodyPr lIns="0" rIns="0">
            <a:no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Review 2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79FEE2E8-72DD-42A9-8A6B-7F067C610BB3}"/>
              </a:ext>
            </a:extLst>
          </p:cNvPr>
          <p:cNvSpPr>
            <a:spLocks noGrp="1"/>
          </p:cNvSpPr>
          <p:nvPr/>
        </p:nvSpPr>
        <p:spPr>
          <a:xfrm>
            <a:off x="274320" y="2651760"/>
            <a:ext cx="1152144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>
            <a:noAutofit/>
          </a:bodyPr>
          <a:lstStyle/>
          <a:p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Evidence-Grounded Supplier Intelligence</a:t>
            </a:r>
          </a:p>
          <a:p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for Automotive Procurement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3AA5EDA-C7D3-432B-A69A-D9CED0F07D15}"/>
              </a:ext>
            </a:extLst>
          </p:cNvPr>
          <p:cNvSpPr>
            <a:spLocks noGrp="1"/>
          </p:cNvSpPr>
          <p:nvPr/>
        </p:nvSpPr>
        <p:spPr>
          <a:xfrm>
            <a:off x="457200" y="4553712"/>
            <a:ext cx="11247120" cy="384048"/>
          </a:xfrm>
          <a:prstGeom prst="rect">
            <a:avLst/>
          </a:prstGeom>
          <a:noFill/>
          <a:ln w="0">
            <a:noFill/>
          </a:ln>
        </p:spPr>
        <p:txBody>
          <a:bodyPr lIns="0" rIns="0">
            <a:no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Khavin C   |   251011010   |   T9972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179D2B72-09F3-49DE-8767-4A1ACF32CEC8}"/>
              </a:ext>
            </a:extLst>
          </p:cNvPr>
          <p:cNvSpPr>
            <a:spLocks noGrp="1"/>
          </p:cNvSpPr>
          <p:nvPr/>
        </p:nvSpPr>
        <p:spPr>
          <a:xfrm>
            <a:off x="457200" y="5010912"/>
            <a:ext cx="1124712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>
            <a:noAutofit/>
          </a:bodyPr>
          <a:lstStyle/>
          <a:p>
            <a:pPr algn="ctr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Rajalakshmi Engineering College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F18831FA-8489-4EBC-90A4-51BEA9876D79}"/>
              </a:ext>
            </a:extLst>
          </p:cNvPr>
          <p:cNvSpPr>
            <a:spLocks noGrp="1"/>
          </p:cNvSpPr>
          <p:nvPr/>
        </p:nvSpPr>
        <p:spPr>
          <a:xfrm>
            <a:off x="18288" y="5559552"/>
            <a:ext cx="3840480" cy="274320"/>
          </a:xfrm>
          <a:prstGeom prst="rect">
            <a:avLst/>
          </a:prstGeom>
          <a:noFill/>
          <a:ln w="0">
            <a:noFill/>
          </a:ln>
        </p:spPr>
        <p:txBody>
          <a:bodyPr lIns="0" rIns="0">
            <a:noAutofit/>
          </a:bodyPr>
          <a:lstStyle/>
          <a:p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Arial"/>
                <a:cs typeface="Arial"/>
              </a:rPr>
              <a:t>Knowledge partner</a:t>
            </a: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97860BF8-327E-4F29-8BE7-CE1BC1E4B559}"/>
              </a:ext>
            </a:extLst>
          </p:cNvPr>
          <p:cNvSpPr>
            <a:spLocks noGrp="1"/>
          </p:cNvSpPr>
          <p:nvPr/>
        </p:nvSpPr>
        <p:spPr>
          <a:xfrm>
            <a:off x="8458200" y="5559552"/>
            <a:ext cx="3657600" cy="274320"/>
          </a:xfrm>
          <a:prstGeom prst="rect">
            <a:avLst/>
          </a:prstGeom>
          <a:noFill/>
          <a:ln w="0">
            <a:noFill/>
          </a:ln>
        </p:spPr>
        <p:txBody>
          <a:bodyPr lIns="0" rIns="0">
            <a:noAutofit/>
          </a:bodyPr>
          <a:lstStyle/>
          <a:p>
            <a:pPr algn="r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Arial"/>
                <a:cs typeface="Arial"/>
              </a:rPr>
              <a:t>Implementation partner</a:t>
            </a:r>
          </a:p>
        </p:txBody>
      </p:sp>
    </p:spTree>
    <p:extLst>
      <p:ext uri="{BB962C8B-B14F-4D97-AF65-F5344CB8AC3E}">
        <p14:creationId xmlns:p14="http://schemas.microsoft.com/office/powerpoint/2010/main" val="1124800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7BB15836-58B5-18F2-0B19-3A28614B6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F3706DA-B1D4-4FB4-ADC3-CFFA45769957}"/>
              </a:ext>
            </a:extLst>
          </p:cNvPr>
          <p:cNvSpPr>
            <a:spLocks noGrp="1"/>
          </p:cNvSpPr>
          <p:nvPr/>
        </p:nvSpPr>
        <p:spPr>
          <a:xfrm>
            <a:off x="6089904" y="54864"/>
            <a:ext cx="6099048" cy="3657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75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RESA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393CF55-E667-4F0D-A8ED-7DC5BD259C09}"/>
              </a:ext>
            </a:extLst>
          </p:cNvPr>
          <p:cNvSpPr>
            <a:spLocks noGrp="1"/>
          </p:cNvSpPr>
          <p:nvPr/>
        </p:nvSpPr>
        <p:spPr>
          <a:xfrm>
            <a:off x="256032" y="502920"/>
            <a:ext cx="11612880" cy="64922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Introduction</a:t>
            </a:r>
          </a:p>
        </p:txBody>
      </p:sp>
      <p:sp>
        <p:nvSpPr>
          <p:cNvPr id="5" name="Straight Connector 3">
            <a:extLst>
              <a:ext uri="{FF2B5EF4-FFF2-40B4-BE49-F238E27FC236}">
                <a16:creationId xmlns:a16="http://schemas.microsoft.com/office/drawing/2014/main" id="{E0792A08-5754-4ADE-91CF-537C4644F282}"/>
              </a:ext>
            </a:extLst>
          </p:cNvPr>
          <p:cNvSpPr>
            <a:spLocks noGrp="1"/>
          </p:cNvSpPr>
          <p:nvPr/>
        </p:nvSpPr>
        <p:spPr>
          <a:xfrm>
            <a:off x="219456" y="1188720"/>
            <a:ext cx="7306056" cy="0"/>
          </a:xfrm>
          <a:prstGeom prst="line">
            <a:avLst/>
          </a:prstGeom>
          <a:ln w="19050">
            <a:solidFill>
              <a:srgbClr val="70AD4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03EE52-1355-40F4-B11C-D7F41329A4D0}"/>
              </a:ext>
            </a:extLst>
          </p:cNvPr>
          <p:cNvSpPr>
            <a:spLocks noGrp="1"/>
          </p:cNvSpPr>
          <p:nvPr/>
        </p:nvSpPr>
        <p:spPr>
          <a:xfrm>
            <a:off x="6048375" y="6410325"/>
            <a:ext cx="2381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017BF5-0B24-402C-AD5D-C43DF474B874}"/>
              </a:ext>
            </a:extLst>
          </p:cNvPr>
          <p:cNvSpPr>
            <a:spLocks noGrp="1"/>
          </p:cNvSpPr>
          <p:nvPr/>
        </p:nvSpPr>
        <p:spPr>
          <a:xfrm>
            <a:off x="523875" y="16859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Automotive buyers compare component cost, quality and delivery.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CC948B-327C-425D-AA62-C78BC559A505}"/>
              </a:ext>
            </a:extLst>
          </p:cNvPr>
          <p:cNvSpPr>
            <a:spLocks noGrp="1"/>
          </p:cNvSpPr>
          <p:nvPr/>
        </p:nvSpPr>
        <p:spPr>
          <a:xfrm>
            <a:off x="523875" y="24860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Supplier evidence sits across quotations and performance records.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1E67B5-6770-4B7E-A084-6E2E181A8AB4}"/>
              </a:ext>
            </a:extLst>
          </p:cNvPr>
          <p:cNvSpPr>
            <a:spLocks noGrp="1"/>
          </p:cNvSpPr>
          <p:nvPr/>
        </p:nvSpPr>
        <p:spPr>
          <a:xfrm>
            <a:off x="523875" y="32861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Missing or outdated records can weaken a recommendation.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990C3C-53C8-48F2-8670-F4FE8F6CD91D}"/>
              </a:ext>
            </a:extLst>
          </p:cNvPr>
          <p:cNvSpPr>
            <a:spLocks noGrp="1"/>
          </p:cNvSpPr>
          <p:nvPr/>
        </p:nvSpPr>
        <p:spPr>
          <a:xfrm>
            <a:off x="523875" y="40862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RESA checks each requirement against supplier-specific evidence.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308FD6-EB65-4097-A58E-0D8C5CFB7A94}"/>
              </a:ext>
            </a:extLst>
          </p:cNvPr>
          <p:cNvSpPr>
            <a:spLocks noGrp="1"/>
          </p:cNvSpPr>
          <p:nvPr/>
        </p:nvSpPr>
        <p:spPr>
          <a:xfrm>
            <a:off x="523875" y="48863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The buyer sees the ranking, its reasons and any evidence gaps.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7E74C3B4-AB32-D061-5E17-7053C09AF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B04F0288-0CCF-4491-BC8C-A338BAFD77FF}"/>
              </a:ext>
            </a:extLst>
          </p:cNvPr>
          <p:cNvSpPr>
            <a:spLocks noGrp="1"/>
          </p:cNvSpPr>
          <p:nvPr/>
        </p:nvSpPr>
        <p:spPr>
          <a:xfrm>
            <a:off x="6089904" y="54864"/>
            <a:ext cx="6099048" cy="3657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75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RESA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29F0C08-D505-4636-A0A7-AE52A90DB540}"/>
              </a:ext>
            </a:extLst>
          </p:cNvPr>
          <p:cNvSpPr>
            <a:spLocks noGrp="1"/>
          </p:cNvSpPr>
          <p:nvPr/>
        </p:nvSpPr>
        <p:spPr>
          <a:xfrm>
            <a:off x="256032" y="502920"/>
            <a:ext cx="11612880" cy="64922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Objective</a:t>
            </a:r>
          </a:p>
        </p:txBody>
      </p:sp>
      <p:sp>
        <p:nvSpPr>
          <p:cNvPr id="5" name="Straight Connector 3">
            <a:extLst>
              <a:ext uri="{FF2B5EF4-FFF2-40B4-BE49-F238E27FC236}">
                <a16:creationId xmlns:a16="http://schemas.microsoft.com/office/drawing/2014/main" id="{3CD9FD04-7ACA-465F-954A-8BC6345CB1BB}"/>
              </a:ext>
            </a:extLst>
          </p:cNvPr>
          <p:cNvSpPr>
            <a:spLocks noGrp="1"/>
          </p:cNvSpPr>
          <p:nvPr/>
        </p:nvSpPr>
        <p:spPr>
          <a:xfrm>
            <a:off x="219456" y="1188720"/>
            <a:ext cx="7306056" cy="0"/>
          </a:xfrm>
          <a:prstGeom prst="line">
            <a:avLst/>
          </a:prstGeom>
          <a:ln w="19050">
            <a:solidFill>
              <a:srgbClr val="70AD4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9E2249-8AF0-4C7C-A5EF-7BA156C44A8B}"/>
              </a:ext>
            </a:extLst>
          </p:cNvPr>
          <p:cNvSpPr>
            <a:spLocks noGrp="1"/>
          </p:cNvSpPr>
          <p:nvPr/>
        </p:nvSpPr>
        <p:spPr>
          <a:xfrm>
            <a:off x="6048375" y="6410325"/>
            <a:ext cx="2381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741465-9D94-4162-9DD5-684C9C597D94}"/>
              </a:ext>
            </a:extLst>
          </p:cNvPr>
          <p:cNvSpPr>
            <a:spLocks noGrp="1"/>
          </p:cNvSpPr>
          <p:nvPr/>
        </p:nvSpPr>
        <p:spPr>
          <a:xfrm>
            <a:off x="523875" y="164782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Extract mandatory requirements and buyer preferences.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B9953E-0393-47B7-9EF0-D21D20C57837}"/>
              </a:ext>
            </a:extLst>
          </p:cNvPr>
          <p:cNvSpPr>
            <a:spLocks noGrp="1"/>
          </p:cNvSpPr>
          <p:nvPr/>
        </p:nvSpPr>
        <p:spPr>
          <a:xfrm>
            <a:off x="523875" y="233362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Retrieve relevant supplier records and document evidence.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DBEEE2-AA57-4145-9184-41004A1926E7}"/>
              </a:ext>
            </a:extLst>
          </p:cNvPr>
          <p:cNvSpPr>
            <a:spLocks noGrp="1"/>
          </p:cNvSpPr>
          <p:nvPr/>
        </p:nvSpPr>
        <p:spPr>
          <a:xfrm>
            <a:off x="523875" y="301942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Label each requirement as satisfied, violated or insufficient.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F11E15-6A4D-4F90-BCCF-88A30113770A}"/>
              </a:ext>
            </a:extLst>
          </p:cNvPr>
          <p:cNvSpPr>
            <a:spLocks noGrp="1"/>
          </p:cNvSpPr>
          <p:nvPr/>
        </p:nvSpPr>
        <p:spPr>
          <a:xfrm>
            <a:off x="523875" y="370522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Rank eligible suppliers using performance and recent risk.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4A1942-401C-4C2E-834B-ED63B28BA0F0}"/>
              </a:ext>
            </a:extLst>
          </p:cNvPr>
          <p:cNvSpPr>
            <a:spLocks noGrp="1"/>
          </p:cNvSpPr>
          <p:nvPr/>
        </p:nvSpPr>
        <p:spPr>
          <a:xfrm>
            <a:off x="523875" y="439102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Link recommendation claims to their supporting sources.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8E66EA-6FAB-4856-B4DD-EC614CD14477}"/>
              </a:ext>
            </a:extLst>
          </p:cNvPr>
          <p:cNvSpPr>
            <a:spLocks noGrp="1"/>
          </p:cNvSpPr>
          <p:nvPr/>
        </p:nvSpPr>
        <p:spPr>
          <a:xfrm>
            <a:off x="523875" y="5076825"/>
            <a:ext cx="110490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Compare RESA with retrieval and structured-ranking baselines.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9BCC2CA8-71A8-876F-901A-F96F2C4EF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cxnSp>
        <p:nvCxnSpPr>
          <p:cNvPr id="3" name="Straight Arrow Connector 27"/>
          <p:cNvCxnSpPr/>
          <p:nvPr/>
        </p:nvCxnSpPr>
        <p:spPr>
          <a:xfrm>
            <a:off x="10144125" y="4743450"/>
            <a:ext cx="0" cy="276225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4" name="Straight Arrow Connector 28"/>
          <p:cNvCxnSpPr/>
          <p:nvPr/>
        </p:nvCxnSpPr>
        <p:spPr>
          <a:xfrm>
            <a:off x="10144125" y="3876675"/>
            <a:ext cx="0" cy="276225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5" name="Straight Arrow Connector 29"/>
          <p:cNvCxnSpPr/>
          <p:nvPr/>
        </p:nvCxnSpPr>
        <p:spPr>
          <a:xfrm>
            <a:off x="10144125" y="3009900"/>
            <a:ext cx="0" cy="276225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6" name="Straight Arrow Connector 30"/>
          <p:cNvCxnSpPr/>
          <p:nvPr/>
        </p:nvCxnSpPr>
        <p:spPr>
          <a:xfrm>
            <a:off x="10144125" y="2143125"/>
            <a:ext cx="0" cy="276225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0893518E-1A6A-41A8-A17F-41EBE492D729}"/>
              </a:ext>
            </a:extLst>
          </p:cNvPr>
          <p:cNvSpPr>
            <a:spLocks noGrp="1"/>
          </p:cNvSpPr>
          <p:nvPr/>
        </p:nvSpPr>
        <p:spPr>
          <a:xfrm>
            <a:off x="6089904" y="54864"/>
            <a:ext cx="6099048" cy="3657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75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RESA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0013B47-319F-431A-8B5F-3E71D1B19C3A}"/>
              </a:ext>
            </a:extLst>
          </p:cNvPr>
          <p:cNvSpPr>
            <a:spLocks noGrp="1"/>
          </p:cNvSpPr>
          <p:nvPr/>
        </p:nvSpPr>
        <p:spPr>
          <a:xfrm>
            <a:off x="256032" y="502920"/>
            <a:ext cx="11612880" cy="64922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Core Module</a:t>
            </a:r>
          </a:p>
        </p:txBody>
      </p:sp>
      <p:sp>
        <p:nvSpPr>
          <p:cNvPr id="9" name="Straight Connector 3">
            <a:extLst>
              <a:ext uri="{FF2B5EF4-FFF2-40B4-BE49-F238E27FC236}">
                <a16:creationId xmlns:a16="http://schemas.microsoft.com/office/drawing/2014/main" id="{2A806C0F-0BFC-4E56-B9B0-5DAD5BC78A83}"/>
              </a:ext>
            </a:extLst>
          </p:cNvPr>
          <p:cNvSpPr>
            <a:spLocks noGrp="1"/>
          </p:cNvSpPr>
          <p:nvPr/>
        </p:nvSpPr>
        <p:spPr>
          <a:xfrm>
            <a:off x="219456" y="1188720"/>
            <a:ext cx="7306056" cy="0"/>
          </a:xfrm>
          <a:prstGeom prst="line">
            <a:avLst/>
          </a:prstGeom>
          <a:ln w="19050">
            <a:solidFill>
              <a:srgbClr val="70AD4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767AACC2-D0EF-4ACF-B68F-E97944556870}"/>
              </a:ext>
            </a:extLst>
          </p:cNvPr>
          <p:cNvSpPr>
            <a:spLocks noGrp="1"/>
          </p:cNvSpPr>
          <p:nvPr/>
        </p:nvSpPr>
        <p:spPr>
          <a:xfrm>
            <a:off x="6048375" y="6410325"/>
            <a:ext cx="2381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4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60A097FE-F819-472B-9037-AA284C64F999}"/>
              </a:ext>
            </a:extLst>
          </p:cNvPr>
          <p:cNvSpPr>
            <a:spLocks noGrp="1"/>
          </p:cNvSpPr>
          <p:nvPr/>
        </p:nvSpPr>
        <p:spPr>
          <a:xfrm>
            <a:off x="523875" y="1571625"/>
            <a:ext cx="7429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Requirement–Evidence–Supplier Alignment</a:t>
            </a: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E23903B0-09DF-4DE8-B531-869D7721D120}"/>
              </a:ext>
            </a:extLst>
          </p:cNvPr>
          <p:cNvSpPr>
            <a:spLocks noGrp="1"/>
          </p:cNvSpPr>
          <p:nvPr/>
        </p:nvSpPr>
        <p:spPr>
          <a:xfrm>
            <a:off x="523875" y="2190750"/>
            <a:ext cx="728662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Match records by supplier and component.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E26D75B0-C5EE-49FC-AEB4-097727CC5456}"/>
              </a:ext>
            </a:extLst>
          </p:cNvPr>
          <p:cNvSpPr>
            <a:spLocks noGrp="1"/>
          </p:cNvSpPr>
          <p:nvPr/>
        </p:nvSpPr>
        <p:spPr>
          <a:xfrm>
            <a:off x="523875" y="2752725"/>
            <a:ext cx="728662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Check quantity, delivery and quality limits.</a:t>
            </a: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310FC31C-6E30-4861-AD9D-87121E4FDCCB}"/>
              </a:ext>
            </a:extLst>
          </p:cNvPr>
          <p:cNvSpPr>
            <a:spLocks noGrp="1"/>
          </p:cNvSpPr>
          <p:nvPr/>
        </p:nvSpPr>
        <p:spPr>
          <a:xfrm>
            <a:off x="523875" y="3314700"/>
            <a:ext cx="728662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Check evidence dates and quotation validity.</a:t>
            </a:r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32C7D47D-39E2-4190-9A1E-3107C1C800FE}"/>
              </a:ext>
            </a:extLst>
          </p:cNvPr>
          <p:cNvSpPr>
            <a:spLocks noGrp="1"/>
          </p:cNvSpPr>
          <p:nvPr/>
        </p:nvSpPr>
        <p:spPr>
          <a:xfrm>
            <a:off x="523875" y="3876675"/>
            <a:ext cx="728662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Keep missing evidence visible to the buyer.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731C7D1D-B8FF-44D3-A349-88F4FDB59135}"/>
              </a:ext>
            </a:extLst>
          </p:cNvPr>
          <p:cNvSpPr>
            <a:spLocks noGrp="1"/>
          </p:cNvSpPr>
          <p:nvPr/>
        </p:nvSpPr>
        <p:spPr>
          <a:xfrm>
            <a:off x="523875" y="4438650"/>
            <a:ext cx="728662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Apply mandatory checks before scoring.</a:t>
            </a: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B203740D-F4E1-4A03-8925-DF2A0A4BE146}"/>
              </a:ext>
            </a:extLst>
          </p:cNvPr>
          <p:cNvSpPr>
            <a:spLocks noGrp="1"/>
          </p:cNvSpPr>
          <p:nvPr/>
        </p:nvSpPr>
        <p:spPr>
          <a:xfrm>
            <a:off x="523875" y="5000625"/>
            <a:ext cx="728662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Explain exclusions using the source record.</a:t>
            </a:r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2BE21FE6-3AF6-4168-89DF-A4A673A8205B}"/>
              </a:ext>
            </a:extLst>
          </p:cNvPr>
          <p:cNvSpPr>
            <a:spLocks noGrp="1"/>
          </p:cNvSpPr>
          <p:nvPr/>
        </p:nvSpPr>
        <p:spPr>
          <a:xfrm>
            <a:off x="8763000" y="1552575"/>
            <a:ext cx="2762250" cy="5905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9" name="Rectangle 14">
            <a:extLst>
              <a:ext uri="{FF2B5EF4-FFF2-40B4-BE49-F238E27FC236}">
                <a16:creationId xmlns:a16="http://schemas.microsoft.com/office/drawing/2014/main" id="{8480F02C-1D54-4EF3-A611-415951BF0BA1}"/>
              </a:ext>
            </a:extLst>
          </p:cNvPr>
          <p:cNvSpPr>
            <a:spLocks noGrp="1"/>
          </p:cNvSpPr>
          <p:nvPr/>
        </p:nvSpPr>
        <p:spPr>
          <a:xfrm>
            <a:off x="8877300" y="1647825"/>
            <a:ext cx="25336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Buyer requirements</a:t>
            </a: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E0D6DC1C-3218-4C2A-9A4E-32A7BB6993ED}"/>
              </a:ext>
            </a:extLst>
          </p:cNvPr>
          <p:cNvSpPr>
            <a:spLocks noGrp="1"/>
          </p:cNvSpPr>
          <p:nvPr/>
        </p:nvSpPr>
        <p:spPr>
          <a:xfrm>
            <a:off x="8763000" y="2419350"/>
            <a:ext cx="2762250" cy="5905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0B6766C5-B077-48C7-BB96-A04A6A1AE569}"/>
              </a:ext>
            </a:extLst>
          </p:cNvPr>
          <p:cNvSpPr>
            <a:spLocks noGrp="1"/>
          </p:cNvSpPr>
          <p:nvPr/>
        </p:nvSpPr>
        <p:spPr>
          <a:xfrm>
            <a:off x="8877300" y="2514600"/>
            <a:ext cx="25336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Supplier evidence</a:t>
            </a:r>
          </a:p>
        </p:txBody>
      </p:sp>
      <p:sp>
        <p:nvSpPr>
          <p:cNvPr id="22" name="Rectangle 17">
            <a:extLst>
              <a:ext uri="{FF2B5EF4-FFF2-40B4-BE49-F238E27FC236}">
                <a16:creationId xmlns:a16="http://schemas.microsoft.com/office/drawing/2014/main" id="{373D805A-1F4C-4AF9-AD9B-B847182B9F89}"/>
              </a:ext>
            </a:extLst>
          </p:cNvPr>
          <p:cNvSpPr>
            <a:spLocks noGrp="1"/>
          </p:cNvSpPr>
          <p:nvPr/>
        </p:nvSpPr>
        <p:spPr>
          <a:xfrm>
            <a:off x="8763000" y="3286125"/>
            <a:ext cx="2762250" cy="5905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3" name="Rectangle 18">
            <a:extLst>
              <a:ext uri="{FF2B5EF4-FFF2-40B4-BE49-F238E27FC236}">
                <a16:creationId xmlns:a16="http://schemas.microsoft.com/office/drawing/2014/main" id="{98E2C344-F764-49B0-9A21-BFC766E06520}"/>
              </a:ext>
            </a:extLst>
          </p:cNvPr>
          <p:cNvSpPr>
            <a:spLocks noGrp="1"/>
          </p:cNvSpPr>
          <p:nvPr/>
        </p:nvSpPr>
        <p:spPr>
          <a:xfrm>
            <a:off x="8877300" y="3381375"/>
            <a:ext cx="25336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Requirement checks</a:t>
            </a:r>
          </a:p>
        </p:txBody>
      </p:sp>
      <p:sp>
        <p:nvSpPr>
          <p:cNvPr id="24" name="Rectangle 19">
            <a:extLst>
              <a:ext uri="{FF2B5EF4-FFF2-40B4-BE49-F238E27FC236}">
                <a16:creationId xmlns:a16="http://schemas.microsoft.com/office/drawing/2014/main" id="{8B2BBC4A-0313-4D05-9285-993F9AF6ADCB}"/>
              </a:ext>
            </a:extLst>
          </p:cNvPr>
          <p:cNvSpPr>
            <a:spLocks noGrp="1"/>
          </p:cNvSpPr>
          <p:nvPr/>
        </p:nvSpPr>
        <p:spPr>
          <a:xfrm>
            <a:off x="8763000" y="4152900"/>
            <a:ext cx="2762250" cy="5905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5" name="Rectangle 20">
            <a:extLst>
              <a:ext uri="{FF2B5EF4-FFF2-40B4-BE49-F238E27FC236}">
                <a16:creationId xmlns:a16="http://schemas.microsoft.com/office/drawing/2014/main" id="{86FD2639-9B73-46FE-B504-86D6FE0E0841}"/>
              </a:ext>
            </a:extLst>
          </p:cNvPr>
          <p:cNvSpPr>
            <a:spLocks noGrp="1"/>
          </p:cNvSpPr>
          <p:nvPr/>
        </p:nvSpPr>
        <p:spPr>
          <a:xfrm>
            <a:off x="8877300" y="4248150"/>
            <a:ext cx="25336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Evidence states</a:t>
            </a:r>
          </a:p>
        </p:txBody>
      </p:sp>
      <p:sp>
        <p:nvSpPr>
          <p:cNvPr id="26" name="Rectangle 21">
            <a:extLst>
              <a:ext uri="{FF2B5EF4-FFF2-40B4-BE49-F238E27FC236}">
                <a16:creationId xmlns:a16="http://schemas.microsoft.com/office/drawing/2014/main" id="{374A6FDA-9BF9-4645-B9DB-92AF90DC041E}"/>
              </a:ext>
            </a:extLst>
          </p:cNvPr>
          <p:cNvSpPr>
            <a:spLocks noGrp="1"/>
          </p:cNvSpPr>
          <p:nvPr/>
        </p:nvSpPr>
        <p:spPr>
          <a:xfrm>
            <a:off x="8763000" y="5019675"/>
            <a:ext cx="2762250" cy="5905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7" name="Rectangle 22">
            <a:extLst>
              <a:ext uri="{FF2B5EF4-FFF2-40B4-BE49-F238E27FC236}">
                <a16:creationId xmlns:a16="http://schemas.microsoft.com/office/drawing/2014/main" id="{EA626CB9-429B-4450-BC76-090D15BFE513}"/>
              </a:ext>
            </a:extLst>
          </p:cNvPr>
          <p:cNvSpPr>
            <a:spLocks noGrp="1"/>
          </p:cNvSpPr>
          <p:nvPr/>
        </p:nvSpPr>
        <p:spPr>
          <a:xfrm>
            <a:off x="8877300" y="5114925"/>
            <a:ext cx="25336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Eligibility and ranking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1">
            <a:extLst>
              <a:ext uri="{FF2B5EF4-FFF2-40B4-BE49-F238E27FC236}">
                <a16:creationId xmlns:a16="http://schemas.microsoft.com/office/drawing/2014/main" id="{A9B6F60F-2D7F-2DB2-1541-C204BE311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cxnSp>
        <p:nvCxnSpPr>
          <p:cNvPr id="3" name="Straight Arrow Connector 34"/>
          <p:cNvCxnSpPr/>
          <p:nvPr/>
        </p:nvCxnSpPr>
        <p:spPr>
          <a:xfrm flipH="1">
            <a:off x="2809875" y="3705225"/>
            <a:ext cx="571500" cy="0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4" name="Straight Arrow Connector 35"/>
          <p:cNvCxnSpPr/>
          <p:nvPr/>
        </p:nvCxnSpPr>
        <p:spPr>
          <a:xfrm flipH="1">
            <a:off x="5762625" y="3705225"/>
            <a:ext cx="571500" cy="0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5" name="Straight Arrow Connector 36"/>
          <p:cNvCxnSpPr/>
          <p:nvPr/>
        </p:nvCxnSpPr>
        <p:spPr>
          <a:xfrm flipH="1">
            <a:off x="8715375" y="3705225"/>
            <a:ext cx="571500" cy="0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6" name="Straight Arrow Connector 37"/>
          <p:cNvCxnSpPr/>
          <p:nvPr/>
        </p:nvCxnSpPr>
        <p:spPr>
          <a:xfrm>
            <a:off x="10477500" y="2743200"/>
            <a:ext cx="0" cy="590550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7" name="Straight Arrow Connector 38"/>
          <p:cNvCxnSpPr/>
          <p:nvPr/>
        </p:nvCxnSpPr>
        <p:spPr>
          <a:xfrm>
            <a:off x="8715375" y="2371725"/>
            <a:ext cx="571500" cy="0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8" name="Straight Arrow Connector 39"/>
          <p:cNvCxnSpPr/>
          <p:nvPr/>
        </p:nvCxnSpPr>
        <p:spPr>
          <a:xfrm>
            <a:off x="5762625" y="2371725"/>
            <a:ext cx="571500" cy="0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9" name="Straight Arrow Connector 40"/>
          <p:cNvCxnSpPr/>
          <p:nvPr/>
        </p:nvCxnSpPr>
        <p:spPr>
          <a:xfrm>
            <a:off x="2809875" y="2371725"/>
            <a:ext cx="571500" cy="0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sp>
        <p:nvSpPr>
          <p:cNvPr id="10" name="Rectangle 1">
            <a:extLst>
              <a:ext uri="{FF2B5EF4-FFF2-40B4-BE49-F238E27FC236}">
                <a16:creationId xmlns:a16="http://schemas.microsoft.com/office/drawing/2014/main" id="{5ED4D61A-B939-4189-AB4F-80AEC949B40A}"/>
              </a:ext>
            </a:extLst>
          </p:cNvPr>
          <p:cNvSpPr>
            <a:spLocks noGrp="1"/>
          </p:cNvSpPr>
          <p:nvPr/>
        </p:nvSpPr>
        <p:spPr>
          <a:xfrm>
            <a:off x="6089904" y="54864"/>
            <a:ext cx="6099048" cy="3657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75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RESA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76D86135-59B0-47B1-A63E-3786121B4C51}"/>
              </a:ext>
            </a:extLst>
          </p:cNvPr>
          <p:cNvSpPr>
            <a:spLocks noGrp="1"/>
          </p:cNvSpPr>
          <p:nvPr/>
        </p:nvSpPr>
        <p:spPr>
          <a:xfrm>
            <a:off x="256032" y="502920"/>
            <a:ext cx="11612880" cy="64922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Methodology</a:t>
            </a:r>
          </a:p>
        </p:txBody>
      </p:sp>
      <p:sp>
        <p:nvSpPr>
          <p:cNvPr id="12" name="Straight Connector 3">
            <a:extLst>
              <a:ext uri="{FF2B5EF4-FFF2-40B4-BE49-F238E27FC236}">
                <a16:creationId xmlns:a16="http://schemas.microsoft.com/office/drawing/2014/main" id="{BAA962DB-7F33-4794-B383-E2637FA54F84}"/>
              </a:ext>
            </a:extLst>
          </p:cNvPr>
          <p:cNvSpPr>
            <a:spLocks noGrp="1"/>
          </p:cNvSpPr>
          <p:nvPr/>
        </p:nvSpPr>
        <p:spPr>
          <a:xfrm>
            <a:off x="219456" y="1188720"/>
            <a:ext cx="7306056" cy="0"/>
          </a:xfrm>
          <a:prstGeom prst="line">
            <a:avLst/>
          </a:prstGeom>
          <a:ln w="19050">
            <a:solidFill>
              <a:srgbClr val="70AD4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0BF01075-794A-4C94-B046-30909F4C1EA2}"/>
              </a:ext>
            </a:extLst>
          </p:cNvPr>
          <p:cNvSpPr>
            <a:spLocks noGrp="1"/>
          </p:cNvSpPr>
          <p:nvPr/>
        </p:nvSpPr>
        <p:spPr>
          <a:xfrm>
            <a:off x="6048375" y="6410325"/>
            <a:ext cx="2381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5</a:t>
            </a: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24D73E31-D565-4A76-97AD-AD7B97B7B8F9}"/>
              </a:ext>
            </a:extLst>
          </p:cNvPr>
          <p:cNvSpPr>
            <a:spLocks noGrp="1"/>
          </p:cNvSpPr>
          <p:nvPr/>
        </p:nvSpPr>
        <p:spPr>
          <a:xfrm>
            <a:off x="428625" y="1409700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Proposed research workflow</a:t>
            </a: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C52A2E59-58AE-4984-84B4-1E7AFE615753}"/>
              </a:ext>
            </a:extLst>
          </p:cNvPr>
          <p:cNvSpPr>
            <a:spLocks noGrp="1"/>
          </p:cNvSpPr>
          <p:nvPr/>
        </p:nvSpPr>
        <p:spPr>
          <a:xfrm>
            <a:off x="428625" y="2000250"/>
            <a:ext cx="2381250" cy="7429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D19D069D-74CE-4685-BF55-71E3D068439F}"/>
              </a:ext>
            </a:extLst>
          </p:cNvPr>
          <p:cNvSpPr>
            <a:spLocks noGrp="1"/>
          </p:cNvSpPr>
          <p:nvPr/>
        </p:nvSpPr>
        <p:spPr>
          <a:xfrm>
            <a:off x="542925" y="2095500"/>
            <a:ext cx="215265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Procurement request</a:t>
            </a:r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A5D42131-78FF-4963-9CCE-3A78C86E0A0A}"/>
              </a:ext>
            </a:extLst>
          </p:cNvPr>
          <p:cNvSpPr>
            <a:spLocks noGrp="1"/>
          </p:cNvSpPr>
          <p:nvPr/>
        </p:nvSpPr>
        <p:spPr>
          <a:xfrm>
            <a:off x="3381375" y="2000250"/>
            <a:ext cx="2381250" cy="7429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F66CE939-9BC2-4253-B480-F28D54971EB3}"/>
              </a:ext>
            </a:extLst>
          </p:cNvPr>
          <p:cNvSpPr>
            <a:spLocks noGrp="1"/>
          </p:cNvSpPr>
          <p:nvPr/>
        </p:nvSpPr>
        <p:spPr>
          <a:xfrm>
            <a:off x="3495675" y="2095500"/>
            <a:ext cx="215265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Extract requirements</a:t>
            </a:r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3BCE8D36-E43A-45A0-8D9D-F136B8C2F7F8}"/>
              </a:ext>
            </a:extLst>
          </p:cNvPr>
          <p:cNvSpPr>
            <a:spLocks noGrp="1"/>
          </p:cNvSpPr>
          <p:nvPr/>
        </p:nvSpPr>
        <p:spPr>
          <a:xfrm>
            <a:off x="6334125" y="2000250"/>
            <a:ext cx="2381250" cy="7429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" name="Rectangle 12">
            <a:extLst>
              <a:ext uri="{FF2B5EF4-FFF2-40B4-BE49-F238E27FC236}">
                <a16:creationId xmlns:a16="http://schemas.microsoft.com/office/drawing/2014/main" id="{8977EAD4-21D3-497C-A2F6-00179A2E8288}"/>
              </a:ext>
            </a:extLst>
          </p:cNvPr>
          <p:cNvSpPr>
            <a:spLocks noGrp="1"/>
          </p:cNvSpPr>
          <p:nvPr/>
        </p:nvSpPr>
        <p:spPr>
          <a:xfrm>
            <a:off x="6448425" y="2095500"/>
            <a:ext cx="215265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Retrieve supplier evidence</a:t>
            </a:r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F18C1EBE-C92C-4EEE-9DB2-9DE99B3DFFCF}"/>
              </a:ext>
            </a:extLst>
          </p:cNvPr>
          <p:cNvSpPr>
            <a:spLocks noGrp="1"/>
          </p:cNvSpPr>
          <p:nvPr/>
        </p:nvSpPr>
        <p:spPr>
          <a:xfrm>
            <a:off x="9286875" y="2000250"/>
            <a:ext cx="2381250" cy="7429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2" name="Rectangle 14">
            <a:extLst>
              <a:ext uri="{FF2B5EF4-FFF2-40B4-BE49-F238E27FC236}">
                <a16:creationId xmlns:a16="http://schemas.microsoft.com/office/drawing/2014/main" id="{A75655A5-57F9-4C21-BA44-8F3C3B356E86}"/>
              </a:ext>
            </a:extLst>
          </p:cNvPr>
          <p:cNvSpPr>
            <a:spLocks noGrp="1"/>
          </p:cNvSpPr>
          <p:nvPr/>
        </p:nvSpPr>
        <p:spPr>
          <a:xfrm>
            <a:off x="9401175" y="2095500"/>
            <a:ext cx="215265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RESA alignment</a:t>
            </a:r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EB003ECB-1FEE-4544-81A2-9DE4C205BDCE}"/>
              </a:ext>
            </a:extLst>
          </p:cNvPr>
          <p:cNvSpPr>
            <a:spLocks noGrp="1"/>
          </p:cNvSpPr>
          <p:nvPr/>
        </p:nvSpPr>
        <p:spPr>
          <a:xfrm>
            <a:off x="9286875" y="3333750"/>
            <a:ext cx="2381250" cy="7429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4" name="Rectangle 16">
            <a:extLst>
              <a:ext uri="{FF2B5EF4-FFF2-40B4-BE49-F238E27FC236}">
                <a16:creationId xmlns:a16="http://schemas.microsoft.com/office/drawing/2014/main" id="{E46E994C-5DA6-4828-8B0B-B6172640D4DB}"/>
              </a:ext>
            </a:extLst>
          </p:cNvPr>
          <p:cNvSpPr>
            <a:spLocks noGrp="1"/>
          </p:cNvSpPr>
          <p:nvPr/>
        </p:nvSpPr>
        <p:spPr>
          <a:xfrm>
            <a:off x="9401175" y="3429000"/>
            <a:ext cx="215265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Check mandatory limits</a:t>
            </a:r>
          </a:p>
        </p:txBody>
      </p:sp>
      <p:sp>
        <p:nvSpPr>
          <p:cNvPr id="25" name="Rectangle 17">
            <a:extLst>
              <a:ext uri="{FF2B5EF4-FFF2-40B4-BE49-F238E27FC236}">
                <a16:creationId xmlns:a16="http://schemas.microsoft.com/office/drawing/2014/main" id="{AA0A010B-034D-4448-9DD1-89356798FBCC}"/>
              </a:ext>
            </a:extLst>
          </p:cNvPr>
          <p:cNvSpPr>
            <a:spLocks noGrp="1"/>
          </p:cNvSpPr>
          <p:nvPr/>
        </p:nvSpPr>
        <p:spPr>
          <a:xfrm>
            <a:off x="6334125" y="3333750"/>
            <a:ext cx="2381250" cy="7429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A8658865-4176-4659-9559-6A739D670E79}"/>
              </a:ext>
            </a:extLst>
          </p:cNvPr>
          <p:cNvSpPr>
            <a:spLocks noGrp="1"/>
          </p:cNvSpPr>
          <p:nvPr/>
        </p:nvSpPr>
        <p:spPr>
          <a:xfrm>
            <a:off x="6448425" y="3429000"/>
            <a:ext cx="215265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Rank eligible suppliers</a:t>
            </a:r>
          </a:p>
        </p:txBody>
      </p:sp>
      <p:sp>
        <p:nvSpPr>
          <p:cNvPr id="27" name="Rectangle 19">
            <a:extLst>
              <a:ext uri="{FF2B5EF4-FFF2-40B4-BE49-F238E27FC236}">
                <a16:creationId xmlns:a16="http://schemas.microsoft.com/office/drawing/2014/main" id="{39C7A06A-4F59-4FE5-8830-A53DB6024B6C}"/>
              </a:ext>
            </a:extLst>
          </p:cNvPr>
          <p:cNvSpPr>
            <a:spLocks noGrp="1"/>
          </p:cNvSpPr>
          <p:nvPr/>
        </p:nvSpPr>
        <p:spPr>
          <a:xfrm>
            <a:off x="3381375" y="3333750"/>
            <a:ext cx="2381250" cy="7429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8" name="Rectangle 20">
            <a:extLst>
              <a:ext uri="{FF2B5EF4-FFF2-40B4-BE49-F238E27FC236}">
                <a16:creationId xmlns:a16="http://schemas.microsoft.com/office/drawing/2014/main" id="{CC6656AA-7980-4D5D-A4F4-56CCB9602D00}"/>
              </a:ext>
            </a:extLst>
          </p:cNvPr>
          <p:cNvSpPr>
            <a:spLocks noGrp="1"/>
          </p:cNvSpPr>
          <p:nvPr/>
        </p:nvSpPr>
        <p:spPr>
          <a:xfrm>
            <a:off x="3495675" y="3429000"/>
            <a:ext cx="215265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Explain with citations</a:t>
            </a:r>
          </a:p>
        </p:txBody>
      </p:sp>
      <p:sp>
        <p:nvSpPr>
          <p:cNvPr id="29" name="Rectangle 21">
            <a:extLst>
              <a:ext uri="{FF2B5EF4-FFF2-40B4-BE49-F238E27FC236}">
                <a16:creationId xmlns:a16="http://schemas.microsoft.com/office/drawing/2014/main" id="{C91AD967-4247-4359-B603-46DCF9F57063}"/>
              </a:ext>
            </a:extLst>
          </p:cNvPr>
          <p:cNvSpPr>
            <a:spLocks noGrp="1"/>
          </p:cNvSpPr>
          <p:nvPr/>
        </p:nvSpPr>
        <p:spPr>
          <a:xfrm>
            <a:off x="428625" y="3333750"/>
            <a:ext cx="2381250" cy="7429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0" name="Rectangle 22">
            <a:extLst>
              <a:ext uri="{FF2B5EF4-FFF2-40B4-BE49-F238E27FC236}">
                <a16:creationId xmlns:a16="http://schemas.microsoft.com/office/drawing/2014/main" id="{696A00A1-DB1E-42BF-8002-A305AF9516FD}"/>
              </a:ext>
            </a:extLst>
          </p:cNvPr>
          <p:cNvSpPr>
            <a:spLocks noGrp="1"/>
          </p:cNvSpPr>
          <p:nvPr/>
        </p:nvSpPr>
        <p:spPr>
          <a:xfrm>
            <a:off x="542925" y="3429000"/>
            <a:ext cx="215265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Verify recommendation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D01B818-28BD-4E99-87A7-6B7E63720BBD}"/>
              </a:ext>
            </a:extLst>
          </p:cNvPr>
          <p:cNvSpPr>
            <a:spLocks noGrp="1"/>
          </p:cNvSpPr>
          <p:nvPr/>
        </p:nvSpPr>
        <p:spPr>
          <a:xfrm>
            <a:off x="523875" y="451485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Evaluation plan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B0651E2-A8BE-41F2-A2DC-C6425C3A534F}"/>
              </a:ext>
            </a:extLst>
          </p:cNvPr>
          <p:cNvSpPr>
            <a:spLocks noGrp="1"/>
          </p:cNvSpPr>
          <p:nvPr/>
        </p:nvSpPr>
        <p:spPr>
          <a:xfrm>
            <a:off x="523875" y="4933950"/>
            <a:ext cx="10953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Compare BM25, dense retrieval, hybrid RAG and full RESA.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68ECCE9-C109-406C-B371-4495CC759F81}"/>
              </a:ext>
            </a:extLst>
          </p:cNvPr>
          <p:cNvSpPr>
            <a:spLocks noGrp="1"/>
          </p:cNvSpPr>
          <p:nvPr/>
        </p:nvSpPr>
        <p:spPr>
          <a:xfrm>
            <a:off x="523875" y="5295900"/>
            <a:ext cx="10953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Test missing evidence, stale records and requirement violations.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88109B0-7264-4DE8-B55F-3447BA7EB34B}"/>
              </a:ext>
            </a:extLst>
          </p:cNvPr>
          <p:cNvSpPr>
            <a:spLocks noGrp="1"/>
          </p:cNvSpPr>
          <p:nvPr/>
        </p:nvSpPr>
        <p:spPr>
          <a:xfrm>
            <a:off x="523875" y="5657850"/>
            <a:ext cx="10953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Measure Recall@k, evidence-state F1 and unsupported-claim rate.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0F0D4C-1428-5DEF-5E64-8E39DE59EC0B}"/>
              </a:ext>
            </a:extLst>
          </p:cNvPr>
          <p:cNvSpPr txBox="1"/>
          <p:nvPr/>
        </p:nvSpPr>
        <p:spPr>
          <a:xfrm>
            <a:off x="7525512" y="4854192"/>
            <a:ext cx="4343400" cy="1168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22577E"/>
                </a:solidFill>
                <a:ea typeface="Arial"/>
                <a:cs typeface="Arial"/>
              </a:rPr>
              <a:t>RESA SCORE:</a:t>
            </a:r>
            <a:endParaRPr lang="en-IN" dirty="0"/>
          </a:p>
          <a:p>
            <a:r>
              <a:rPr lang="en-IN" sz="1730" dirty="0">
                <a:solidFill>
                  <a:srgbClr val="0070C0"/>
                </a:solidFill>
              </a:rPr>
              <a:t>Score = 25% Quality + 20% Price + 20% Delivery + 20% Reliability + 15% Evidence Coverage − 15% Risk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B79B57E3-A5BD-EF87-D219-1C3012DE2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8BBC72DD-0E2A-403B-8358-23AE309FC180}"/>
              </a:ext>
            </a:extLst>
          </p:cNvPr>
          <p:cNvSpPr>
            <a:spLocks noGrp="1"/>
          </p:cNvSpPr>
          <p:nvPr/>
        </p:nvSpPr>
        <p:spPr>
          <a:xfrm>
            <a:off x="6089904" y="54864"/>
            <a:ext cx="6099048" cy="3657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75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RESA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04F739B-A30B-4816-9650-ED28E9FCBE1E}"/>
              </a:ext>
            </a:extLst>
          </p:cNvPr>
          <p:cNvSpPr>
            <a:spLocks noGrp="1"/>
          </p:cNvSpPr>
          <p:nvPr/>
        </p:nvSpPr>
        <p:spPr>
          <a:xfrm>
            <a:off x="256032" y="502920"/>
            <a:ext cx="11612880" cy="64922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Data preprocessing &amp; EDA</a:t>
            </a:r>
          </a:p>
        </p:txBody>
      </p:sp>
      <p:sp>
        <p:nvSpPr>
          <p:cNvPr id="5" name="Straight Connector 3">
            <a:extLst>
              <a:ext uri="{FF2B5EF4-FFF2-40B4-BE49-F238E27FC236}">
                <a16:creationId xmlns:a16="http://schemas.microsoft.com/office/drawing/2014/main" id="{0A33677D-F928-45B0-A3B9-46F33D9CFEB8}"/>
              </a:ext>
            </a:extLst>
          </p:cNvPr>
          <p:cNvSpPr>
            <a:spLocks noGrp="1"/>
          </p:cNvSpPr>
          <p:nvPr/>
        </p:nvSpPr>
        <p:spPr>
          <a:xfrm>
            <a:off x="219456" y="1188720"/>
            <a:ext cx="7306056" cy="0"/>
          </a:xfrm>
          <a:prstGeom prst="line">
            <a:avLst/>
          </a:prstGeom>
          <a:ln w="19050">
            <a:solidFill>
              <a:srgbClr val="70AD4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ECBD46-F6F3-40BE-9720-F289B3FDEB51}"/>
              </a:ext>
            </a:extLst>
          </p:cNvPr>
          <p:cNvSpPr>
            <a:spLocks noGrp="1"/>
          </p:cNvSpPr>
          <p:nvPr/>
        </p:nvSpPr>
        <p:spPr>
          <a:xfrm>
            <a:off x="6048375" y="6410325"/>
            <a:ext cx="2381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B09795-8203-4CDD-90C7-F7CF0D70AECB}"/>
              </a:ext>
            </a:extLst>
          </p:cNvPr>
          <p:cNvSpPr>
            <a:spLocks noGrp="1"/>
          </p:cNvSpPr>
          <p:nvPr/>
        </p:nvSpPr>
        <p:spPr>
          <a:xfrm>
            <a:off x="523875" y="163830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777 procurement records for supplier KPI analysis.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84E549-F750-4EC4-8B45-95A9B34D21A6}"/>
              </a:ext>
            </a:extLst>
          </p:cNvPr>
          <p:cNvSpPr>
            <a:spLocks noGrp="1"/>
          </p:cNvSpPr>
          <p:nvPr/>
        </p:nvSpPr>
        <p:spPr>
          <a:xfrm>
            <a:off x="523875" y="224790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50 automotive sample rows for supplier–part relationships.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D881A8-9D65-4650-A2DC-8D0FF4BCEE9E}"/>
              </a:ext>
            </a:extLst>
          </p:cNvPr>
          <p:cNvSpPr>
            <a:spLocks noGrp="1"/>
          </p:cNvSpPr>
          <p:nvPr/>
        </p:nvSpPr>
        <p:spPr>
          <a:xfrm>
            <a:off x="523875" y="285750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149 development queries for automotive retrieval testing.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0F1F78-BAAA-442C-88CD-6E8A56366E0A}"/>
              </a:ext>
            </a:extLst>
          </p:cNvPr>
          <p:cNvSpPr>
            <a:spLocks noGrp="1"/>
          </p:cNvSpPr>
          <p:nvPr/>
        </p:nvSpPr>
        <p:spPr>
          <a:xfrm>
            <a:off x="523875" y="346710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Separate public sources from the synthetic review scenario.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26F1A7-5E31-4A43-89CC-EA04058A4492}"/>
              </a:ext>
            </a:extLst>
          </p:cNvPr>
          <p:cNvSpPr>
            <a:spLocks noGrp="1"/>
          </p:cNvSpPr>
          <p:nvPr/>
        </p:nvSpPr>
        <p:spPr>
          <a:xfrm>
            <a:off x="523875" y="4076700"/>
            <a:ext cx="11049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Validate dates, missing values and source-specific supplier IDs.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C5E1BF-7CA3-423D-896D-BB5C5D469BBC}"/>
              </a:ext>
            </a:extLst>
          </p:cNvPr>
          <p:cNvSpPr>
            <a:spLocks noGrp="1"/>
          </p:cNvSpPr>
          <p:nvPr/>
        </p:nvSpPr>
        <p:spPr>
          <a:xfrm>
            <a:off x="523875" y="4857750"/>
            <a:ext cx="4953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Current observations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625684-D21A-4296-98DD-36DB8A6B43DE}"/>
              </a:ext>
            </a:extLst>
          </p:cNvPr>
          <p:cNvSpPr>
            <a:spLocks noGrp="1"/>
          </p:cNvSpPr>
          <p:nvPr/>
        </p:nvSpPr>
        <p:spPr>
          <a:xfrm>
            <a:off x="523875" y="5257800"/>
            <a:ext cx="6953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87 records lack a delivery date.</a:t>
            </a:r>
          </a:p>
          <a:p>
            <a:pPr>
              <a:defRPr sz="1725" b="0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Delivery duration is not an on-time delivery measure.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8417CD-B1C3-4939-9228-CA6A328D196A}"/>
              </a:ext>
            </a:extLst>
          </p:cNvPr>
          <p:cNvSpPr>
            <a:spLocks noGrp="1"/>
          </p:cNvSpPr>
          <p:nvPr/>
        </p:nvSpPr>
        <p:spPr>
          <a:xfrm>
            <a:off x="8001000" y="4762500"/>
            <a:ext cx="342900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Demo evidence</a:t>
            </a:r>
          </a:p>
          <a:p>
            <a:pPr>
              <a:defRPr sz="1800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6 suppliers, 12 quotations</a:t>
            </a:r>
          </a:p>
          <a:p>
            <a:pPr>
              <a:defRPr sz="1800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18 scorecards and 1 policy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Folded Corner 11">
            <a:extLst>
              <a:ext uri="{FF2B5EF4-FFF2-40B4-BE49-F238E27FC236}">
                <a16:creationId xmlns:a16="http://schemas.microsoft.com/office/drawing/2014/main" id="{8AD39A90-45A4-9A37-7D82-C7E4DEC2677D}"/>
              </a:ext>
            </a:extLst>
          </p:cNvPr>
          <p:cNvSpPr/>
          <p:nvPr/>
        </p:nvSpPr>
        <p:spPr>
          <a:xfrm>
            <a:off x="6266457" y="2011680"/>
            <a:ext cx="5752977" cy="3977639"/>
          </a:xfrm>
          <a:prstGeom prst="foldedCorner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Rectangle: Folded Corner 5">
            <a:extLst>
              <a:ext uri="{FF2B5EF4-FFF2-40B4-BE49-F238E27FC236}">
                <a16:creationId xmlns:a16="http://schemas.microsoft.com/office/drawing/2014/main" id="{F4A875DE-98CD-BA4B-F6C9-49C3EC00D87A}"/>
              </a:ext>
            </a:extLst>
          </p:cNvPr>
          <p:cNvSpPr/>
          <p:nvPr/>
        </p:nvSpPr>
        <p:spPr>
          <a:xfrm>
            <a:off x="255996" y="2011680"/>
            <a:ext cx="5752978" cy="3977639"/>
          </a:xfrm>
          <a:prstGeom prst="foldedCorner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en-GB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Picture 15">
            <a:extLst>
              <a:ext uri="{FF2B5EF4-FFF2-40B4-BE49-F238E27FC236}">
                <a16:creationId xmlns:a16="http://schemas.microsoft.com/office/drawing/2014/main" id="{B129754E-B853-552E-1A37-066C6243D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DE9DFAE-32A7-492E-A24B-418962034615}"/>
              </a:ext>
            </a:extLst>
          </p:cNvPr>
          <p:cNvSpPr>
            <a:spLocks noGrp="1"/>
          </p:cNvSpPr>
          <p:nvPr/>
        </p:nvSpPr>
        <p:spPr>
          <a:xfrm>
            <a:off x="6089904" y="54864"/>
            <a:ext cx="6099048" cy="3657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75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RESA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9896E85-C73B-4459-B29B-3BF33512F4A2}"/>
              </a:ext>
            </a:extLst>
          </p:cNvPr>
          <p:cNvSpPr>
            <a:spLocks noGrp="1"/>
          </p:cNvSpPr>
          <p:nvPr/>
        </p:nvSpPr>
        <p:spPr>
          <a:xfrm>
            <a:off x="256032" y="502920"/>
            <a:ext cx="11612880" cy="64922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Approach/Algorithms/Tools</a:t>
            </a:r>
          </a:p>
        </p:txBody>
      </p:sp>
      <p:sp>
        <p:nvSpPr>
          <p:cNvPr id="7" name="Straight Connector 3">
            <a:extLst>
              <a:ext uri="{FF2B5EF4-FFF2-40B4-BE49-F238E27FC236}">
                <a16:creationId xmlns:a16="http://schemas.microsoft.com/office/drawing/2014/main" id="{5867DAE7-7BAB-4566-81C8-F49F8B6D28E7}"/>
              </a:ext>
            </a:extLst>
          </p:cNvPr>
          <p:cNvSpPr>
            <a:spLocks noGrp="1"/>
          </p:cNvSpPr>
          <p:nvPr/>
        </p:nvSpPr>
        <p:spPr>
          <a:xfrm>
            <a:off x="219456" y="1188720"/>
            <a:ext cx="7306056" cy="0"/>
          </a:xfrm>
          <a:prstGeom prst="line">
            <a:avLst/>
          </a:prstGeom>
          <a:ln w="19050">
            <a:solidFill>
              <a:srgbClr val="70AD4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8E66A2D-BF40-4547-BB38-BEF8F89C701A}"/>
              </a:ext>
            </a:extLst>
          </p:cNvPr>
          <p:cNvSpPr>
            <a:spLocks noGrp="1"/>
          </p:cNvSpPr>
          <p:nvPr/>
        </p:nvSpPr>
        <p:spPr>
          <a:xfrm>
            <a:off x="6048375" y="6410325"/>
            <a:ext cx="2381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7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F0A045A-7C80-4CC5-B3CB-95DD4B93DF34}"/>
              </a:ext>
            </a:extLst>
          </p:cNvPr>
          <p:cNvSpPr>
            <a:spLocks noGrp="1"/>
          </p:cNvSpPr>
          <p:nvPr/>
        </p:nvSpPr>
        <p:spPr>
          <a:xfrm>
            <a:off x="523875" y="1581150"/>
            <a:ext cx="5238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RESA approach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31AEB0F2-C831-4E49-98F9-4A741F38512F}"/>
              </a:ext>
            </a:extLst>
          </p:cNvPr>
          <p:cNvSpPr>
            <a:spLocks noGrp="1"/>
          </p:cNvSpPr>
          <p:nvPr/>
        </p:nvSpPr>
        <p:spPr>
          <a:xfrm>
            <a:off x="523875" y="2181225"/>
            <a:ext cx="54292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Supplier and component matching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B368D6BE-58EB-49A1-BAAE-09E466963C66}"/>
              </a:ext>
            </a:extLst>
          </p:cNvPr>
          <p:cNvSpPr>
            <a:spLocks noGrp="1"/>
          </p:cNvSpPr>
          <p:nvPr/>
        </p:nvSpPr>
        <p:spPr>
          <a:xfrm>
            <a:off x="523875" y="2743200"/>
            <a:ext cx="54292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Numeric and evidence freshness checks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C01D656F-7AF7-4EE3-8238-BCC8CC85FA0E}"/>
              </a:ext>
            </a:extLst>
          </p:cNvPr>
          <p:cNvSpPr>
            <a:spLocks noGrp="1"/>
          </p:cNvSpPr>
          <p:nvPr/>
        </p:nvSpPr>
        <p:spPr>
          <a:xfrm>
            <a:off x="523875" y="3305175"/>
            <a:ext cx="54292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Mandatory constraints before ranking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D15E92A3-4239-4D0F-A38F-425D0C2A5249}"/>
              </a:ext>
            </a:extLst>
          </p:cNvPr>
          <p:cNvSpPr>
            <a:spLocks noGrp="1"/>
          </p:cNvSpPr>
          <p:nvPr/>
        </p:nvSpPr>
        <p:spPr>
          <a:xfrm>
            <a:off x="523875" y="3867150"/>
            <a:ext cx="5429250" cy="7772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Weighted quality, price and delivery scores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ACCE2F42-5C2A-4E88-B37C-FF04227C1DBF}"/>
              </a:ext>
            </a:extLst>
          </p:cNvPr>
          <p:cNvSpPr>
            <a:spLocks noGrp="1"/>
          </p:cNvSpPr>
          <p:nvPr/>
        </p:nvSpPr>
        <p:spPr>
          <a:xfrm>
            <a:off x="523875" y="4700016"/>
            <a:ext cx="54292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Recent risk and evidence coverage</a:t>
            </a: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356FFFB5-DB39-483F-AFA1-D1BEA5CB717F}"/>
              </a:ext>
            </a:extLst>
          </p:cNvPr>
          <p:cNvSpPr>
            <a:spLocks noGrp="1"/>
          </p:cNvSpPr>
          <p:nvPr/>
        </p:nvSpPr>
        <p:spPr>
          <a:xfrm>
            <a:off x="523875" y="5266944"/>
            <a:ext cx="54292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28ABD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5583D1"/>
                </a:solidFill>
                <a:latin typeface="Calibri"/>
                <a:ea typeface="Arial"/>
                <a:cs typeface="Arial"/>
              </a:rPr>
              <a:t>•  Claim and citation verification (planned)</a:t>
            </a: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709F2D22-02C1-438B-809A-34F48D1762F3}"/>
              </a:ext>
            </a:extLst>
          </p:cNvPr>
          <p:cNvSpPr>
            <a:spLocks noGrp="1"/>
          </p:cNvSpPr>
          <p:nvPr/>
        </p:nvSpPr>
        <p:spPr>
          <a:xfrm>
            <a:off x="6477000" y="1581150"/>
            <a:ext cx="5238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Models and implementation</a:t>
            </a: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69B07A4F-177B-427C-B449-79F0A0A03301}"/>
              </a:ext>
            </a:extLst>
          </p:cNvPr>
          <p:cNvSpPr>
            <a:spLocks noGrp="1"/>
          </p:cNvSpPr>
          <p:nvPr/>
        </p:nvSpPr>
        <p:spPr>
          <a:xfrm>
            <a:off x="6477000" y="2152650"/>
            <a:ext cx="5286375" cy="3752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Current prototype</a:t>
            </a:r>
          </a:p>
          <a:p>
            <a:pPr>
              <a:defRPr sz="1725" b="0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React, JavaScript rules and JSON/CSV data</a:t>
            </a:r>
          </a:p>
          <a:p>
            <a:endParaRPr sz="1725" b="0">
              <a:solidFill>
                <a:srgbClr val="243C4C"/>
              </a:solidFill>
              <a:latin typeface="Arial"/>
              <a:ea typeface="Arial"/>
              <a:cs typeface="Arial"/>
            </a:endParaRPr>
          </a:p>
          <a:p>
            <a:pPr>
              <a:defRPr sz="1725" b="0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Planned model roles</a:t>
            </a:r>
          </a:p>
          <a:p>
            <a:pPr>
              <a:defRPr sz="1725" b="0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Llama 3.1 8B: extraction and explanation</a:t>
            </a:r>
          </a:p>
          <a:p>
            <a:pPr>
              <a:defRPr sz="1725" b="0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nomic-embed-text: semantic retrieval</a:t>
            </a:r>
          </a:p>
          <a:p>
            <a:pPr>
              <a:defRPr sz="1725" b="0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BM25 + RRF: keyword search and fusion</a:t>
            </a:r>
          </a:p>
          <a:p>
            <a:endParaRPr sz="1725" b="0">
              <a:solidFill>
                <a:srgbClr val="243C4C"/>
              </a:solidFill>
              <a:latin typeface="Arial"/>
              <a:ea typeface="Arial"/>
              <a:cs typeface="Arial"/>
            </a:endParaRPr>
          </a:p>
          <a:p>
            <a:pPr>
              <a:defRPr sz="1725" b="0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Planned backend</a:t>
            </a:r>
          </a:p>
          <a:p>
            <a:pPr>
              <a:defRPr sz="1725" b="0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FastAPI, LlamaIndex, Qdrant, PostgreSQL</a:t>
            </a:r>
          </a:p>
          <a:p>
            <a:pPr>
              <a:defRPr sz="1725" b="0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Ollama, MinIO, Redis and Docker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1">
            <a:extLst>
              <a:ext uri="{FF2B5EF4-FFF2-40B4-BE49-F238E27FC236}">
                <a16:creationId xmlns:a16="http://schemas.microsoft.com/office/drawing/2014/main" id="{DCCD62DB-C8ED-FB89-6AEB-118F577E4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63F9C5EF-9FF6-476C-A474-8DC292EAC5D0}"/>
              </a:ext>
            </a:extLst>
          </p:cNvPr>
          <p:cNvSpPr>
            <a:spLocks noGrp="1"/>
          </p:cNvSpPr>
          <p:nvPr/>
        </p:nvSpPr>
        <p:spPr>
          <a:xfrm>
            <a:off x="6089904" y="54864"/>
            <a:ext cx="6099048" cy="3657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75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RESA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9865E4F-1367-46A6-8204-92C8092BC134}"/>
              </a:ext>
            </a:extLst>
          </p:cNvPr>
          <p:cNvSpPr>
            <a:spLocks noGrp="1"/>
          </p:cNvSpPr>
          <p:nvPr/>
        </p:nvSpPr>
        <p:spPr>
          <a:xfrm>
            <a:off x="256032" y="502920"/>
            <a:ext cx="11612880" cy="64922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Project plan/ Mile stones Progress</a:t>
            </a:r>
          </a:p>
        </p:txBody>
      </p:sp>
      <p:sp>
        <p:nvSpPr>
          <p:cNvPr id="5" name="Straight Connector 3">
            <a:extLst>
              <a:ext uri="{FF2B5EF4-FFF2-40B4-BE49-F238E27FC236}">
                <a16:creationId xmlns:a16="http://schemas.microsoft.com/office/drawing/2014/main" id="{486AF73C-A61E-493F-940B-AB28C85BCA09}"/>
              </a:ext>
            </a:extLst>
          </p:cNvPr>
          <p:cNvSpPr>
            <a:spLocks noGrp="1"/>
          </p:cNvSpPr>
          <p:nvPr/>
        </p:nvSpPr>
        <p:spPr>
          <a:xfrm>
            <a:off x="219456" y="1188720"/>
            <a:ext cx="7306056" cy="0"/>
          </a:xfrm>
          <a:prstGeom prst="line">
            <a:avLst/>
          </a:prstGeom>
          <a:ln w="19050">
            <a:solidFill>
              <a:srgbClr val="70AD4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49B2CC-04A1-4909-BF45-6C2C0F5DDBC9}"/>
              </a:ext>
            </a:extLst>
          </p:cNvPr>
          <p:cNvSpPr>
            <a:spLocks noGrp="1"/>
          </p:cNvSpPr>
          <p:nvPr/>
        </p:nvSpPr>
        <p:spPr>
          <a:xfrm>
            <a:off x="6048375" y="6410325"/>
            <a:ext cx="2381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7" name="Table 15"/>
          <p:cNvGraphicFramePr/>
          <p:nvPr/>
        </p:nvGraphicFramePr>
        <p:xfrm>
          <a:off x="476250" y="1543050"/>
          <a:ext cx="7953375" cy="4295775"/>
        </p:xfrm>
        <a:graphic>
          <a:graphicData uri="http://schemas.openxmlformats.org/drawingml/2006/table">
            <a:tbl>
              <a:tblPr/>
              <a:tblGrid>
                <a:gridCol w="581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30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</a:rPr>
                        <a:t>Milestone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30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Public datasets and source manifest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30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Synthetic quotation and scorecard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30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Structured checks and supplier scoring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30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React dashboard and local launcher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30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Four demonstration scenario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30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FastAPI, database and model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Planned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30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Hybrid retrieval and claim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Planned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30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Annotated benchmark and baseline 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Calibri"/>
                          <a:ea typeface="Arial"/>
                          <a:cs typeface="Arial"/>
                        </a:rPr>
                        <a:t>Planned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BF49C15-A8CC-4C70-8E4C-1A18B1CA4431}"/>
              </a:ext>
            </a:extLst>
          </p:cNvPr>
          <p:cNvSpPr>
            <a:spLocks noGrp="1"/>
          </p:cNvSpPr>
          <p:nvPr/>
        </p:nvSpPr>
        <p:spPr>
          <a:xfrm>
            <a:off x="8810625" y="1771650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Current demonstration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04E6B1-D2D5-467D-81E1-7729F19A5F45}"/>
              </a:ext>
            </a:extLst>
          </p:cNvPr>
          <p:cNvSpPr>
            <a:spLocks noGrp="1"/>
          </p:cNvSpPr>
          <p:nvPr/>
        </p:nvSpPr>
        <p:spPr>
          <a:xfrm>
            <a:off x="8810625" y="2657475"/>
            <a:ext cx="2762250" cy="3000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6 fictional suppliers</a:t>
            </a:r>
          </a:p>
          <a:p>
            <a:endParaRPr sz="1800" b="0">
              <a:solidFill>
                <a:srgbClr val="243C4C"/>
              </a:solidFill>
              <a:latin typeface="Arial"/>
              <a:ea typeface="Arial"/>
              <a:cs typeface="Arial"/>
            </a:endParaRPr>
          </a:p>
          <a:p>
            <a:pPr>
              <a:defRPr sz="1800" b="0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4 scenario checks passed</a:t>
            </a:r>
          </a:p>
          <a:p>
            <a:endParaRPr sz="1800" b="0">
              <a:solidFill>
                <a:srgbClr val="243C4C"/>
              </a:solidFill>
              <a:latin typeface="Arial"/>
              <a:ea typeface="Arial"/>
              <a:cs typeface="Arial"/>
            </a:endParaRPr>
          </a:p>
          <a:p>
            <a:pPr>
              <a:defRPr sz="1800" b="0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Missing and stale evidence flags</a:t>
            </a:r>
          </a:p>
          <a:p>
            <a:endParaRPr sz="1800" b="0">
              <a:solidFill>
                <a:srgbClr val="243C4C"/>
              </a:solidFill>
              <a:latin typeface="Arial"/>
              <a:ea typeface="Arial"/>
              <a:cs typeface="Arial"/>
            </a:endParaRPr>
          </a:p>
          <a:p>
            <a:pPr>
              <a:defRPr sz="1800" b="0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Research performance results remain pending</a:t>
            </a:r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>
            <a:extLst>
              <a:ext uri="{FF2B5EF4-FFF2-40B4-BE49-F238E27FC236}">
                <a16:creationId xmlns:a16="http://schemas.microsoft.com/office/drawing/2014/main" id="{31C4CF98-D184-9A32-35E0-BFEA79DE0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96926"/>
            <a:ext cx="1088571" cy="861074"/>
          </a:xfrm>
          <a:prstGeom prst="rect">
            <a:avLst/>
          </a:prstGeom>
        </p:spPr>
      </p:pic>
      <p:cxnSp>
        <p:nvCxnSpPr>
          <p:cNvPr id="3" name="Straight Arrow Connector 40"/>
          <p:cNvCxnSpPr/>
          <p:nvPr/>
        </p:nvCxnSpPr>
        <p:spPr>
          <a:xfrm flipH="1">
            <a:off x="5715000" y="5557838"/>
            <a:ext cx="571500" cy="0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4" name="Connector: Elbow 41"/>
          <p:cNvCxnSpPr/>
          <p:nvPr/>
        </p:nvCxnSpPr>
        <p:spPr>
          <a:xfrm flipH="1">
            <a:off x="8858250" y="2728913"/>
            <a:ext cx="3086100" cy="2828925"/>
          </a:xfrm>
          <a:prstGeom prst="bentConnector4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5" name="Connector: Elbow 42"/>
          <p:cNvCxnSpPr/>
          <p:nvPr/>
        </p:nvCxnSpPr>
        <p:spPr>
          <a:xfrm>
            <a:off x="8667750" y="3676650"/>
            <a:ext cx="809625" cy="957263"/>
          </a:xfrm>
          <a:prstGeom prst="bentConnector3">
            <a:avLst>
              <a:gd name="adj1" fmla="val 50000"/>
            </a:avLst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6" name="Connector: Elbow 43"/>
          <p:cNvCxnSpPr/>
          <p:nvPr/>
        </p:nvCxnSpPr>
        <p:spPr>
          <a:xfrm>
            <a:off x="8667750" y="3676650"/>
            <a:ext cx="809625" cy="4763"/>
          </a:xfrm>
          <a:prstGeom prst="bentConnector3">
            <a:avLst>
              <a:gd name="adj1" fmla="val 50000"/>
            </a:avLst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7" name="Connector: Elbow 44"/>
          <p:cNvCxnSpPr/>
          <p:nvPr/>
        </p:nvCxnSpPr>
        <p:spPr>
          <a:xfrm flipV="1">
            <a:off x="8667750" y="2728913"/>
            <a:ext cx="809625" cy="947738"/>
          </a:xfrm>
          <a:prstGeom prst="bentConnector3">
            <a:avLst>
              <a:gd name="adj1" fmla="val 50000"/>
            </a:avLst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8" name="Straight Arrow Connector 45"/>
          <p:cNvCxnSpPr/>
          <p:nvPr/>
        </p:nvCxnSpPr>
        <p:spPr>
          <a:xfrm>
            <a:off x="5715000" y="3676650"/>
            <a:ext cx="571500" cy="0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9" name="Connector: Elbow 46"/>
          <p:cNvCxnSpPr/>
          <p:nvPr/>
        </p:nvCxnSpPr>
        <p:spPr>
          <a:xfrm>
            <a:off x="2762250" y="3676650"/>
            <a:ext cx="3524250" cy="504825"/>
          </a:xfrm>
          <a:prstGeom prst="bentConnector4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10" name="Straight Arrow Connector 47"/>
          <p:cNvCxnSpPr/>
          <p:nvPr/>
        </p:nvCxnSpPr>
        <p:spPr>
          <a:xfrm>
            <a:off x="7477125" y="2743200"/>
            <a:ext cx="0" cy="542925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11" name="Straight Arrow Connector 48"/>
          <p:cNvCxnSpPr/>
          <p:nvPr/>
        </p:nvCxnSpPr>
        <p:spPr>
          <a:xfrm>
            <a:off x="5715000" y="2352675"/>
            <a:ext cx="571500" cy="0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cxnSp>
        <p:nvCxnSpPr>
          <p:cNvPr id="12" name="Straight Arrow Connector 49"/>
          <p:cNvCxnSpPr/>
          <p:nvPr/>
        </p:nvCxnSpPr>
        <p:spPr>
          <a:xfrm>
            <a:off x="2762250" y="2352675"/>
            <a:ext cx="571500" cy="0"/>
          </a:xfrm>
          <a:prstGeom prst="straightConnector1">
            <a:avLst/>
          </a:prstGeom>
          <a:ln w="14288">
            <a:solidFill>
              <a:srgbClr val="526675"/>
            </a:solidFill>
            <a:tailEnd type="triangle" w="sm" len="sm"/>
          </a:ln>
        </p:spPr>
      </p:cxnSp>
      <p:sp>
        <p:nvSpPr>
          <p:cNvPr id="13" name="Rectangle 1">
            <a:extLst>
              <a:ext uri="{FF2B5EF4-FFF2-40B4-BE49-F238E27FC236}">
                <a16:creationId xmlns:a16="http://schemas.microsoft.com/office/drawing/2014/main" id="{8B2F04EE-CDB4-43C1-AA78-F6950F0DF22F}"/>
              </a:ext>
            </a:extLst>
          </p:cNvPr>
          <p:cNvSpPr>
            <a:spLocks noGrp="1"/>
          </p:cNvSpPr>
          <p:nvPr/>
        </p:nvSpPr>
        <p:spPr>
          <a:xfrm>
            <a:off x="6089904" y="54864"/>
            <a:ext cx="6099048" cy="3657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575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Arial"/>
                <a:cs typeface="Arial"/>
              </a:rPr>
              <a:t>RESA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40361551-CD4C-4404-AD63-93E93BDF0A7C}"/>
              </a:ext>
            </a:extLst>
          </p:cNvPr>
          <p:cNvSpPr>
            <a:spLocks noGrp="1"/>
          </p:cNvSpPr>
          <p:nvPr/>
        </p:nvSpPr>
        <p:spPr>
          <a:xfrm>
            <a:off x="256032" y="502920"/>
            <a:ext cx="11612880" cy="64922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Pipeline structure</a:t>
            </a:r>
          </a:p>
        </p:txBody>
      </p:sp>
      <p:sp>
        <p:nvSpPr>
          <p:cNvPr id="15" name="Straight Connector 3">
            <a:extLst>
              <a:ext uri="{FF2B5EF4-FFF2-40B4-BE49-F238E27FC236}">
                <a16:creationId xmlns:a16="http://schemas.microsoft.com/office/drawing/2014/main" id="{0B97A2F2-9A2A-4633-B92A-89357AFE15C4}"/>
              </a:ext>
            </a:extLst>
          </p:cNvPr>
          <p:cNvSpPr>
            <a:spLocks noGrp="1"/>
          </p:cNvSpPr>
          <p:nvPr/>
        </p:nvSpPr>
        <p:spPr>
          <a:xfrm>
            <a:off x="219456" y="1188720"/>
            <a:ext cx="7306056" cy="0"/>
          </a:xfrm>
          <a:prstGeom prst="line">
            <a:avLst/>
          </a:prstGeom>
          <a:ln w="19050">
            <a:solidFill>
              <a:srgbClr val="70AD4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524A51AC-9705-4793-AD46-E36E0E87940D}"/>
              </a:ext>
            </a:extLst>
          </p:cNvPr>
          <p:cNvSpPr>
            <a:spLocks noGrp="1"/>
          </p:cNvSpPr>
          <p:nvPr/>
        </p:nvSpPr>
        <p:spPr>
          <a:xfrm>
            <a:off x="6048375" y="6410325"/>
            <a:ext cx="2381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245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9</a:t>
            </a: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3E136B95-6277-4B48-9618-882E2F86D54D}"/>
              </a:ext>
            </a:extLst>
          </p:cNvPr>
          <p:cNvSpPr>
            <a:spLocks noGrp="1"/>
          </p:cNvSpPr>
          <p:nvPr/>
        </p:nvSpPr>
        <p:spPr>
          <a:xfrm>
            <a:off x="428625" y="1400175"/>
            <a:ext cx="108585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Target architecture for the research implementation</a:t>
            </a:r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C0B08CB8-F2B6-4120-A235-1F3311D03B01}"/>
              </a:ext>
            </a:extLst>
          </p:cNvPr>
          <p:cNvSpPr>
            <a:spLocks noGrp="1"/>
          </p:cNvSpPr>
          <p:nvPr/>
        </p:nvSpPr>
        <p:spPr>
          <a:xfrm>
            <a:off x="428625" y="1962150"/>
            <a:ext cx="2333625" cy="781050"/>
          </a:xfrm>
          <a:prstGeom prst="rect">
            <a:avLst/>
          </a:prstGeom>
          <a:solidFill>
            <a:srgbClr val="ECF5FA"/>
          </a:solidFill>
          <a:ln w="13335">
            <a:solidFill>
              <a:srgbClr val="22577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Rectangle 8">
            <a:extLst>
              <a:ext uri="{FF2B5EF4-FFF2-40B4-BE49-F238E27FC236}">
                <a16:creationId xmlns:a16="http://schemas.microsoft.com/office/drawing/2014/main" id="{39C68EE1-23E7-488F-9B21-2854328CDE20}"/>
              </a:ext>
            </a:extLst>
          </p:cNvPr>
          <p:cNvSpPr>
            <a:spLocks noGrp="1"/>
          </p:cNvSpPr>
          <p:nvPr/>
        </p:nvSpPr>
        <p:spPr>
          <a:xfrm>
            <a:off x="542925" y="2057400"/>
            <a:ext cx="2105025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Buyer request</a:t>
            </a:r>
          </a:p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React dashboard</a:t>
            </a:r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128BCFAC-313F-476E-9A4C-B3548F19CC02}"/>
              </a:ext>
            </a:extLst>
          </p:cNvPr>
          <p:cNvSpPr>
            <a:spLocks noGrp="1"/>
          </p:cNvSpPr>
          <p:nvPr/>
        </p:nvSpPr>
        <p:spPr>
          <a:xfrm>
            <a:off x="3333750" y="1962150"/>
            <a:ext cx="2381250" cy="781050"/>
          </a:xfrm>
          <a:prstGeom prst="rect">
            <a:avLst/>
          </a:prstGeom>
          <a:solidFill>
            <a:srgbClr val="ECF5FA"/>
          </a:solidFill>
          <a:ln w="13335">
            <a:solidFill>
              <a:srgbClr val="22577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4B088481-8D4E-4285-AEBF-71C1410428DA}"/>
              </a:ext>
            </a:extLst>
          </p:cNvPr>
          <p:cNvSpPr>
            <a:spLocks noGrp="1"/>
          </p:cNvSpPr>
          <p:nvPr/>
        </p:nvSpPr>
        <p:spPr>
          <a:xfrm>
            <a:off x="3448050" y="2057400"/>
            <a:ext cx="21526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Extract requirements</a:t>
            </a:r>
          </a:p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Llama 3.1 8B</a:t>
            </a:r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851F3652-6D52-42C9-A3A2-4032B0577179}"/>
              </a:ext>
            </a:extLst>
          </p:cNvPr>
          <p:cNvSpPr>
            <a:spLocks noGrp="1"/>
          </p:cNvSpPr>
          <p:nvPr/>
        </p:nvSpPr>
        <p:spPr>
          <a:xfrm>
            <a:off x="6286500" y="1962150"/>
            <a:ext cx="2381250" cy="781050"/>
          </a:xfrm>
          <a:prstGeom prst="rect">
            <a:avLst/>
          </a:prstGeom>
          <a:solidFill>
            <a:srgbClr val="ECF5FA"/>
          </a:solidFill>
          <a:ln w="13335">
            <a:solidFill>
              <a:srgbClr val="22577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2BFBA03E-05CB-43AB-A11F-B74F69A94980}"/>
              </a:ext>
            </a:extLst>
          </p:cNvPr>
          <p:cNvSpPr>
            <a:spLocks noGrp="1"/>
          </p:cNvSpPr>
          <p:nvPr/>
        </p:nvSpPr>
        <p:spPr>
          <a:xfrm>
            <a:off x="6400800" y="2057400"/>
            <a:ext cx="21526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Candidate suppliers</a:t>
            </a:r>
          </a:p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Validated identifiers</a:t>
            </a:r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415CACC9-BC20-4E07-9A19-D2F42FF7B39C}"/>
              </a:ext>
            </a:extLst>
          </p:cNvPr>
          <p:cNvSpPr>
            <a:spLocks noGrp="1"/>
          </p:cNvSpPr>
          <p:nvPr/>
        </p:nvSpPr>
        <p:spPr>
          <a:xfrm>
            <a:off x="428625" y="3286125"/>
            <a:ext cx="2333625" cy="781050"/>
          </a:xfrm>
          <a:prstGeom prst="rect">
            <a:avLst/>
          </a:prstGeom>
          <a:solidFill>
            <a:srgbClr val="ECF5FA"/>
          </a:solidFill>
          <a:ln w="13335">
            <a:solidFill>
              <a:srgbClr val="22577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id="{A7865928-4996-4BF4-BF74-47E96374B246}"/>
              </a:ext>
            </a:extLst>
          </p:cNvPr>
          <p:cNvSpPr>
            <a:spLocks noGrp="1"/>
          </p:cNvSpPr>
          <p:nvPr/>
        </p:nvSpPr>
        <p:spPr>
          <a:xfrm>
            <a:off x="542925" y="3381375"/>
            <a:ext cx="2105025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Supplier metrics</a:t>
            </a:r>
          </a:p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PostgreSQL</a:t>
            </a:r>
          </a:p>
        </p:txBody>
      </p:sp>
      <p:sp>
        <p:nvSpPr>
          <p:cNvPr id="26" name="Rectangle 17">
            <a:extLst>
              <a:ext uri="{FF2B5EF4-FFF2-40B4-BE49-F238E27FC236}">
                <a16:creationId xmlns:a16="http://schemas.microsoft.com/office/drawing/2014/main" id="{C96E6238-1AED-4F32-9396-E9311626ABB8}"/>
              </a:ext>
            </a:extLst>
          </p:cNvPr>
          <p:cNvSpPr>
            <a:spLocks noGrp="1"/>
          </p:cNvSpPr>
          <p:nvPr/>
        </p:nvSpPr>
        <p:spPr>
          <a:xfrm>
            <a:off x="3333750" y="3286125"/>
            <a:ext cx="2381250" cy="781050"/>
          </a:xfrm>
          <a:prstGeom prst="rect">
            <a:avLst/>
          </a:prstGeom>
          <a:solidFill>
            <a:srgbClr val="ECF5FA"/>
          </a:solidFill>
          <a:ln w="13335">
            <a:solidFill>
              <a:srgbClr val="22577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Rectangle 18">
            <a:extLst>
              <a:ext uri="{FF2B5EF4-FFF2-40B4-BE49-F238E27FC236}">
                <a16:creationId xmlns:a16="http://schemas.microsoft.com/office/drawing/2014/main" id="{FA981E83-86ED-48FA-B17A-85B51F23B565}"/>
              </a:ext>
            </a:extLst>
          </p:cNvPr>
          <p:cNvSpPr>
            <a:spLocks noGrp="1"/>
          </p:cNvSpPr>
          <p:nvPr/>
        </p:nvSpPr>
        <p:spPr>
          <a:xfrm>
            <a:off x="3448050" y="3381375"/>
            <a:ext cx="21526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Document retrieval</a:t>
            </a:r>
          </a:p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BM25 + Nomic, Qdrant</a:t>
            </a:r>
          </a:p>
        </p:txBody>
      </p:sp>
      <p:sp>
        <p:nvSpPr>
          <p:cNvPr id="28" name="Rectangle 19">
            <a:extLst>
              <a:ext uri="{FF2B5EF4-FFF2-40B4-BE49-F238E27FC236}">
                <a16:creationId xmlns:a16="http://schemas.microsoft.com/office/drawing/2014/main" id="{3527E658-05D9-47DF-86C5-2C2C8A11042E}"/>
              </a:ext>
            </a:extLst>
          </p:cNvPr>
          <p:cNvSpPr>
            <a:spLocks noGrp="1"/>
          </p:cNvSpPr>
          <p:nvPr/>
        </p:nvSpPr>
        <p:spPr>
          <a:xfrm>
            <a:off x="6286500" y="3286125"/>
            <a:ext cx="2381250" cy="781050"/>
          </a:xfrm>
          <a:prstGeom prst="rect">
            <a:avLst/>
          </a:prstGeom>
          <a:solidFill>
            <a:srgbClr val="ECF5FA"/>
          </a:solidFill>
          <a:ln w="13335">
            <a:solidFill>
              <a:srgbClr val="22577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Rectangle 20">
            <a:extLst>
              <a:ext uri="{FF2B5EF4-FFF2-40B4-BE49-F238E27FC236}">
                <a16:creationId xmlns:a16="http://schemas.microsoft.com/office/drawing/2014/main" id="{92643E5A-FC9A-4D90-A7B0-29C5F09C5B69}"/>
              </a:ext>
            </a:extLst>
          </p:cNvPr>
          <p:cNvSpPr>
            <a:spLocks noGrp="1"/>
          </p:cNvSpPr>
          <p:nvPr/>
        </p:nvSpPr>
        <p:spPr>
          <a:xfrm>
            <a:off x="6400800" y="3381375"/>
            <a:ext cx="215265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RESA alignment</a:t>
            </a:r>
          </a:p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Requirement checks</a:t>
            </a:r>
          </a:p>
        </p:txBody>
      </p:sp>
      <p:sp>
        <p:nvSpPr>
          <p:cNvPr id="30" name="Rectangle 24">
            <a:extLst>
              <a:ext uri="{FF2B5EF4-FFF2-40B4-BE49-F238E27FC236}">
                <a16:creationId xmlns:a16="http://schemas.microsoft.com/office/drawing/2014/main" id="{9497900D-57EF-4D32-8E4C-9AB6E55E05B6}"/>
              </a:ext>
            </a:extLst>
          </p:cNvPr>
          <p:cNvSpPr>
            <a:spLocks noGrp="1"/>
          </p:cNvSpPr>
          <p:nvPr/>
        </p:nvSpPr>
        <p:spPr>
          <a:xfrm>
            <a:off x="9477375" y="2381250"/>
            <a:ext cx="2238375" cy="695325"/>
          </a:xfrm>
          <a:prstGeom prst="rect">
            <a:avLst/>
          </a:prstGeom>
          <a:solidFill>
            <a:srgbClr val="ECF5FA"/>
          </a:solidFill>
          <a:ln w="13335">
            <a:solidFill>
              <a:srgbClr val="22577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Rectangle 25">
            <a:extLst>
              <a:ext uri="{FF2B5EF4-FFF2-40B4-BE49-F238E27FC236}">
                <a16:creationId xmlns:a16="http://schemas.microsoft.com/office/drawing/2014/main" id="{EFC0F541-40BA-42E3-B0EA-BE18D2684AA8}"/>
              </a:ext>
            </a:extLst>
          </p:cNvPr>
          <p:cNvSpPr>
            <a:spLocks noGrp="1"/>
          </p:cNvSpPr>
          <p:nvPr/>
        </p:nvSpPr>
        <p:spPr>
          <a:xfrm>
            <a:off x="9591675" y="2476500"/>
            <a:ext cx="20097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Eligible</a:t>
            </a:r>
          </a:p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Score and rank</a:t>
            </a:r>
          </a:p>
        </p:txBody>
      </p:sp>
      <p:sp>
        <p:nvSpPr>
          <p:cNvPr id="32" name="Rectangle 26">
            <a:extLst>
              <a:ext uri="{FF2B5EF4-FFF2-40B4-BE49-F238E27FC236}">
                <a16:creationId xmlns:a16="http://schemas.microsoft.com/office/drawing/2014/main" id="{B0BA73C5-7061-44A4-B473-2D13484B15E2}"/>
              </a:ext>
            </a:extLst>
          </p:cNvPr>
          <p:cNvSpPr>
            <a:spLocks noGrp="1"/>
          </p:cNvSpPr>
          <p:nvPr/>
        </p:nvSpPr>
        <p:spPr>
          <a:xfrm>
            <a:off x="9477375" y="3333750"/>
            <a:ext cx="2238375" cy="695325"/>
          </a:xfrm>
          <a:prstGeom prst="rect">
            <a:avLst/>
          </a:prstGeom>
          <a:solidFill>
            <a:srgbClr val="ECF5FA"/>
          </a:solidFill>
          <a:ln w="13335">
            <a:solidFill>
              <a:srgbClr val="22577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Rectangle 27">
            <a:extLst>
              <a:ext uri="{FF2B5EF4-FFF2-40B4-BE49-F238E27FC236}">
                <a16:creationId xmlns:a16="http://schemas.microsoft.com/office/drawing/2014/main" id="{0A9295A6-1681-4995-8B6F-AF3395FE5DA3}"/>
              </a:ext>
            </a:extLst>
          </p:cNvPr>
          <p:cNvSpPr>
            <a:spLocks noGrp="1"/>
          </p:cNvSpPr>
          <p:nvPr/>
        </p:nvSpPr>
        <p:spPr>
          <a:xfrm>
            <a:off x="9591675" y="3429000"/>
            <a:ext cx="20097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Insufficient</a:t>
            </a:r>
          </a:p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Human review</a:t>
            </a:r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73ABF00F-5E3D-402E-A569-97C206E40666}"/>
              </a:ext>
            </a:extLst>
          </p:cNvPr>
          <p:cNvSpPr>
            <a:spLocks noGrp="1"/>
          </p:cNvSpPr>
          <p:nvPr/>
        </p:nvSpPr>
        <p:spPr>
          <a:xfrm>
            <a:off x="9477375" y="4286250"/>
            <a:ext cx="2238375" cy="695325"/>
          </a:xfrm>
          <a:prstGeom prst="rect">
            <a:avLst/>
          </a:prstGeom>
          <a:solidFill>
            <a:srgbClr val="ECF5FA"/>
          </a:solidFill>
          <a:ln w="13335">
            <a:solidFill>
              <a:srgbClr val="22577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Rectangle 29">
            <a:extLst>
              <a:ext uri="{FF2B5EF4-FFF2-40B4-BE49-F238E27FC236}">
                <a16:creationId xmlns:a16="http://schemas.microsoft.com/office/drawing/2014/main" id="{3EC822C8-412F-4C9E-9AAD-DAECA9E681C5}"/>
              </a:ext>
            </a:extLst>
          </p:cNvPr>
          <p:cNvSpPr>
            <a:spLocks noGrp="1"/>
          </p:cNvSpPr>
          <p:nvPr/>
        </p:nvSpPr>
        <p:spPr>
          <a:xfrm>
            <a:off x="9591675" y="4381500"/>
            <a:ext cx="20097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Violated</a:t>
            </a:r>
          </a:p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Exclude with reason</a:t>
            </a:r>
          </a:p>
        </p:txBody>
      </p:sp>
      <p:sp>
        <p:nvSpPr>
          <p:cNvPr id="36" name="Rectangle 33">
            <a:extLst>
              <a:ext uri="{FF2B5EF4-FFF2-40B4-BE49-F238E27FC236}">
                <a16:creationId xmlns:a16="http://schemas.microsoft.com/office/drawing/2014/main" id="{AA8510DE-CFB2-4B15-9987-C67C691C4B57}"/>
              </a:ext>
            </a:extLst>
          </p:cNvPr>
          <p:cNvSpPr>
            <a:spLocks noGrp="1"/>
          </p:cNvSpPr>
          <p:nvPr/>
        </p:nvSpPr>
        <p:spPr>
          <a:xfrm>
            <a:off x="6286500" y="5181600"/>
            <a:ext cx="2571750" cy="752475"/>
          </a:xfrm>
          <a:prstGeom prst="rect">
            <a:avLst/>
          </a:prstGeom>
          <a:solidFill>
            <a:srgbClr val="ECF5FA"/>
          </a:solidFill>
          <a:ln w="13335">
            <a:solidFill>
              <a:srgbClr val="22577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Rectangle 34">
            <a:extLst>
              <a:ext uri="{FF2B5EF4-FFF2-40B4-BE49-F238E27FC236}">
                <a16:creationId xmlns:a16="http://schemas.microsoft.com/office/drawing/2014/main" id="{48300C6C-EA5E-439F-B382-96CAA752FDA3}"/>
              </a:ext>
            </a:extLst>
          </p:cNvPr>
          <p:cNvSpPr>
            <a:spLocks noGrp="1"/>
          </p:cNvSpPr>
          <p:nvPr/>
        </p:nvSpPr>
        <p:spPr>
          <a:xfrm>
            <a:off x="6400800" y="5276850"/>
            <a:ext cx="23431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Cited explanation</a:t>
            </a:r>
          </a:p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Llama 3.1 + verification</a:t>
            </a:r>
          </a:p>
        </p:txBody>
      </p:sp>
      <p:sp>
        <p:nvSpPr>
          <p:cNvPr id="38" name="Rectangle 36">
            <a:extLst>
              <a:ext uri="{FF2B5EF4-FFF2-40B4-BE49-F238E27FC236}">
                <a16:creationId xmlns:a16="http://schemas.microsoft.com/office/drawing/2014/main" id="{269831CF-D308-414C-AD65-3EA9A8E81B51}"/>
              </a:ext>
            </a:extLst>
          </p:cNvPr>
          <p:cNvSpPr>
            <a:spLocks noGrp="1"/>
          </p:cNvSpPr>
          <p:nvPr/>
        </p:nvSpPr>
        <p:spPr>
          <a:xfrm>
            <a:off x="3333750" y="5181600"/>
            <a:ext cx="2381250" cy="752475"/>
          </a:xfrm>
          <a:prstGeom prst="rect">
            <a:avLst/>
          </a:prstGeom>
          <a:solidFill>
            <a:srgbClr val="ECF5FA"/>
          </a:solidFill>
          <a:ln w="13335">
            <a:solidFill>
              <a:srgbClr val="22577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Rectangle 37">
            <a:extLst>
              <a:ext uri="{FF2B5EF4-FFF2-40B4-BE49-F238E27FC236}">
                <a16:creationId xmlns:a16="http://schemas.microsoft.com/office/drawing/2014/main" id="{CBA53838-B58D-4D1F-B68C-23D535FF5B36}"/>
              </a:ext>
            </a:extLst>
          </p:cNvPr>
          <p:cNvSpPr>
            <a:spLocks noGrp="1"/>
          </p:cNvSpPr>
          <p:nvPr/>
        </p:nvSpPr>
        <p:spPr>
          <a:xfrm>
            <a:off x="3448050" y="5276850"/>
            <a:ext cx="21526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Buyer decision</a:t>
            </a:r>
          </a:p>
          <a:p>
            <a:pPr>
              <a:defRPr sz="1350" b="1">
                <a:solidFill>
                  <a:srgbClr val="243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577E"/>
                </a:solidFill>
                <a:latin typeface="Calibri"/>
                <a:ea typeface="Arial"/>
                <a:cs typeface="Arial"/>
              </a:rPr>
              <a:t>Ranking and evidence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6F860AB-73FF-4FF9-B051-100E93B848D9}"/>
              </a:ext>
            </a:extLst>
          </p:cNvPr>
          <p:cNvSpPr>
            <a:spLocks noGrp="1"/>
          </p:cNvSpPr>
          <p:nvPr/>
        </p:nvSpPr>
        <p:spPr>
          <a:xfrm>
            <a:off x="428625" y="5000625"/>
            <a:ext cx="2571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Ingestion retains source IDs, dates and document references.</a:t>
            </a:r>
          </a:p>
          <a:p>
            <a:pPr>
              <a:defRPr sz="1425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2577E"/>
                </a:solidFill>
                <a:latin typeface="Calibri"/>
                <a:ea typeface="Arial"/>
                <a:cs typeface="Arial"/>
              </a:rPr>
              <a:t>Unresolved claims return for review.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964</Words>
  <Application>Microsoft Office PowerPoint</Application>
  <PresentationFormat>Widescreen</PresentationFormat>
  <Paragraphs>160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Khavin C</cp:lastModifiedBy>
  <cp:revision>17</cp:revision>
  <dcterms:created xsi:type="dcterms:W3CDTF">2024-05-13T10:33:11Z</dcterms:created>
  <dcterms:modified xsi:type="dcterms:W3CDTF">2026-09-29T10:20:33Z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